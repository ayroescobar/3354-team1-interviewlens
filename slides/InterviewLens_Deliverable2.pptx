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schemas.openxmlformats.org/officeDocument/2006/relationships/slide" Target="slides/slide20.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Ben: Welcome. We are Team 1 and our project is Interview Lens, an AI platform that helps college students practice and improve at behavioral interviews. Each of us will present the part of the project we owned. - ben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Ben: </a:t>
            </a:r>
            <a:r>
              <a:rPr lang="en-US"/>
              <a:t>The behavioral round is where a lot of strong candidates lose the offer. Existing options are expensive, need scheduling, or give no feedback at all. Interview Lens is free, instant, adaptive, and it measures you the same way every time so progress is actually visible. - ben</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Ben: </a:t>
            </a:r>
            <a:r>
              <a:rPr lang="en-US"/>
              <a:t>Work was split so that every member owned one graded section end to end plus their engineering area. Everyone contributed and everyone presents. Note the team grew from four members in the original proposal to five, with Joshua joining to own quality assurance. - ben</a:t>
            </a:r>
            <a:endParaRPr/>
          </a:p>
        </p:txBody>
      </p:sp>
      <p:sp>
        <p:nvSpPr>
          <p:cNvPr id="86" name="Google Shape;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numbers describe building the product itself, not the semester. Weekends are out, two federal holidays are out, and eight hours a day per developer. The 68 day window is derived from the Function Point effort estimate on the next slides plus a 25 percent buffer. - ayro</a:t>
            </a:r>
            <a:endParaRPr/>
          </a:p>
        </p:txBody>
      </p:sp>
      <p:sp>
        <p:nvSpPr>
          <p:cNvPr id="126" name="Google Shape;12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Fourteen weeks, four increments. Design freeze at week three, core release at week ten, go live at week fourteen. Increment 2 gets four weeks because the AI pipeline is where the requirements are least stable. - ayro</a:t>
            </a:r>
            <a:endParaRPr/>
          </a:p>
        </p:txBody>
      </p:sp>
      <p:sp>
        <p:nvSpPr>
          <p:cNvPr id="160" name="Google Shape;1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chose Function Point over application composition because our system is defined by well bounded transactions and data stores rather than by assembling prebuilt components. Twenty four functions across five types give 134 unadjusted function points. - ayro</a:t>
            </a:r>
            <a:endParaRPr/>
          </a:p>
        </p:txBody>
      </p:sp>
      <p:sp>
        <p:nvSpPr>
          <p:cNvPr id="228" name="Google Shape;2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adjustment factor pushes 134 up to 154 adjusted function points. At thirteen hours per function point, which is a realistic rate for a TypeScript web stack with a small team, that is 2,002 person hours. Add overhead and margin and the quoted price is about 177 thousand dollars. - ayro</a:t>
            </a:r>
            <a:endParaRPr/>
          </a:p>
        </p:txBody>
      </p:sp>
      <p:sp>
        <p:nvSpPr>
          <p:cNvPr id="273" name="Google Shape;2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Personnel dominates at eighty one percent of cost, which is what you expect for a software project. Hardware is mostly cloud rather than owned equipment because the platform is browser based. Software cost is driven by LLM and transcription usage, which scales with how many students use it. - ayro</a:t>
            </a:r>
            <a:endParaRPr/>
          </a:p>
        </p:txBody>
      </p:sp>
      <p:sp>
        <p:nvSpPr>
          <p:cNvPr id="318" name="Google Shape;31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Seven functional requirements. FR-3 and FR-5 are the ones that matter most: adaptive question generation and the scored feedback report. FR-5 is also the requirement we chose to unit test later in this deck. - ben</a:t>
            </a:r>
            <a:endParaRPr/>
          </a:p>
        </p:txBody>
      </p:sp>
      <p:sp>
        <p:nvSpPr>
          <p:cNvPr id="345" name="Google Shape;3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non functional requirements covering every required type. The three that shaped design hardest were performance, because LLM latency is unpredictable, security, because we hold student recordings, and development, because the 70 percent coverage gate is what forced the test work you will see shortly. - ben</a:t>
            </a:r>
            <a:endParaRPr/>
          </a:p>
        </p:txBody>
      </p:sp>
      <p:sp>
        <p:nvSpPr>
          <p:cNvPr id="393" name="Google Shape;3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 and Administrator are our two human actors. We modelled the AI Engine as a system actor because it is an external service we call rather than code we own, which matters for the cost estimate where it counts as an external interface file. - Shaun</a:t>
            </a:r>
            <a:endParaRPr/>
          </a:p>
        </p:txBody>
      </p:sp>
      <p:sp>
        <p:nvSpPr>
          <p:cNvPr id="451" name="Google Shape;45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operation that defines the product. The loop fragment covers the question cycle and the alt fragment is where the adaptive follow up happens. That branch is the difference between a real interview simulation and a list of questions on a page. - Hadeed</a:t>
            </a:r>
            <a:endParaRPr/>
          </a:p>
          <a:p>
            <a:pPr indent="0" lvl="0" marL="0" rtl="0" algn="l">
              <a:spcBef>
                <a:spcPts val="0"/>
              </a:spcBef>
              <a:spcAft>
                <a:spcPts val="0"/>
              </a:spcAft>
              <a:buNone/>
            </a:pPr>
            <a:r>
              <a:rPr lang="en-US"/>
              <a:t>Hadeed</a:t>
            </a:r>
            <a:endParaRPr/>
          </a:p>
        </p:txBody>
      </p:sp>
      <p:sp>
        <p:nvSpPr>
          <p:cNvPr id="476" name="Google Shape;47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Nine classes. The relationship worth calling out is composition versus aggregation: responses die with their session, but questions are pooled and reused, so the question bank aggregates rather than composes. - Ayro</a:t>
            </a:r>
            <a:endParaRPr/>
          </a:p>
        </p:txBody>
      </p:sp>
      <p:sp>
        <p:nvSpPr>
          <p:cNvPr id="503" name="Google Shape;50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considered a layered pattern and a repository pattern. MVC won because our defining characteristic is one dataset presented several ways, and because it happens to line up exactly with how the five of us divided the work. - Shaun</a:t>
            </a:r>
            <a:endParaRPr/>
          </a:p>
        </p:txBody>
      </p:sp>
      <p:sp>
        <p:nvSpPr>
          <p:cNvPr id="530" name="Google Shape;5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looked at four comparable tools. Each does one piece well. Google Warmup is free but does not score you(It is now a killed by google project). Pramp gives human feedback but needs a peer to show up. What none of them do is combine adaptive questioning, a fixed measurable rubric, and FERPA aligned handling in one free product. - Hadeed</a:t>
            </a:r>
            <a:endParaRPr/>
          </a:p>
          <a:p>
            <a:pPr indent="0" lvl="0" marL="0" rtl="0" algn="l">
              <a:spcBef>
                <a:spcPts val="0"/>
              </a:spcBef>
              <a:spcAft>
                <a:spcPts val="0"/>
              </a:spcAft>
              <a:buNone/>
            </a:pPr>
            <a:r>
              <a:rPr lang="en-US"/>
              <a:t>Hadeed</a:t>
            </a:r>
            <a:endParaRPr/>
          </a:p>
        </p:txBody>
      </p:sp>
      <p:sp>
        <p:nvSpPr>
          <p:cNvPr id="559" name="Google Shape;55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test the scoring aggregation rather than the AI call itself. The AI output is non deterministic so we stub it. But the maths that turns three component scores into one session score has to be exact, because every trend line on the progress dashboard is built on it. - Joshua</a:t>
            </a:r>
            <a:endParaRPr/>
          </a:p>
        </p:txBody>
      </p:sp>
      <p:sp>
        <p:nvSpPr>
          <p:cNvPr id="590" name="Google Shape;59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cases pass, one fails. TC-04 is the important one. A malformed AI response with a component score of twelve was quietly producing a session score of ninety six instead of being rejected. That is a real defect our test caught. We added a range guard, re-ran, and all four pass at seventy eight percent coverage. - Joshua</a:t>
            </a:r>
            <a:endParaRPr/>
          </a:p>
        </p:txBody>
      </p:sp>
      <p:sp>
        <p:nvSpPr>
          <p:cNvPr id="615" name="Google Shape;61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core screens from the Figma prototype. Setup is deliberately two fields and a button so a first time user is interviewing in under three minutes. The interview screen shows one question at a time with text or voice input. The report gives the session score, the three rubric bars, and the AI disclosure label we are required to show. - Shaun</a:t>
            </a:r>
            <a:endParaRPr/>
          </a:p>
        </p:txBody>
      </p:sp>
      <p:sp>
        <p:nvSpPr>
          <p:cNvPr id="666" name="Google Shape;66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 real challenges. The one worth dwelling on is testing a non deterministic system. Splitting the pipeline so the deterministic half could be tested properly is what let us find a genuine defect instead of writing tests that only assert the AI returned something.</a:t>
            </a:r>
            <a:endParaRPr/>
          </a:p>
          <a:p>
            <a:pPr indent="0" lvl="0" marL="0" rtl="0" algn="l">
              <a:spcBef>
                <a:spcPts val="0"/>
              </a:spcBef>
              <a:spcAft>
                <a:spcPts val="0"/>
              </a:spcAft>
              <a:buNone/>
            </a:pPr>
            <a:r>
              <a:rPr lang="en-US"/>
              <a:t>Hadeed</a:t>
            </a:r>
            <a:endParaRPr/>
          </a:p>
          <a:p>
            <a:pPr indent="0" lvl="0" marL="0" rtl="0" algn="l">
              <a:spcBef>
                <a:spcPts val="0"/>
              </a:spcBef>
              <a:spcAft>
                <a:spcPts val="0"/>
              </a:spcAft>
              <a:buNone/>
            </a:pPr>
            <a:r>
              <a:t/>
            </a:r>
            <a:endParaRPr/>
          </a:p>
        </p:txBody>
      </p:sp>
      <p:sp>
        <p:nvSpPr>
          <p:cNvPr id="728" name="Google Shape;72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Ben: </a:t>
            </a:r>
            <a:r>
              <a:rPr lang="en-US"/>
              <a:t>To close: two things changed from the original plan, feedback scope and deferred features, and we have justified each. Everything from Deliverable 1, the process model, the architecture and the requirements, held up under the estimation and testing work. Thank you, and we are happy to take questions. - Ben</a:t>
            </a:r>
            <a:endParaRPr/>
          </a:p>
        </p:txBody>
      </p:sp>
      <p:sp>
        <p:nvSpPr>
          <p:cNvPr id="755" name="Google Shape;75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B34"/>
        </a:solidFill>
      </p:bgPr>
    </p:bg>
    <p:spTree>
      <p:nvGrpSpPr>
        <p:cNvPr id="15" name="Shape 15"/>
        <p:cNvGrpSpPr/>
        <p:nvPr/>
      </p:nvGrpSpPr>
      <p:grpSpPr>
        <a:xfrm>
          <a:off x="0" y="0"/>
          <a:ext cx="0" cy="0"/>
          <a:chOff x="0" y="0"/>
          <a:chExt cx="0" cy="0"/>
        </a:xfrm>
      </p:grpSpPr>
      <p:sp>
        <p:nvSpPr>
          <p:cNvPr id="16" name="Google Shape;16;p3"/>
          <p:cNvSpPr/>
          <p:nvPr/>
        </p:nvSpPr>
        <p:spPr>
          <a:xfrm>
            <a:off x="822960" y="1170432"/>
            <a:ext cx="201168" cy="457200"/>
          </a:xfrm>
          <a:prstGeom prst="roundRect">
            <a:avLst>
              <a:gd fmla="val 27273"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22960" y="777240"/>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250"/>
              <a:buFont typeface="Calibri"/>
              <a:buNone/>
            </a:pPr>
            <a:r>
              <a:rPr b="1" i="0" lang="en-US" sz="1250" u="none" cap="none" strike="noStrike">
                <a:solidFill>
                  <a:srgbClr val="F2A65A"/>
                </a:solidFill>
                <a:latin typeface="Calibri"/>
                <a:ea typeface="Calibri"/>
                <a:cs typeface="Calibri"/>
                <a:sym typeface="Calibri"/>
              </a:rPr>
              <a:t>SE / CS / CE 3354  .  SOFTWARE ENGINEERING  .  SUMMER 2026</a:t>
            </a:r>
            <a:endParaRPr b="0" i="0" sz="1250" u="none" cap="none" strike="noStrike">
              <a:solidFill>
                <a:schemeClr val="dk1"/>
              </a:solidFill>
              <a:latin typeface="Calibri"/>
              <a:ea typeface="Calibri"/>
              <a:cs typeface="Calibri"/>
              <a:sym typeface="Calibri"/>
            </a:endParaRPr>
          </a:p>
        </p:txBody>
      </p:sp>
      <p:sp>
        <p:nvSpPr>
          <p:cNvPr id="18" name="Google Shape;18;p3"/>
          <p:cNvSpPr/>
          <p:nvPr/>
        </p:nvSpPr>
        <p:spPr>
          <a:xfrm>
            <a:off x="1188720" y="1097280"/>
            <a:ext cx="10058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800"/>
              <a:buFont typeface="Cambria"/>
              <a:buNone/>
            </a:pPr>
            <a:r>
              <a:rPr b="1" i="0" lang="en-US" sz="5800" u="none" cap="none" strike="noStrike">
                <a:solidFill>
                  <a:srgbClr val="FFFFFF"/>
                </a:solidFill>
                <a:latin typeface="Cambria"/>
                <a:ea typeface="Cambria"/>
                <a:cs typeface="Cambria"/>
                <a:sym typeface="Cambria"/>
              </a:rPr>
              <a:t>Interview Lens</a:t>
            </a:r>
            <a:endParaRPr b="0" i="0" sz="5800" u="none" cap="none" strike="noStrike">
              <a:solidFill>
                <a:schemeClr val="dk1"/>
              </a:solidFill>
              <a:latin typeface="Calibri"/>
              <a:ea typeface="Calibri"/>
              <a:cs typeface="Calibri"/>
              <a:sym typeface="Calibri"/>
            </a:endParaRPr>
          </a:p>
        </p:txBody>
      </p:sp>
      <p:sp>
        <p:nvSpPr>
          <p:cNvPr id="19" name="Google Shape;19;p3"/>
          <p:cNvSpPr/>
          <p:nvPr/>
        </p:nvSpPr>
        <p:spPr>
          <a:xfrm>
            <a:off x="1188720" y="187452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0E8"/>
              </a:buClr>
              <a:buSzPts val="1900"/>
              <a:buFont typeface="Calibri"/>
              <a:buNone/>
            </a:pPr>
            <a:r>
              <a:rPr b="0" i="1" lang="en-US" sz="1900" u="none" cap="none" strike="noStrike">
                <a:solidFill>
                  <a:srgbClr val="C9D0E8"/>
                </a:solidFill>
                <a:latin typeface="Calibri"/>
                <a:ea typeface="Calibri"/>
                <a:cs typeface="Calibri"/>
                <a:sym typeface="Calibri"/>
              </a:rPr>
              <a:t>An AI interview platform for mastering behavioral interviews</a:t>
            </a:r>
            <a:endParaRPr b="0" i="0" sz="1900" u="none" cap="none" strike="noStrike">
              <a:solidFill>
                <a:schemeClr val="dk1"/>
              </a:solidFill>
              <a:latin typeface="Calibri"/>
              <a:ea typeface="Calibri"/>
              <a:cs typeface="Calibri"/>
              <a:sym typeface="Calibri"/>
            </a:endParaRPr>
          </a:p>
        </p:txBody>
      </p:sp>
      <p:sp>
        <p:nvSpPr>
          <p:cNvPr id="20" name="Google Shape;20;p3"/>
          <p:cNvSpPr/>
          <p:nvPr/>
        </p:nvSpPr>
        <p:spPr>
          <a:xfrm>
            <a:off x="1188720" y="2487168"/>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50"/>
              <a:buFont typeface="Calibri"/>
              <a:buNone/>
            </a:pPr>
            <a:r>
              <a:rPr b="1" i="0" lang="en-US" sz="1150" u="none" cap="none" strike="noStrike">
                <a:solidFill>
                  <a:srgbClr val="F2A65A"/>
                </a:solidFill>
                <a:latin typeface="Calibri"/>
                <a:ea typeface="Calibri"/>
                <a:cs typeface="Calibri"/>
                <a:sym typeface="Calibri"/>
              </a:rPr>
              <a:t>PROJECT DELIVERABLE #2  .  TEAM 1</a:t>
            </a:r>
            <a:endParaRPr b="0" i="0" sz="1150" u="none" cap="none" strike="noStrike">
              <a:solidFill>
                <a:schemeClr val="dk1"/>
              </a:solidFill>
              <a:latin typeface="Calibri"/>
              <a:ea typeface="Calibri"/>
              <a:cs typeface="Calibri"/>
              <a:sym typeface="Calibri"/>
            </a:endParaRPr>
          </a:p>
        </p:txBody>
      </p:sp>
      <p:sp>
        <p:nvSpPr>
          <p:cNvPr id="21" name="Google Shape;21;p3"/>
          <p:cNvSpPr/>
          <p:nvPr/>
        </p:nvSpPr>
        <p:spPr>
          <a:xfrm>
            <a:off x="1188720" y="3063240"/>
            <a:ext cx="2048256" cy="1371600"/>
          </a:xfrm>
          <a:prstGeom prst="roundRect">
            <a:avLst>
              <a:gd fmla="val 40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316736" y="3218688"/>
            <a:ext cx="310896" cy="310896"/>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316736" y="321868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AS</a:t>
            </a:r>
            <a:endParaRPr b="0" i="0" sz="1100" u="none" cap="none" strike="noStrike">
              <a:solidFill>
                <a:schemeClr val="dk1"/>
              </a:solidFill>
              <a:latin typeface="Calibri"/>
              <a:ea typeface="Calibri"/>
              <a:cs typeface="Calibri"/>
              <a:sym typeface="Calibri"/>
            </a:endParaRPr>
          </a:p>
        </p:txBody>
      </p:sp>
      <p:sp>
        <p:nvSpPr>
          <p:cNvPr id="24" name="Google Shape;24;p3"/>
          <p:cNvSpPr/>
          <p:nvPr/>
        </p:nvSpPr>
        <p:spPr>
          <a:xfrm>
            <a:off x="1316736" y="3639312"/>
            <a:ext cx="1792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Ayro S. Escobar</a:t>
            </a:r>
            <a:endParaRPr b="0" i="0" sz="1300" u="none" cap="none" strike="noStrike">
              <a:solidFill>
                <a:schemeClr val="dk1"/>
              </a:solidFill>
              <a:latin typeface="Calibri"/>
              <a:ea typeface="Calibri"/>
              <a:cs typeface="Calibri"/>
              <a:sym typeface="Calibri"/>
            </a:endParaRPr>
          </a:p>
        </p:txBody>
      </p:sp>
      <p:sp>
        <p:nvSpPr>
          <p:cNvPr id="25" name="Google Shape;25;p3"/>
          <p:cNvSpPr/>
          <p:nvPr/>
        </p:nvSpPr>
        <p:spPr>
          <a:xfrm>
            <a:off x="1316736" y="4041648"/>
            <a:ext cx="1792224"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5C6"/>
              </a:buClr>
              <a:buSzPts val="950"/>
              <a:buFont typeface="Calibri"/>
              <a:buNone/>
            </a:pPr>
            <a:r>
              <a:rPr b="0" i="0" lang="en-US" sz="950" u="none" cap="none" strike="noStrike">
                <a:solidFill>
                  <a:srgbClr val="9AA5C6"/>
                </a:solidFill>
                <a:latin typeface="Calibri"/>
                <a:ea typeface="Calibri"/>
                <a:cs typeface="Calibri"/>
                <a:sym typeface="Calibri"/>
              </a:rPr>
              <a:t>Database &amp; Endpoint Logic</a:t>
            </a:r>
            <a:endParaRPr b="0" i="0" sz="950" u="none" cap="none" strike="noStrike">
              <a:solidFill>
                <a:schemeClr val="dk1"/>
              </a:solidFill>
              <a:latin typeface="Calibri"/>
              <a:ea typeface="Calibri"/>
              <a:cs typeface="Calibri"/>
              <a:sym typeface="Calibri"/>
            </a:endParaRPr>
          </a:p>
        </p:txBody>
      </p:sp>
      <p:sp>
        <p:nvSpPr>
          <p:cNvPr id="26" name="Google Shape;26;p3"/>
          <p:cNvSpPr/>
          <p:nvPr/>
        </p:nvSpPr>
        <p:spPr>
          <a:xfrm>
            <a:off x="3383280" y="3063240"/>
            <a:ext cx="2048256" cy="1371600"/>
          </a:xfrm>
          <a:prstGeom prst="roundRect">
            <a:avLst>
              <a:gd fmla="val 40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3511296" y="3218688"/>
            <a:ext cx="310896" cy="310896"/>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3511296" y="321868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BA</a:t>
            </a:r>
            <a:endParaRPr b="0" i="0" sz="1100" u="none" cap="none" strike="noStrike">
              <a:solidFill>
                <a:schemeClr val="dk1"/>
              </a:solidFill>
              <a:latin typeface="Calibri"/>
              <a:ea typeface="Calibri"/>
              <a:cs typeface="Calibri"/>
              <a:sym typeface="Calibri"/>
            </a:endParaRPr>
          </a:p>
        </p:txBody>
      </p:sp>
      <p:sp>
        <p:nvSpPr>
          <p:cNvPr id="29" name="Google Shape;29;p3"/>
          <p:cNvSpPr/>
          <p:nvPr/>
        </p:nvSpPr>
        <p:spPr>
          <a:xfrm>
            <a:off x="3511296" y="3639312"/>
            <a:ext cx="1792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Ben Andre Quidlat</a:t>
            </a:r>
            <a:endParaRPr b="0" i="0" sz="1300" u="none" cap="none" strike="noStrike">
              <a:solidFill>
                <a:schemeClr val="dk1"/>
              </a:solidFill>
              <a:latin typeface="Calibri"/>
              <a:ea typeface="Calibri"/>
              <a:cs typeface="Calibri"/>
              <a:sym typeface="Calibri"/>
            </a:endParaRPr>
          </a:p>
        </p:txBody>
      </p:sp>
      <p:sp>
        <p:nvSpPr>
          <p:cNvPr id="30" name="Google Shape;30;p3"/>
          <p:cNvSpPr/>
          <p:nvPr/>
        </p:nvSpPr>
        <p:spPr>
          <a:xfrm>
            <a:off x="3511296" y="4041648"/>
            <a:ext cx="1792224"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5C6"/>
              </a:buClr>
              <a:buSzPts val="950"/>
              <a:buFont typeface="Calibri"/>
              <a:buNone/>
            </a:pPr>
            <a:r>
              <a:rPr b="0" i="0" lang="en-US" sz="950" u="none" cap="none" strike="noStrike">
                <a:solidFill>
                  <a:srgbClr val="9AA5C6"/>
                </a:solidFill>
                <a:latin typeface="Calibri"/>
                <a:ea typeface="Calibri"/>
                <a:cs typeface="Calibri"/>
                <a:sym typeface="Calibri"/>
              </a:rPr>
              <a:t>Backend Integration &amp; CI/CD</a:t>
            </a:r>
            <a:endParaRPr b="0" i="0" sz="950" u="none" cap="none" strike="noStrike">
              <a:solidFill>
                <a:schemeClr val="dk1"/>
              </a:solidFill>
              <a:latin typeface="Calibri"/>
              <a:ea typeface="Calibri"/>
              <a:cs typeface="Calibri"/>
              <a:sym typeface="Calibri"/>
            </a:endParaRPr>
          </a:p>
        </p:txBody>
      </p:sp>
      <p:sp>
        <p:nvSpPr>
          <p:cNvPr id="31" name="Google Shape;31;p3"/>
          <p:cNvSpPr/>
          <p:nvPr/>
        </p:nvSpPr>
        <p:spPr>
          <a:xfrm>
            <a:off x="5577840" y="3063240"/>
            <a:ext cx="2048256" cy="1371600"/>
          </a:xfrm>
          <a:prstGeom prst="roundRect">
            <a:avLst>
              <a:gd fmla="val 40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5705856" y="3218688"/>
            <a:ext cx="310896" cy="310896"/>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5705856" y="321868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HS</a:t>
            </a:r>
            <a:endParaRPr b="0" i="0" sz="1100" u="none" cap="none" strike="noStrike">
              <a:solidFill>
                <a:schemeClr val="dk1"/>
              </a:solidFill>
              <a:latin typeface="Calibri"/>
              <a:ea typeface="Calibri"/>
              <a:cs typeface="Calibri"/>
              <a:sym typeface="Calibri"/>
            </a:endParaRPr>
          </a:p>
        </p:txBody>
      </p:sp>
      <p:sp>
        <p:nvSpPr>
          <p:cNvPr id="34" name="Google Shape;34;p3"/>
          <p:cNvSpPr/>
          <p:nvPr/>
        </p:nvSpPr>
        <p:spPr>
          <a:xfrm>
            <a:off x="5705856" y="3639312"/>
            <a:ext cx="1792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Hadeed Sarfaraz</a:t>
            </a:r>
            <a:endParaRPr b="0" i="0" sz="1300" u="none" cap="none" strike="noStrike">
              <a:solidFill>
                <a:schemeClr val="dk1"/>
              </a:solidFill>
              <a:latin typeface="Calibri"/>
              <a:ea typeface="Calibri"/>
              <a:cs typeface="Calibri"/>
              <a:sym typeface="Calibri"/>
            </a:endParaRPr>
          </a:p>
        </p:txBody>
      </p:sp>
      <p:sp>
        <p:nvSpPr>
          <p:cNvPr id="35" name="Google Shape;35;p3"/>
          <p:cNvSpPr/>
          <p:nvPr/>
        </p:nvSpPr>
        <p:spPr>
          <a:xfrm>
            <a:off x="5705856" y="4041648"/>
            <a:ext cx="1792224"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5C6"/>
              </a:buClr>
              <a:buSzPts val="950"/>
              <a:buFont typeface="Calibri"/>
              <a:buNone/>
            </a:pPr>
            <a:r>
              <a:rPr b="0" i="0" lang="en-US" sz="950" u="none" cap="none" strike="noStrike">
                <a:solidFill>
                  <a:srgbClr val="9AA5C6"/>
                </a:solidFill>
                <a:latin typeface="Calibri"/>
                <a:ea typeface="Calibri"/>
                <a:cs typeface="Calibri"/>
                <a:sym typeface="Calibri"/>
              </a:rPr>
              <a:t>AI Pipeline &amp; Logic</a:t>
            </a:r>
            <a:endParaRPr b="0" i="0" sz="950" u="none" cap="none" strike="noStrike">
              <a:solidFill>
                <a:schemeClr val="dk1"/>
              </a:solidFill>
              <a:latin typeface="Calibri"/>
              <a:ea typeface="Calibri"/>
              <a:cs typeface="Calibri"/>
              <a:sym typeface="Calibri"/>
            </a:endParaRPr>
          </a:p>
        </p:txBody>
      </p:sp>
      <p:sp>
        <p:nvSpPr>
          <p:cNvPr id="36" name="Google Shape;36;p3"/>
          <p:cNvSpPr/>
          <p:nvPr/>
        </p:nvSpPr>
        <p:spPr>
          <a:xfrm>
            <a:off x="7772400" y="3063240"/>
            <a:ext cx="2048256" cy="1371600"/>
          </a:xfrm>
          <a:prstGeom prst="roundRect">
            <a:avLst>
              <a:gd fmla="val 40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7900416" y="3218688"/>
            <a:ext cx="310896" cy="310896"/>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7900416" y="321868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SK</a:t>
            </a:r>
            <a:endParaRPr b="0" i="0" sz="1100" u="none" cap="none" strike="noStrike">
              <a:solidFill>
                <a:schemeClr val="dk1"/>
              </a:solidFill>
              <a:latin typeface="Calibri"/>
              <a:ea typeface="Calibri"/>
              <a:cs typeface="Calibri"/>
              <a:sym typeface="Calibri"/>
            </a:endParaRPr>
          </a:p>
        </p:txBody>
      </p:sp>
      <p:sp>
        <p:nvSpPr>
          <p:cNvPr id="39" name="Google Shape;39;p3"/>
          <p:cNvSpPr/>
          <p:nvPr/>
        </p:nvSpPr>
        <p:spPr>
          <a:xfrm>
            <a:off x="7900416" y="3639312"/>
            <a:ext cx="1792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Shaun Kenan Moukam</a:t>
            </a:r>
            <a:endParaRPr b="0" i="0" sz="1300" u="none" cap="none" strike="noStrike">
              <a:solidFill>
                <a:schemeClr val="dk1"/>
              </a:solidFill>
              <a:latin typeface="Calibri"/>
              <a:ea typeface="Calibri"/>
              <a:cs typeface="Calibri"/>
              <a:sym typeface="Calibri"/>
            </a:endParaRPr>
          </a:p>
        </p:txBody>
      </p:sp>
      <p:sp>
        <p:nvSpPr>
          <p:cNvPr id="40" name="Google Shape;40;p3"/>
          <p:cNvSpPr/>
          <p:nvPr/>
        </p:nvSpPr>
        <p:spPr>
          <a:xfrm>
            <a:off x="7900416" y="4041648"/>
            <a:ext cx="1792224"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5C6"/>
              </a:buClr>
              <a:buSzPts val="950"/>
              <a:buFont typeface="Calibri"/>
              <a:buNone/>
            </a:pPr>
            <a:r>
              <a:rPr b="0" i="0" lang="en-US" sz="950" u="none" cap="none" strike="noStrike">
                <a:solidFill>
                  <a:srgbClr val="9AA5C6"/>
                </a:solidFill>
                <a:latin typeface="Calibri"/>
                <a:ea typeface="Calibri"/>
                <a:cs typeface="Calibri"/>
                <a:sym typeface="Calibri"/>
              </a:rPr>
              <a:t>Frontend UI/UX &amp; Deployment</a:t>
            </a:r>
            <a:endParaRPr b="0" i="0" sz="950" u="none" cap="none" strike="noStrike">
              <a:solidFill>
                <a:schemeClr val="dk1"/>
              </a:solidFill>
              <a:latin typeface="Calibri"/>
              <a:ea typeface="Calibri"/>
              <a:cs typeface="Calibri"/>
              <a:sym typeface="Calibri"/>
            </a:endParaRPr>
          </a:p>
        </p:txBody>
      </p:sp>
      <p:sp>
        <p:nvSpPr>
          <p:cNvPr id="41" name="Google Shape;41;p3"/>
          <p:cNvSpPr/>
          <p:nvPr/>
        </p:nvSpPr>
        <p:spPr>
          <a:xfrm>
            <a:off x="9966960" y="3063240"/>
            <a:ext cx="2048256" cy="1371600"/>
          </a:xfrm>
          <a:prstGeom prst="roundRect">
            <a:avLst>
              <a:gd fmla="val 40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10094976" y="3218688"/>
            <a:ext cx="310896" cy="310896"/>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10094976" y="321868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JA</a:t>
            </a:r>
            <a:endParaRPr b="0" i="0" sz="1100" u="none" cap="none" strike="noStrike">
              <a:solidFill>
                <a:schemeClr val="dk1"/>
              </a:solidFill>
              <a:latin typeface="Calibri"/>
              <a:ea typeface="Calibri"/>
              <a:cs typeface="Calibri"/>
              <a:sym typeface="Calibri"/>
            </a:endParaRPr>
          </a:p>
        </p:txBody>
      </p:sp>
      <p:sp>
        <p:nvSpPr>
          <p:cNvPr id="44" name="Google Shape;44;p3"/>
          <p:cNvSpPr/>
          <p:nvPr/>
        </p:nvSpPr>
        <p:spPr>
          <a:xfrm>
            <a:off x="10094976" y="3639312"/>
            <a:ext cx="1792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Joshua Asteway</a:t>
            </a:r>
            <a:endParaRPr b="0" i="0" sz="1300" u="none" cap="none" strike="noStrike">
              <a:solidFill>
                <a:schemeClr val="dk1"/>
              </a:solidFill>
              <a:latin typeface="Calibri"/>
              <a:ea typeface="Calibri"/>
              <a:cs typeface="Calibri"/>
              <a:sym typeface="Calibri"/>
            </a:endParaRPr>
          </a:p>
        </p:txBody>
      </p:sp>
      <p:sp>
        <p:nvSpPr>
          <p:cNvPr id="45" name="Google Shape;45;p3"/>
          <p:cNvSpPr/>
          <p:nvPr/>
        </p:nvSpPr>
        <p:spPr>
          <a:xfrm>
            <a:off x="10094976" y="4041648"/>
            <a:ext cx="1792224"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5C6"/>
              </a:buClr>
              <a:buSzPts val="950"/>
              <a:buFont typeface="Calibri"/>
              <a:buNone/>
            </a:pPr>
            <a:r>
              <a:rPr b="0" i="0" lang="en-US" sz="950" u="none" cap="none" strike="noStrike">
                <a:solidFill>
                  <a:srgbClr val="9AA5C6"/>
                </a:solidFill>
                <a:latin typeface="Calibri"/>
                <a:ea typeface="Calibri"/>
                <a:cs typeface="Calibri"/>
                <a:sym typeface="Calibri"/>
              </a:rPr>
              <a:t>Quality Assurance &amp; Test Plan</a:t>
            </a:r>
            <a:endParaRPr b="0" i="0" sz="950" u="none" cap="none" strike="noStrike">
              <a:solidFill>
                <a:schemeClr val="dk1"/>
              </a:solidFill>
              <a:latin typeface="Calibri"/>
              <a:ea typeface="Calibri"/>
              <a:cs typeface="Calibri"/>
              <a:sym typeface="Calibri"/>
            </a:endParaRPr>
          </a:p>
        </p:txBody>
      </p:sp>
      <p:sp>
        <p:nvSpPr>
          <p:cNvPr id="46" name="Google Shape;46;p3"/>
          <p:cNvSpPr/>
          <p:nvPr/>
        </p:nvSpPr>
        <p:spPr>
          <a:xfrm>
            <a:off x="1188720" y="4864633"/>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9ABF"/>
              </a:buClr>
              <a:buSzPts val="1200"/>
              <a:buFont typeface="Calibri"/>
              <a:buNone/>
            </a:pPr>
            <a:r>
              <a:rPr b="0" i="0" lang="en-US" sz="1200" u="none" cap="none" strike="noStrike">
                <a:solidFill>
                  <a:srgbClr val="8F9ABF"/>
                </a:solidFill>
                <a:latin typeface="Calibri"/>
                <a:ea typeface="Calibri"/>
                <a:cs typeface="Calibri"/>
                <a:sym typeface="Calibri"/>
              </a:rPr>
              <a:t>github.com/AyroEscobar/3354-Team1-InterviewLens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4"/>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Objective of the Project</a:t>
            </a:r>
            <a:endParaRPr b="0" i="0" sz="3000" u="none" cap="none" strike="noStrike">
              <a:solidFill>
                <a:schemeClr val="dk1"/>
              </a:solidFill>
              <a:latin typeface="Calibri"/>
              <a:ea typeface="Calibri"/>
              <a:cs typeface="Calibri"/>
              <a:sym typeface="Calibri"/>
            </a:endParaRPr>
          </a:p>
        </p:txBody>
      </p:sp>
      <p:sp>
        <p:nvSpPr>
          <p:cNvPr id="54" name="Google Shape;54;p4"/>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Why we built it and what it does</a:t>
            </a:r>
            <a:endParaRPr b="0" i="0" sz="1300" u="none" cap="none" strike="noStrike">
              <a:solidFill>
                <a:schemeClr val="dk1"/>
              </a:solidFill>
              <a:latin typeface="Calibri"/>
              <a:ea typeface="Calibri"/>
              <a:cs typeface="Calibri"/>
              <a:sym typeface="Calibri"/>
            </a:endParaRPr>
          </a:p>
        </p:txBody>
      </p:sp>
      <p:sp>
        <p:nvSpPr>
          <p:cNvPr id="55" name="Google Shape;55;p4"/>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56" name="Google Shape;56;p4"/>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57" name="Google Shape;57;p4"/>
          <p:cNvSpPr/>
          <p:nvPr/>
        </p:nvSpPr>
        <p:spPr>
          <a:xfrm>
            <a:off x="566928" y="1417320"/>
            <a:ext cx="5486400" cy="2148840"/>
          </a:xfrm>
          <a:prstGeom prst="roundRect">
            <a:avLst>
              <a:gd fmla="val 2553"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841248" y="1627632"/>
            <a:ext cx="4937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5F1E"/>
              </a:buClr>
              <a:buSzPts val="1100"/>
              <a:buFont typeface="Calibri"/>
              <a:buNone/>
            </a:pPr>
            <a:r>
              <a:rPr b="1" i="0" lang="en-US" sz="1100" u="none" cap="none" strike="noStrike">
                <a:solidFill>
                  <a:srgbClr val="9A5F1E"/>
                </a:solidFill>
                <a:latin typeface="Calibri"/>
                <a:ea typeface="Calibri"/>
                <a:cs typeface="Calibri"/>
                <a:sym typeface="Calibri"/>
              </a:rPr>
              <a:t>THE PROBLEM</a:t>
            </a:r>
            <a:endParaRPr b="0" i="0" sz="1100" u="none" cap="none" strike="noStrike">
              <a:solidFill>
                <a:schemeClr val="dk1"/>
              </a:solidFill>
              <a:latin typeface="Calibri"/>
              <a:ea typeface="Calibri"/>
              <a:cs typeface="Calibri"/>
              <a:sym typeface="Calibri"/>
            </a:endParaRPr>
          </a:p>
        </p:txBody>
      </p:sp>
      <p:sp>
        <p:nvSpPr>
          <p:cNvPr id="59" name="Google Shape;59;p4"/>
          <p:cNvSpPr/>
          <p:nvPr/>
        </p:nvSpPr>
        <p:spPr>
          <a:xfrm>
            <a:off x="841248" y="1938528"/>
            <a:ext cx="4937760" cy="1463040"/>
          </a:xfrm>
          <a:prstGeom prst="rect">
            <a:avLst/>
          </a:prstGeom>
          <a:noFill/>
          <a:ln>
            <a:noFill/>
          </a:ln>
        </p:spPr>
        <p:txBody>
          <a:bodyPr anchorCtr="0" anchor="ctr" bIns="0" lIns="0" spcFirstLastPara="1" rIns="0" wrap="square" tIns="0">
            <a:noAutofit/>
          </a:bodyPr>
          <a:lstStyle/>
          <a:p>
            <a:pPr indent="0" lvl="0" marL="0" marR="0" rtl="0" algn="l">
              <a:lnSpc>
                <a:spcPct val="144827"/>
              </a:lnSpc>
              <a:spcBef>
                <a:spcPts val="0"/>
              </a:spcBef>
              <a:spcAft>
                <a:spcPts val="0"/>
              </a:spcAft>
              <a:buClr>
                <a:srgbClr val="2B2F42"/>
              </a:buClr>
              <a:buSzPts val="1450"/>
              <a:buFont typeface="Calibri"/>
              <a:buNone/>
            </a:pPr>
            <a:r>
              <a:rPr b="0" i="0" lang="en-US" sz="1450" u="none" cap="none" strike="noStrike">
                <a:solidFill>
                  <a:srgbClr val="2B2F42"/>
                </a:solidFill>
                <a:latin typeface="Calibri"/>
                <a:ea typeface="Calibri"/>
                <a:cs typeface="Calibri"/>
                <a:sym typeface="Calibri"/>
              </a:rPr>
              <a:t>Students can be technically excellent and still lose the offer in the behavioral round. Practice today means either paying for a coach, scheduling a peer who may not show, or rehearsing alone with no feedback and no way to see whether you are improving.</a:t>
            </a:r>
            <a:endParaRPr b="0" i="0" sz="1450" u="none" cap="none" strike="noStrike">
              <a:solidFill>
                <a:schemeClr val="dk1"/>
              </a:solidFill>
              <a:latin typeface="Calibri"/>
              <a:ea typeface="Calibri"/>
              <a:cs typeface="Calibri"/>
              <a:sym typeface="Calibri"/>
            </a:endParaRPr>
          </a:p>
        </p:txBody>
      </p:sp>
      <p:sp>
        <p:nvSpPr>
          <p:cNvPr id="60" name="Google Shape;60;p4"/>
          <p:cNvSpPr/>
          <p:nvPr/>
        </p:nvSpPr>
        <p:spPr>
          <a:xfrm>
            <a:off x="6309360" y="1417320"/>
            <a:ext cx="5285232" cy="2148840"/>
          </a:xfrm>
          <a:prstGeom prst="roundRect">
            <a:avLst>
              <a:gd fmla="val 2553"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583680" y="1627632"/>
            <a:ext cx="4754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100"/>
              <a:buFont typeface="Calibri"/>
              <a:buNone/>
            </a:pPr>
            <a:r>
              <a:rPr b="1" i="0" lang="en-US" sz="1100" u="none" cap="none" strike="noStrike">
                <a:solidFill>
                  <a:srgbClr val="2A3A78"/>
                </a:solidFill>
                <a:latin typeface="Calibri"/>
                <a:ea typeface="Calibri"/>
                <a:cs typeface="Calibri"/>
                <a:sym typeface="Calibri"/>
              </a:rPr>
              <a:t>OUR SOLUTION</a:t>
            </a:r>
            <a:endParaRPr b="0" i="0" sz="1100" u="none" cap="none" strike="noStrike">
              <a:solidFill>
                <a:schemeClr val="dk1"/>
              </a:solidFill>
              <a:latin typeface="Calibri"/>
              <a:ea typeface="Calibri"/>
              <a:cs typeface="Calibri"/>
              <a:sym typeface="Calibri"/>
            </a:endParaRPr>
          </a:p>
        </p:txBody>
      </p:sp>
      <p:sp>
        <p:nvSpPr>
          <p:cNvPr id="62" name="Google Shape;62;p4"/>
          <p:cNvSpPr/>
          <p:nvPr/>
        </p:nvSpPr>
        <p:spPr>
          <a:xfrm>
            <a:off x="6583680" y="1938528"/>
            <a:ext cx="4754880" cy="1463040"/>
          </a:xfrm>
          <a:prstGeom prst="rect">
            <a:avLst/>
          </a:prstGeom>
          <a:noFill/>
          <a:ln>
            <a:noFill/>
          </a:ln>
        </p:spPr>
        <p:txBody>
          <a:bodyPr anchorCtr="0" anchor="ctr" bIns="0" lIns="0" spcFirstLastPara="1" rIns="0" wrap="square" tIns="0">
            <a:noAutofit/>
          </a:bodyPr>
          <a:lstStyle/>
          <a:p>
            <a:pPr indent="0" lvl="0" marL="0" marR="0" rtl="0" algn="l">
              <a:lnSpc>
                <a:spcPct val="144827"/>
              </a:lnSpc>
              <a:spcBef>
                <a:spcPts val="0"/>
              </a:spcBef>
              <a:spcAft>
                <a:spcPts val="0"/>
              </a:spcAft>
              <a:buClr>
                <a:srgbClr val="2B2F42"/>
              </a:buClr>
              <a:buSzPts val="1450"/>
              <a:buFont typeface="Calibri"/>
              <a:buNone/>
            </a:pPr>
            <a:r>
              <a:rPr b="0" i="0" lang="en-US" sz="1450" u="none" cap="none" strike="noStrike">
                <a:solidFill>
                  <a:srgbClr val="2B2F42"/>
                </a:solidFill>
                <a:latin typeface="Calibri"/>
                <a:ea typeface="Calibri"/>
                <a:cs typeface="Calibri"/>
                <a:sym typeface="Calibri"/>
              </a:rPr>
              <a:t>A</a:t>
            </a:r>
            <a:r>
              <a:rPr lang="en-US" sz="1450">
                <a:solidFill>
                  <a:srgbClr val="2B2F42"/>
                </a:solidFill>
                <a:latin typeface="Calibri"/>
                <a:ea typeface="Calibri"/>
                <a:cs typeface="Calibri"/>
                <a:sym typeface="Calibri"/>
              </a:rPr>
              <a:t> </a:t>
            </a:r>
            <a:r>
              <a:rPr b="0" i="0" lang="en-US" sz="1450" u="none" cap="none" strike="noStrike">
                <a:solidFill>
                  <a:srgbClr val="2B2F42"/>
                </a:solidFill>
                <a:latin typeface="Calibri"/>
                <a:ea typeface="Calibri"/>
                <a:cs typeface="Calibri"/>
                <a:sym typeface="Calibri"/>
              </a:rPr>
              <a:t>browser based platform where a student picks a role and difficulty, answers AI generated behavioral questions by text or voice, and immediately receives a scored report on STAR structure, clarity and confidence, with every session tracked over time.</a:t>
            </a:r>
            <a:endParaRPr b="0" i="0" sz="1450" u="none" cap="none" strike="noStrike">
              <a:solidFill>
                <a:schemeClr val="dk1"/>
              </a:solidFill>
              <a:latin typeface="Calibri"/>
              <a:ea typeface="Calibri"/>
              <a:cs typeface="Calibri"/>
              <a:sym typeface="Calibri"/>
            </a:endParaRPr>
          </a:p>
        </p:txBody>
      </p:sp>
      <p:sp>
        <p:nvSpPr>
          <p:cNvPr id="63" name="Google Shape;63;p4"/>
          <p:cNvSpPr/>
          <p:nvPr/>
        </p:nvSpPr>
        <p:spPr>
          <a:xfrm>
            <a:off x="566928" y="3822192"/>
            <a:ext cx="2688336" cy="2148840"/>
          </a:xfrm>
          <a:prstGeom prst="roundRect">
            <a:avLst>
              <a:gd fmla="val 2553"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804672" y="4041648"/>
            <a:ext cx="384048" cy="384048"/>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804672" y="40416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66" name="Google Shape;66;p4"/>
          <p:cNvSpPr/>
          <p:nvPr/>
        </p:nvSpPr>
        <p:spPr>
          <a:xfrm>
            <a:off x="804672" y="4572000"/>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700"/>
              <a:buFont typeface="Cambria"/>
              <a:buNone/>
            </a:pPr>
            <a:r>
              <a:rPr b="1" i="0" lang="en-US" sz="1700" u="none" cap="none" strike="noStrike">
                <a:solidFill>
                  <a:srgbClr val="141B34"/>
                </a:solidFill>
                <a:latin typeface="Cambria"/>
                <a:ea typeface="Cambria"/>
                <a:cs typeface="Cambria"/>
                <a:sym typeface="Cambria"/>
              </a:rPr>
              <a:t>Adaptive</a:t>
            </a:r>
            <a:endParaRPr b="0" i="0" sz="1700" u="none" cap="none" strike="noStrike">
              <a:solidFill>
                <a:schemeClr val="dk1"/>
              </a:solidFill>
              <a:latin typeface="Calibri"/>
              <a:ea typeface="Calibri"/>
              <a:cs typeface="Calibri"/>
              <a:sym typeface="Calibri"/>
            </a:endParaRPr>
          </a:p>
        </p:txBody>
      </p:sp>
      <p:sp>
        <p:nvSpPr>
          <p:cNvPr id="67" name="Google Shape;67;p4"/>
          <p:cNvSpPr/>
          <p:nvPr/>
        </p:nvSpPr>
        <p:spPr>
          <a:xfrm>
            <a:off x="804672" y="4937760"/>
            <a:ext cx="2212848"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Follow up questions are generated from the answer you just gave, not read off a fixed list.</a:t>
            </a:r>
            <a:endParaRPr b="0" i="0" sz="1200" u="none" cap="none" strike="noStrike">
              <a:solidFill>
                <a:schemeClr val="dk1"/>
              </a:solidFill>
              <a:latin typeface="Calibri"/>
              <a:ea typeface="Calibri"/>
              <a:cs typeface="Calibri"/>
              <a:sym typeface="Calibri"/>
            </a:endParaRPr>
          </a:p>
        </p:txBody>
      </p:sp>
      <p:sp>
        <p:nvSpPr>
          <p:cNvPr id="68" name="Google Shape;68;p4"/>
          <p:cNvSpPr/>
          <p:nvPr/>
        </p:nvSpPr>
        <p:spPr>
          <a:xfrm>
            <a:off x="3396996" y="3822192"/>
            <a:ext cx="2688336" cy="2148840"/>
          </a:xfrm>
          <a:prstGeom prst="roundRect">
            <a:avLst>
              <a:gd fmla="val 2553"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634740" y="4041648"/>
            <a:ext cx="384048" cy="384048"/>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3634740" y="40416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71" name="Google Shape;71;p4"/>
          <p:cNvSpPr/>
          <p:nvPr/>
        </p:nvSpPr>
        <p:spPr>
          <a:xfrm>
            <a:off x="3634740" y="4572000"/>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700"/>
              <a:buFont typeface="Cambria"/>
              <a:buNone/>
            </a:pPr>
            <a:r>
              <a:rPr b="1" i="0" lang="en-US" sz="1700" u="none" cap="none" strike="noStrike">
                <a:solidFill>
                  <a:srgbClr val="141B34"/>
                </a:solidFill>
                <a:latin typeface="Cambria"/>
                <a:ea typeface="Cambria"/>
                <a:cs typeface="Cambria"/>
                <a:sym typeface="Cambria"/>
              </a:rPr>
              <a:t>Measurable</a:t>
            </a:r>
            <a:endParaRPr b="0" i="0" sz="1700" u="none" cap="none" strike="noStrike">
              <a:solidFill>
                <a:schemeClr val="dk1"/>
              </a:solidFill>
              <a:latin typeface="Calibri"/>
              <a:ea typeface="Calibri"/>
              <a:cs typeface="Calibri"/>
              <a:sym typeface="Calibri"/>
            </a:endParaRPr>
          </a:p>
        </p:txBody>
      </p:sp>
      <p:sp>
        <p:nvSpPr>
          <p:cNvPr id="72" name="Google Shape;72;p4"/>
          <p:cNvSpPr/>
          <p:nvPr/>
        </p:nvSpPr>
        <p:spPr>
          <a:xfrm>
            <a:off x="3634740" y="4937760"/>
            <a:ext cx="2212848"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A 0 to 100 score per session on a fixed STAR, clarity and confidence rubric.</a:t>
            </a:r>
            <a:endParaRPr b="0" i="0" sz="1200" u="none" cap="none" strike="noStrike">
              <a:solidFill>
                <a:schemeClr val="dk1"/>
              </a:solidFill>
              <a:latin typeface="Calibri"/>
              <a:ea typeface="Calibri"/>
              <a:cs typeface="Calibri"/>
              <a:sym typeface="Calibri"/>
            </a:endParaRPr>
          </a:p>
        </p:txBody>
      </p:sp>
      <p:sp>
        <p:nvSpPr>
          <p:cNvPr id="73" name="Google Shape;73;p4"/>
          <p:cNvSpPr/>
          <p:nvPr/>
        </p:nvSpPr>
        <p:spPr>
          <a:xfrm>
            <a:off x="6227064" y="3822192"/>
            <a:ext cx="2688336" cy="2148840"/>
          </a:xfrm>
          <a:prstGeom prst="roundRect">
            <a:avLst>
              <a:gd fmla="val 2553"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6464808" y="4041648"/>
            <a:ext cx="384048" cy="384048"/>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6464808" y="40416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76" name="Google Shape;76;p4"/>
          <p:cNvSpPr/>
          <p:nvPr/>
        </p:nvSpPr>
        <p:spPr>
          <a:xfrm>
            <a:off x="6464808" y="4572000"/>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700"/>
              <a:buFont typeface="Cambria"/>
              <a:buNone/>
            </a:pPr>
            <a:r>
              <a:rPr b="1" i="0" lang="en-US" sz="1700" u="none" cap="none" strike="noStrike">
                <a:solidFill>
                  <a:srgbClr val="141B34"/>
                </a:solidFill>
                <a:latin typeface="Cambria"/>
                <a:ea typeface="Cambria"/>
                <a:cs typeface="Cambria"/>
                <a:sym typeface="Cambria"/>
              </a:rPr>
              <a:t>Longitudinal</a:t>
            </a:r>
            <a:endParaRPr b="0" i="0" sz="1700" u="none" cap="none" strike="noStrike">
              <a:solidFill>
                <a:schemeClr val="dk1"/>
              </a:solidFill>
              <a:latin typeface="Calibri"/>
              <a:ea typeface="Calibri"/>
              <a:cs typeface="Calibri"/>
              <a:sym typeface="Calibri"/>
            </a:endParaRPr>
          </a:p>
        </p:txBody>
      </p:sp>
      <p:sp>
        <p:nvSpPr>
          <p:cNvPr id="77" name="Google Shape;77;p4"/>
          <p:cNvSpPr/>
          <p:nvPr/>
        </p:nvSpPr>
        <p:spPr>
          <a:xfrm>
            <a:off x="6464808" y="4937760"/>
            <a:ext cx="2212848"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A progress dashboard shows score trends so improvement is visible, not guessed at.</a:t>
            </a:r>
            <a:endParaRPr b="0" i="0" sz="1200" u="none" cap="none" strike="noStrike">
              <a:solidFill>
                <a:schemeClr val="dk1"/>
              </a:solidFill>
              <a:latin typeface="Calibri"/>
              <a:ea typeface="Calibri"/>
              <a:cs typeface="Calibri"/>
              <a:sym typeface="Calibri"/>
            </a:endParaRPr>
          </a:p>
        </p:txBody>
      </p:sp>
      <p:sp>
        <p:nvSpPr>
          <p:cNvPr id="78" name="Google Shape;78;p4"/>
          <p:cNvSpPr/>
          <p:nvPr/>
        </p:nvSpPr>
        <p:spPr>
          <a:xfrm>
            <a:off x="9057132" y="3822192"/>
            <a:ext cx="2688336" cy="2148840"/>
          </a:xfrm>
          <a:prstGeom prst="roundRect">
            <a:avLst>
              <a:gd fmla="val 2553"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9294876" y="4041648"/>
            <a:ext cx="384048" cy="384048"/>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9294876" y="40416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81" name="Google Shape;81;p4"/>
          <p:cNvSpPr/>
          <p:nvPr/>
        </p:nvSpPr>
        <p:spPr>
          <a:xfrm>
            <a:off x="9294876" y="4572000"/>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700"/>
              <a:buFont typeface="Cambria"/>
              <a:buNone/>
            </a:pPr>
            <a:r>
              <a:rPr b="1" i="0" lang="en-US" sz="1700" u="none" cap="none" strike="noStrike">
                <a:solidFill>
                  <a:srgbClr val="141B34"/>
                </a:solidFill>
                <a:latin typeface="Cambria"/>
                <a:ea typeface="Cambria"/>
                <a:cs typeface="Cambria"/>
                <a:sym typeface="Cambria"/>
              </a:rPr>
              <a:t>Campus ready</a:t>
            </a:r>
            <a:endParaRPr b="0" i="0" sz="1700" u="none" cap="none" strike="noStrike">
              <a:solidFill>
                <a:schemeClr val="dk1"/>
              </a:solidFill>
              <a:latin typeface="Calibri"/>
              <a:ea typeface="Calibri"/>
              <a:cs typeface="Calibri"/>
              <a:sym typeface="Calibri"/>
            </a:endParaRPr>
          </a:p>
        </p:txBody>
      </p:sp>
      <p:sp>
        <p:nvSpPr>
          <p:cNvPr id="82" name="Google Shape;82;p4"/>
          <p:cNvSpPr/>
          <p:nvPr/>
        </p:nvSpPr>
        <p:spPr>
          <a:xfrm>
            <a:off x="9294876" y="4937760"/>
            <a:ext cx="2212848"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FERPA aligned handling of transcripts and explicit AI disclosure on every report.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5"/>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Delegation of Tasks</a:t>
            </a:r>
            <a:endParaRPr b="0" i="0" sz="3000" u="none" cap="none" strike="noStrike">
              <a:solidFill>
                <a:schemeClr val="dk1"/>
              </a:solidFill>
              <a:latin typeface="Calibri"/>
              <a:ea typeface="Calibri"/>
              <a:cs typeface="Calibri"/>
              <a:sym typeface="Calibri"/>
            </a:endParaRPr>
          </a:p>
        </p:txBody>
      </p:sp>
      <p:sp>
        <p:nvSpPr>
          <p:cNvPr id="90" name="Google Shape;90;p5"/>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Deliverable 2 responsibilities by team member</a:t>
            </a:r>
            <a:endParaRPr b="0" i="0" sz="1300" u="none" cap="none" strike="noStrike">
              <a:solidFill>
                <a:schemeClr val="dk1"/>
              </a:solidFill>
              <a:latin typeface="Calibri"/>
              <a:ea typeface="Calibri"/>
              <a:cs typeface="Calibri"/>
              <a:sym typeface="Calibri"/>
            </a:endParaRPr>
          </a:p>
        </p:txBody>
      </p:sp>
      <p:sp>
        <p:nvSpPr>
          <p:cNvPr id="91" name="Google Shape;91;p5"/>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92" name="Google Shape;92;p5"/>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93" name="Google Shape;93;p5"/>
          <p:cNvSpPr/>
          <p:nvPr/>
        </p:nvSpPr>
        <p:spPr>
          <a:xfrm>
            <a:off x="566928" y="1481328"/>
            <a:ext cx="11027664" cy="886968"/>
          </a:xfrm>
          <a:prstGeom prst="roundRect">
            <a:avLst>
              <a:gd fmla="val 6186"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768096" y="1719072"/>
            <a:ext cx="411480" cy="41148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768096" y="171907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AS</a:t>
            </a:r>
            <a:endParaRPr b="0" i="0" sz="1300" u="none" cap="none" strike="noStrike">
              <a:solidFill>
                <a:schemeClr val="dk1"/>
              </a:solidFill>
              <a:latin typeface="Calibri"/>
              <a:ea typeface="Calibri"/>
              <a:cs typeface="Calibri"/>
              <a:sym typeface="Calibri"/>
            </a:endParaRPr>
          </a:p>
        </p:txBody>
      </p:sp>
      <p:sp>
        <p:nvSpPr>
          <p:cNvPr id="96" name="Google Shape;96;p5"/>
          <p:cNvSpPr/>
          <p:nvPr/>
        </p:nvSpPr>
        <p:spPr>
          <a:xfrm>
            <a:off x="1316736" y="1609344"/>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Ayro S. Escobar</a:t>
            </a:r>
            <a:endParaRPr b="0" i="0" sz="1400" u="none" cap="none" strike="noStrike">
              <a:solidFill>
                <a:schemeClr val="dk1"/>
              </a:solidFill>
              <a:latin typeface="Calibri"/>
              <a:ea typeface="Calibri"/>
              <a:cs typeface="Calibri"/>
              <a:sym typeface="Calibri"/>
            </a:endParaRPr>
          </a:p>
        </p:txBody>
      </p:sp>
      <p:sp>
        <p:nvSpPr>
          <p:cNvPr id="97" name="Google Shape;97;p5"/>
          <p:cNvSpPr/>
          <p:nvPr/>
        </p:nvSpPr>
        <p:spPr>
          <a:xfrm>
            <a:off x="1316736" y="1901952"/>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Estimation &amp; Data Layer</a:t>
            </a:r>
            <a:endParaRPr b="0" i="0" sz="1050" u="none" cap="none" strike="noStrike">
              <a:solidFill>
                <a:schemeClr val="dk1"/>
              </a:solidFill>
              <a:latin typeface="Calibri"/>
              <a:ea typeface="Calibri"/>
              <a:cs typeface="Calibri"/>
              <a:sym typeface="Calibri"/>
            </a:endParaRPr>
          </a:p>
        </p:txBody>
      </p:sp>
      <p:sp>
        <p:nvSpPr>
          <p:cNvPr id="98" name="Google Shape;98;p5"/>
          <p:cNvSpPr/>
          <p:nvPr/>
        </p:nvSpPr>
        <p:spPr>
          <a:xfrm>
            <a:off x="3456432" y="1600200"/>
            <a:ext cx="795528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Section 4: project scheduling and Function Point cost estimation, including hardware, software and personnel cost. Owned the database schema, endpoint logic and class diagram content.</a:t>
            </a:r>
            <a:endParaRPr b="0" i="0" sz="1200" u="none" cap="none" strike="noStrike">
              <a:solidFill>
                <a:schemeClr val="dk1"/>
              </a:solidFill>
              <a:latin typeface="Calibri"/>
              <a:ea typeface="Calibri"/>
              <a:cs typeface="Calibri"/>
              <a:sym typeface="Calibri"/>
            </a:endParaRPr>
          </a:p>
        </p:txBody>
      </p:sp>
      <p:sp>
        <p:nvSpPr>
          <p:cNvPr id="99" name="Google Shape;99;p5"/>
          <p:cNvSpPr/>
          <p:nvPr/>
        </p:nvSpPr>
        <p:spPr>
          <a:xfrm>
            <a:off x="566928" y="2450592"/>
            <a:ext cx="11027664" cy="886968"/>
          </a:xfrm>
          <a:prstGeom prst="roundRect">
            <a:avLst>
              <a:gd fmla="val 6186" name="adj"/>
            </a:avLst>
          </a:prstGeom>
          <a:solidFill>
            <a:srgbClr val="FFFFFF"/>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768096" y="2688336"/>
            <a:ext cx="411480" cy="41148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768096" y="268833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a:t>
            </a:r>
            <a:endParaRPr b="0" i="0" sz="1300" u="none" cap="none" strike="noStrike">
              <a:solidFill>
                <a:schemeClr val="dk1"/>
              </a:solidFill>
              <a:latin typeface="Calibri"/>
              <a:ea typeface="Calibri"/>
              <a:cs typeface="Calibri"/>
              <a:sym typeface="Calibri"/>
            </a:endParaRPr>
          </a:p>
        </p:txBody>
      </p:sp>
      <p:sp>
        <p:nvSpPr>
          <p:cNvPr id="102" name="Google Shape;102;p5"/>
          <p:cNvSpPr/>
          <p:nvPr/>
        </p:nvSpPr>
        <p:spPr>
          <a:xfrm>
            <a:off x="1316736" y="2578608"/>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Ben Andre Quidlat</a:t>
            </a:r>
            <a:endParaRPr b="0" i="0" sz="1400" u="none" cap="none" strike="noStrike">
              <a:solidFill>
                <a:schemeClr val="dk1"/>
              </a:solidFill>
              <a:latin typeface="Calibri"/>
              <a:ea typeface="Calibri"/>
              <a:cs typeface="Calibri"/>
              <a:sym typeface="Calibri"/>
            </a:endParaRPr>
          </a:p>
        </p:txBody>
      </p:sp>
      <p:sp>
        <p:nvSpPr>
          <p:cNvPr id="103" name="Google Shape;103;p5"/>
          <p:cNvSpPr/>
          <p:nvPr/>
        </p:nvSpPr>
        <p:spPr>
          <a:xfrm>
            <a:off x="1316736" y="2871216"/>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Backend &amp; Submission</a:t>
            </a:r>
            <a:endParaRPr b="0" i="0" sz="1050" u="none" cap="none" strike="noStrike">
              <a:solidFill>
                <a:schemeClr val="dk1"/>
              </a:solidFill>
              <a:latin typeface="Calibri"/>
              <a:ea typeface="Calibri"/>
              <a:cs typeface="Calibri"/>
              <a:sym typeface="Calibri"/>
            </a:endParaRPr>
          </a:p>
        </p:txBody>
      </p:sp>
      <p:sp>
        <p:nvSpPr>
          <p:cNvPr id="104" name="Google Shape;104;p5"/>
          <p:cNvSpPr/>
          <p:nvPr/>
        </p:nvSpPr>
        <p:spPr>
          <a:xfrm>
            <a:off x="3456432" y="2569464"/>
            <a:ext cx="795528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Report assembly and formatting. Sections 1, 2, 3, 7 and 8. Backend integration and CI/CD pipeline. Owned the GitHub repository structure and the GitHub plus eLearning submission.</a:t>
            </a:r>
            <a:endParaRPr b="0" i="0" sz="1200" u="none" cap="none" strike="noStrike">
              <a:solidFill>
                <a:schemeClr val="dk1"/>
              </a:solidFill>
              <a:latin typeface="Calibri"/>
              <a:ea typeface="Calibri"/>
              <a:cs typeface="Calibri"/>
              <a:sym typeface="Calibri"/>
            </a:endParaRPr>
          </a:p>
        </p:txBody>
      </p:sp>
      <p:sp>
        <p:nvSpPr>
          <p:cNvPr id="105" name="Google Shape;105;p5"/>
          <p:cNvSpPr/>
          <p:nvPr/>
        </p:nvSpPr>
        <p:spPr>
          <a:xfrm>
            <a:off x="566928" y="3419856"/>
            <a:ext cx="11027664" cy="886968"/>
          </a:xfrm>
          <a:prstGeom prst="roundRect">
            <a:avLst>
              <a:gd fmla="val 6186"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768096" y="3657600"/>
            <a:ext cx="411480" cy="41148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768096" y="36576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HS</a:t>
            </a:r>
            <a:endParaRPr b="0" i="0" sz="1300" u="none" cap="none" strike="noStrike">
              <a:solidFill>
                <a:schemeClr val="dk1"/>
              </a:solidFill>
              <a:latin typeface="Calibri"/>
              <a:ea typeface="Calibri"/>
              <a:cs typeface="Calibri"/>
              <a:sym typeface="Calibri"/>
            </a:endParaRPr>
          </a:p>
        </p:txBody>
      </p:sp>
      <p:sp>
        <p:nvSpPr>
          <p:cNvPr id="108" name="Google Shape;108;p5"/>
          <p:cNvSpPr/>
          <p:nvPr/>
        </p:nvSpPr>
        <p:spPr>
          <a:xfrm>
            <a:off x="1316736" y="3547872"/>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Hadeed Sarfaraz</a:t>
            </a:r>
            <a:endParaRPr b="0" i="0" sz="1400" u="none" cap="none" strike="noStrike">
              <a:solidFill>
                <a:schemeClr val="dk1"/>
              </a:solidFill>
              <a:latin typeface="Calibri"/>
              <a:ea typeface="Calibri"/>
              <a:cs typeface="Calibri"/>
              <a:sym typeface="Calibri"/>
            </a:endParaRPr>
          </a:p>
        </p:txBody>
      </p:sp>
      <p:sp>
        <p:nvSpPr>
          <p:cNvPr id="109" name="Google Shape;109;p5"/>
          <p:cNvSpPr/>
          <p:nvPr/>
        </p:nvSpPr>
        <p:spPr>
          <a:xfrm>
            <a:off x="1316736" y="3840480"/>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AI Pipeline &amp; Analysis</a:t>
            </a:r>
            <a:endParaRPr b="0" i="0" sz="1050" u="none" cap="none" strike="noStrike">
              <a:solidFill>
                <a:schemeClr val="dk1"/>
              </a:solidFill>
              <a:latin typeface="Calibri"/>
              <a:ea typeface="Calibri"/>
              <a:cs typeface="Calibri"/>
              <a:sym typeface="Calibri"/>
            </a:endParaRPr>
          </a:p>
        </p:txBody>
      </p:sp>
      <p:sp>
        <p:nvSpPr>
          <p:cNvPr id="110" name="Google Shape;110;p5"/>
          <p:cNvSpPr/>
          <p:nvPr/>
        </p:nvSpPr>
        <p:spPr>
          <a:xfrm>
            <a:off x="3456432" y="3538728"/>
            <a:ext cx="795528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AI pipeline design and prompt logic for behavioral scenarios. Section 6: comparison with similar designs, with cited sources. Sequence diagrams and process model rationale.</a:t>
            </a:r>
            <a:endParaRPr b="0" i="0" sz="1200" u="none" cap="none" strike="noStrike">
              <a:solidFill>
                <a:schemeClr val="dk1"/>
              </a:solidFill>
              <a:latin typeface="Calibri"/>
              <a:ea typeface="Calibri"/>
              <a:cs typeface="Calibri"/>
              <a:sym typeface="Calibri"/>
            </a:endParaRPr>
          </a:p>
        </p:txBody>
      </p:sp>
      <p:sp>
        <p:nvSpPr>
          <p:cNvPr id="111" name="Google Shape;111;p5"/>
          <p:cNvSpPr/>
          <p:nvPr/>
        </p:nvSpPr>
        <p:spPr>
          <a:xfrm>
            <a:off x="566928" y="4389120"/>
            <a:ext cx="11027664" cy="886968"/>
          </a:xfrm>
          <a:prstGeom prst="roundRect">
            <a:avLst>
              <a:gd fmla="val 6186" name="adj"/>
            </a:avLst>
          </a:prstGeom>
          <a:solidFill>
            <a:srgbClr val="FFFFFF"/>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768096" y="4626864"/>
            <a:ext cx="411480" cy="41148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768096" y="4626864"/>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SK</a:t>
            </a:r>
            <a:endParaRPr b="0" i="0" sz="1300" u="none" cap="none" strike="noStrike">
              <a:solidFill>
                <a:schemeClr val="dk1"/>
              </a:solidFill>
              <a:latin typeface="Calibri"/>
              <a:ea typeface="Calibri"/>
              <a:cs typeface="Calibri"/>
              <a:sym typeface="Calibri"/>
            </a:endParaRPr>
          </a:p>
        </p:txBody>
      </p:sp>
      <p:sp>
        <p:nvSpPr>
          <p:cNvPr id="114" name="Google Shape;114;p5"/>
          <p:cNvSpPr/>
          <p:nvPr/>
        </p:nvSpPr>
        <p:spPr>
          <a:xfrm>
            <a:off x="1316736" y="4517136"/>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Shaun Kenan Moukam</a:t>
            </a:r>
            <a:endParaRPr b="0" i="0" sz="1400" u="none" cap="none" strike="noStrike">
              <a:solidFill>
                <a:schemeClr val="dk1"/>
              </a:solidFill>
              <a:latin typeface="Calibri"/>
              <a:ea typeface="Calibri"/>
              <a:cs typeface="Calibri"/>
              <a:sym typeface="Calibri"/>
            </a:endParaRPr>
          </a:p>
        </p:txBody>
      </p:sp>
      <p:sp>
        <p:nvSpPr>
          <p:cNvPr id="115" name="Google Shape;115;p5"/>
          <p:cNvSpPr/>
          <p:nvPr/>
        </p:nvSpPr>
        <p:spPr>
          <a:xfrm>
            <a:off x="1316736" y="4809744"/>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Frontend &amp; Prototype</a:t>
            </a:r>
            <a:endParaRPr b="0" i="0" sz="1050" u="none" cap="none" strike="noStrike">
              <a:solidFill>
                <a:schemeClr val="dk1"/>
              </a:solidFill>
              <a:latin typeface="Calibri"/>
              <a:ea typeface="Calibri"/>
              <a:cs typeface="Calibri"/>
              <a:sym typeface="Calibri"/>
            </a:endParaRPr>
          </a:p>
        </p:txBody>
      </p:sp>
      <p:sp>
        <p:nvSpPr>
          <p:cNvPr id="116" name="Google Shape;116;p5"/>
          <p:cNvSpPr/>
          <p:nvPr/>
        </p:nvSpPr>
        <p:spPr>
          <a:xfrm>
            <a:off x="3456432" y="4507992"/>
            <a:ext cx="795528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Frontend UI/UX components, routing and public deployment. Section 9: the presentation deck and the Figma prototype. Use case diagram and MVC architecture sections.</a:t>
            </a:r>
            <a:endParaRPr b="0" i="0" sz="1200" u="none" cap="none" strike="noStrike">
              <a:solidFill>
                <a:schemeClr val="dk1"/>
              </a:solidFill>
              <a:latin typeface="Calibri"/>
              <a:ea typeface="Calibri"/>
              <a:cs typeface="Calibri"/>
              <a:sym typeface="Calibri"/>
            </a:endParaRPr>
          </a:p>
        </p:txBody>
      </p:sp>
      <p:sp>
        <p:nvSpPr>
          <p:cNvPr id="117" name="Google Shape;117;p5"/>
          <p:cNvSpPr/>
          <p:nvPr/>
        </p:nvSpPr>
        <p:spPr>
          <a:xfrm>
            <a:off x="566928" y="5358384"/>
            <a:ext cx="11027664" cy="886968"/>
          </a:xfrm>
          <a:prstGeom prst="roundRect">
            <a:avLst>
              <a:gd fmla="val 6186"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768096" y="5596128"/>
            <a:ext cx="411480" cy="41148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768096" y="55961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JA</a:t>
            </a:r>
            <a:endParaRPr b="0" i="0" sz="1300" u="none" cap="none" strike="noStrike">
              <a:solidFill>
                <a:schemeClr val="dk1"/>
              </a:solidFill>
              <a:latin typeface="Calibri"/>
              <a:ea typeface="Calibri"/>
              <a:cs typeface="Calibri"/>
              <a:sym typeface="Calibri"/>
            </a:endParaRPr>
          </a:p>
        </p:txBody>
      </p:sp>
      <p:sp>
        <p:nvSpPr>
          <p:cNvPr id="120" name="Google Shape;120;p5"/>
          <p:cNvSpPr/>
          <p:nvPr/>
        </p:nvSpPr>
        <p:spPr>
          <a:xfrm>
            <a:off x="1316736" y="5486400"/>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Joshua Asteway</a:t>
            </a:r>
            <a:endParaRPr b="0" i="0" sz="1400" u="none" cap="none" strike="noStrike">
              <a:solidFill>
                <a:schemeClr val="dk1"/>
              </a:solidFill>
              <a:latin typeface="Calibri"/>
              <a:ea typeface="Calibri"/>
              <a:cs typeface="Calibri"/>
              <a:sym typeface="Calibri"/>
            </a:endParaRPr>
          </a:p>
        </p:txBody>
      </p:sp>
      <p:sp>
        <p:nvSpPr>
          <p:cNvPr id="121" name="Google Shape;121;p5"/>
          <p:cNvSpPr/>
          <p:nvPr/>
        </p:nvSpPr>
        <p:spPr>
          <a:xfrm>
            <a:off x="1316736" y="5779008"/>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Quality Assurance</a:t>
            </a:r>
            <a:endParaRPr b="0" i="0" sz="1050" u="none" cap="none" strike="noStrike">
              <a:solidFill>
                <a:schemeClr val="dk1"/>
              </a:solidFill>
              <a:latin typeface="Calibri"/>
              <a:ea typeface="Calibri"/>
              <a:cs typeface="Calibri"/>
              <a:sym typeface="Calibri"/>
            </a:endParaRPr>
          </a:p>
        </p:txBody>
      </p:sp>
      <p:sp>
        <p:nvSpPr>
          <p:cNvPr id="122" name="Google Shape;122;p5"/>
          <p:cNvSpPr/>
          <p:nvPr/>
        </p:nvSpPr>
        <p:spPr>
          <a:xfrm>
            <a:off x="3456432" y="5477256"/>
            <a:ext cx="795528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Section 5: the full test plan, the automated unit test and its results, and the defined test cases. User acceptance testing on every increment and verification of the non functional targets.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6"/>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Project Scheduling</a:t>
            </a:r>
            <a:endParaRPr b="0" i="0" sz="3000" u="none" cap="none" strike="noStrike">
              <a:solidFill>
                <a:schemeClr val="dk1"/>
              </a:solidFill>
              <a:latin typeface="Calibri"/>
              <a:ea typeface="Calibri"/>
              <a:cs typeface="Calibri"/>
              <a:sym typeface="Calibri"/>
            </a:endParaRPr>
          </a:p>
        </p:txBody>
      </p:sp>
      <p:sp>
        <p:nvSpPr>
          <p:cNvPr id="130" name="Google Shape;130;p6"/>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Estimated schedule for building Interview Lens, not for the course work</a:t>
            </a:r>
            <a:endParaRPr b="0" i="0" sz="1300" u="none" cap="none" strike="noStrike">
              <a:solidFill>
                <a:schemeClr val="dk1"/>
              </a:solidFill>
              <a:latin typeface="Calibri"/>
              <a:ea typeface="Calibri"/>
              <a:cs typeface="Calibri"/>
              <a:sym typeface="Calibri"/>
            </a:endParaRPr>
          </a:p>
        </p:txBody>
      </p:sp>
      <p:sp>
        <p:nvSpPr>
          <p:cNvPr id="131" name="Google Shape;131;p6"/>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32" name="Google Shape;132;p6"/>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133" name="Google Shape;133;p6"/>
          <p:cNvSpPr/>
          <p:nvPr/>
        </p:nvSpPr>
        <p:spPr>
          <a:xfrm>
            <a:off x="566928" y="1463040"/>
            <a:ext cx="2688336" cy="1207008"/>
          </a:xfrm>
          <a:prstGeom prst="roundRect">
            <a:avLst>
              <a:gd fmla="val 4545"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822960" y="1627632"/>
            <a:ext cx="21762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START DATE</a:t>
            </a:r>
            <a:endParaRPr b="0" i="0" sz="1000" u="none" cap="none" strike="noStrike">
              <a:solidFill>
                <a:schemeClr val="dk1"/>
              </a:solidFill>
              <a:latin typeface="Calibri"/>
              <a:ea typeface="Calibri"/>
              <a:cs typeface="Calibri"/>
              <a:sym typeface="Calibri"/>
            </a:endParaRPr>
          </a:p>
        </p:txBody>
      </p:sp>
      <p:sp>
        <p:nvSpPr>
          <p:cNvPr id="135" name="Google Shape;135;p6"/>
          <p:cNvSpPr/>
          <p:nvPr/>
        </p:nvSpPr>
        <p:spPr>
          <a:xfrm>
            <a:off x="822960" y="1901952"/>
            <a:ext cx="217627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Jun 1, 2026</a:t>
            </a:r>
            <a:endParaRPr b="0" i="0" sz="2100" u="none" cap="none" strike="noStrike">
              <a:solidFill>
                <a:schemeClr val="dk1"/>
              </a:solidFill>
              <a:latin typeface="Calibri"/>
              <a:ea typeface="Calibri"/>
              <a:cs typeface="Calibri"/>
              <a:sym typeface="Calibri"/>
            </a:endParaRPr>
          </a:p>
        </p:txBody>
      </p:sp>
      <p:sp>
        <p:nvSpPr>
          <p:cNvPr id="136" name="Google Shape;136;p6"/>
          <p:cNvSpPr/>
          <p:nvPr/>
        </p:nvSpPr>
        <p:spPr>
          <a:xfrm>
            <a:off x="3396996" y="1463040"/>
            <a:ext cx="2688336" cy="1207008"/>
          </a:xfrm>
          <a:prstGeom prst="roundRect">
            <a:avLst>
              <a:gd fmla="val 4545"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3653028" y="1627632"/>
            <a:ext cx="21762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END DATE</a:t>
            </a:r>
            <a:endParaRPr b="0" i="0" sz="1000" u="none" cap="none" strike="noStrike">
              <a:solidFill>
                <a:schemeClr val="dk1"/>
              </a:solidFill>
              <a:latin typeface="Calibri"/>
              <a:ea typeface="Calibri"/>
              <a:cs typeface="Calibri"/>
              <a:sym typeface="Calibri"/>
            </a:endParaRPr>
          </a:p>
        </p:txBody>
      </p:sp>
      <p:sp>
        <p:nvSpPr>
          <p:cNvPr id="138" name="Google Shape;138;p6"/>
          <p:cNvSpPr/>
          <p:nvPr/>
        </p:nvSpPr>
        <p:spPr>
          <a:xfrm>
            <a:off x="3653028" y="1901952"/>
            <a:ext cx="217627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Sep 4, 2026</a:t>
            </a:r>
            <a:endParaRPr b="0" i="0" sz="2100" u="none" cap="none" strike="noStrike">
              <a:solidFill>
                <a:schemeClr val="dk1"/>
              </a:solidFill>
              <a:latin typeface="Calibri"/>
              <a:ea typeface="Calibri"/>
              <a:cs typeface="Calibri"/>
              <a:sym typeface="Calibri"/>
            </a:endParaRPr>
          </a:p>
        </p:txBody>
      </p:sp>
      <p:sp>
        <p:nvSpPr>
          <p:cNvPr id="139" name="Google Shape;139;p6"/>
          <p:cNvSpPr/>
          <p:nvPr/>
        </p:nvSpPr>
        <p:spPr>
          <a:xfrm>
            <a:off x="6227064" y="1463040"/>
            <a:ext cx="2688336" cy="1207008"/>
          </a:xfrm>
          <a:prstGeom prst="roundRect">
            <a:avLst>
              <a:gd fmla="val 4545"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6483096" y="1627632"/>
            <a:ext cx="21762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WORKING DAYS</a:t>
            </a:r>
            <a:endParaRPr b="0" i="0" sz="1000" u="none" cap="none" strike="noStrike">
              <a:solidFill>
                <a:schemeClr val="dk1"/>
              </a:solidFill>
              <a:latin typeface="Calibri"/>
              <a:ea typeface="Calibri"/>
              <a:cs typeface="Calibri"/>
              <a:sym typeface="Calibri"/>
            </a:endParaRPr>
          </a:p>
        </p:txBody>
      </p:sp>
      <p:sp>
        <p:nvSpPr>
          <p:cNvPr id="141" name="Google Shape;141;p6"/>
          <p:cNvSpPr/>
          <p:nvPr/>
        </p:nvSpPr>
        <p:spPr>
          <a:xfrm>
            <a:off x="6483096" y="1901952"/>
            <a:ext cx="217627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68 days</a:t>
            </a:r>
            <a:endParaRPr b="0" i="0" sz="2100" u="none" cap="none" strike="noStrike">
              <a:solidFill>
                <a:schemeClr val="dk1"/>
              </a:solidFill>
              <a:latin typeface="Calibri"/>
              <a:ea typeface="Calibri"/>
              <a:cs typeface="Calibri"/>
              <a:sym typeface="Calibri"/>
            </a:endParaRPr>
          </a:p>
        </p:txBody>
      </p:sp>
      <p:sp>
        <p:nvSpPr>
          <p:cNvPr id="142" name="Google Shape;142;p6"/>
          <p:cNvSpPr/>
          <p:nvPr/>
        </p:nvSpPr>
        <p:spPr>
          <a:xfrm>
            <a:off x="9057132" y="1463040"/>
            <a:ext cx="2688336" cy="1207008"/>
          </a:xfrm>
          <a:prstGeom prst="roundRect">
            <a:avLst>
              <a:gd fmla="val 4545"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9313164" y="1627632"/>
            <a:ext cx="21762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HOURS PER DAY</a:t>
            </a:r>
            <a:endParaRPr b="0" i="0" sz="1000" u="none" cap="none" strike="noStrike">
              <a:solidFill>
                <a:schemeClr val="dk1"/>
              </a:solidFill>
              <a:latin typeface="Calibri"/>
              <a:ea typeface="Calibri"/>
              <a:cs typeface="Calibri"/>
              <a:sym typeface="Calibri"/>
            </a:endParaRPr>
          </a:p>
        </p:txBody>
      </p:sp>
      <p:sp>
        <p:nvSpPr>
          <p:cNvPr id="144" name="Google Shape;144;p6"/>
          <p:cNvSpPr/>
          <p:nvPr/>
        </p:nvSpPr>
        <p:spPr>
          <a:xfrm>
            <a:off x="9313164" y="1901952"/>
            <a:ext cx="217627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1" i="0" lang="en-US" sz="2100" u="none" cap="none" strike="noStrike">
                <a:solidFill>
                  <a:srgbClr val="FFFFFF"/>
                </a:solidFill>
                <a:latin typeface="Cambria"/>
                <a:ea typeface="Cambria"/>
                <a:cs typeface="Cambria"/>
                <a:sym typeface="Cambria"/>
              </a:rPr>
              <a:t>8 hours</a:t>
            </a:r>
            <a:endParaRPr b="0" i="0" sz="2100" u="none" cap="none" strike="noStrike">
              <a:solidFill>
                <a:schemeClr val="dk1"/>
              </a:solidFill>
              <a:latin typeface="Calibri"/>
              <a:ea typeface="Calibri"/>
              <a:cs typeface="Calibri"/>
              <a:sym typeface="Calibri"/>
            </a:endParaRPr>
          </a:p>
        </p:txBody>
      </p:sp>
      <p:sp>
        <p:nvSpPr>
          <p:cNvPr id="145" name="Google Shape;145;p6"/>
          <p:cNvSpPr/>
          <p:nvPr/>
        </p:nvSpPr>
        <p:spPr>
          <a:xfrm>
            <a:off x="566928" y="3072384"/>
            <a:ext cx="128016" cy="274320"/>
          </a:xfrm>
          <a:prstGeom prst="roundRect">
            <a:avLst>
              <a:gd fmla="val 28571"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859536" y="2962656"/>
            <a:ext cx="3931920" cy="640080"/>
          </a:xfrm>
          <a:prstGeom prst="rect">
            <a:avLst/>
          </a:prstGeom>
          <a:noFill/>
          <a:ln>
            <a:noFill/>
          </a:ln>
        </p:spPr>
        <p:txBody>
          <a:bodyPr anchorCtr="0" anchor="ctr" bIns="0" lIns="0" spcFirstLastPara="1" rIns="0" wrap="square" tIns="0">
            <a:noAutofit/>
          </a:bodyPr>
          <a:lstStyle/>
          <a:p>
            <a:pPr indent="0" lvl="0" marL="0" marR="0" rtl="0" algn="l">
              <a:lnSpc>
                <a:spcPct val="125925"/>
              </a:lnSpc>
              <a:spcBef>
                <a:spcPts val="0"/>
              </a:spcBef>
              <a:spcAft>
                <a:spcPts val="0"/>
              </a:spcAft>
              <a:buClr>
                <a:srgbClr val="141B34"/>
              </a:buClr>
              <a:buSzPts val="1350"/>
              <a:buFont typeface="Calibri"/>
              <a:buNone/>
            </a:pPr>
            <a:r>
              <a:rPr b="1" i="0" lang="en-US" sz="1350" u="none" cap="none" strike="noStrike">
                <a:solidFill>
                  <a:srgbClr val="141B34"/>
                </a:solidFill>
                <a:latin typeface="Calibri"/>
                <a:ea typeface="Calibri"/>
                <a:cs typeface="Calibri"/>
                <a:sym typeface="Calibri"/>
              </a:rPr>
              <a:t>Weekends are not counted.</a:t>
            </a:r>
            <a:endParaRPr b="0" i="0" sz="1350" u="none" cap="none" strike="noStrike">
              <a:solidFill>
                <a:schemeClr val="dk1"/>
              </a:solidFill>
              <a:latin typeface="Calibri"/>
              <a:ea typeface="Calibri"/>
              <a:cs typeface="Calibri"/>
              <a:sym typeface="Calibri"/>
            </a:endParaRPr>
          </a:p>
        </p:txBody>
      </p:sp>
      <p:sp>
        <p:nvSpPr>
          <p:cNvPr id="147" name="Google Shape;147;p6"/>
          <p:cNvSpPr/>
          <p:nvPr/>
        </p:nvSpPr>
        <p:spPr>
          <a:xfrm>
            <a:off x="4937760" y="2962656"/>
            <a:ext cx="6656832" cy="64008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The schedule assumes a Monday to Friday work week. Weekend days are excluded from the 68 working days entirely and are not treated as buffer.</a:t>
            </a:r>
            <a:endParaRPr b="0" i="0" sz="1200" u="none" cap="none" strike="noStrike">
              <a:solidFill>
                <a:schemeClr val="dk1"/>
              </a:solidFill>
              <a:latin typeface="Calibri"/>
              <a:ea typeface="Calibri"/>
              <a:cs typeface="Calibri"/>
              <a:sym typeface="Calibri"/>
            </a:endParaRPr>
          </a:p>
        </p:txBody>
      </p:sp>
      <p:sp>
        <p:nvSpPr>
          <p:cNvPr id="148" name="Google Shape;148;p6"/>
          <p:cNvSpPr/>
          <p:nvPr/>
        </p:nvSpPr>
        <p:spPr>
          <a:xfrm>
            <a:off x="566928" y="3849624"/>
            <a:ext cx="128016" cy="274320"/>
          </a:xfrm>
          <a:prstGeom prst="roundRect">
            <a:avLst>
              <a:gd fmla="val 28571"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859536" y="3739896"/>
            <a:ext cx="3931920" cy="640080"/>
          </a:xfrm>
          <a:prstGeom prst="rect">
            <a:avLst/>
          </a:prstGeom>
          <a:noFill/>
          <a:ln>
            <a:noFill/>
          </a:ln>
        </p:spPr>
        <p:txBody>
          <a:bodyPr anchorCtr="0" anchor="ctr" bIns="0" lIns="0" spcFirstLastPara="1" rIns="0" wrap="square" tIns="0">
            <a:noAutofit/>
          </a:bodyPr>
          <a:lstStyle/>
          <a:p>
            <a:pPr indent="0" lvl="0" marL="0" marR="0" rtl="0" algn="l">
              <a:lnSpc>
                <a:spcPct val="125925"/>
              </a:lnSpc>
              <a:spcBef>
                <a:spcPts val="0"/>
              </a:spcBef>
              <a:spcAft>
                <a:spcPts val="0"/>
              </a:spcAft>
              <a:buClr>
                <a:srgbClr val="141B34"/>
              </a:buClr>
              <a:buSzPts val="1350"/>
              <a:buFont typeface="Calibri"/>
              <a:buNone/>
            </a:pPr>
            <a:r>
              <a:rPr b="1" i="0" lang="en-US" sz="1350" u="none" cap="none" strike="noStrike">
                <a:solidFill>
                  <a:srgbClr val="141B34"/>
                </a:solidFill>
                <a:latin typeface="Calibri"/>
                <a:ea typeface="Calibri"/>
                <a:cs typeface="Calibri"/>
                <a:sym typeface="Calibri"/>
              </a:rPr>
              <a:t>Two federal holidays are excluded.</a:t>
            </a:r>
            <a:endParaRPr b="0" i="0" sz="1350" u="none" cap="none" strike="noStrike">
              <a:solidFill>
                <a:schemeClr val="dk1"/>
              </a:solidFill>
              <a:latin typeface="Calibri"/>
              <a:ea typeface="Calibri"/>
              <a:cs typeface="Calibri"/>
              <a:sym typeface="Calibri"/>
            </a:endParaRPr>
          </a:p>
        </p:txBody>
      </p:sp>
      <p:sp>
        <p:nvSpPr>
          <p:cNvPr id="150" name="Google Shape;150;p6"/>
          <p:cNvSpPr/>
          <p:nvPr/>
        </p:nvSpPr>
        <p:spPr>
          <a:xfrm>
            <a:off x="4937760" y="3739896"/>
            <a:ext cx="6656832" cy="64008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Juneteenth on Jun 19 and Independence Day observed on Jul 3 are removed from the working day count, which is why the end date sits in early September rather than late August.</a:t>
            </a:r>
            <a:endParaRPr b="0" i="0" sz="1200" u="none" cap="none" strike="noStrike">
              <a:solidFill>
                <a:schemeClr val="dk1"/>
              </a:solidFill>
              <a:latin typeface="Calibri"/>
              <a:ea typeface="Calibri"/>
              <a:cs typeface="Calibri"/>
              <a:sym typeface="Calibri"/>
            </a:endParaRPr>
          </a:p>
        </p:txBody>
      </p:sp>
      <p:sp>
        <p:nvSpPr>
          <p:cNvPr id="151" name="Google Shape;151;p6"/>
          <p:cNvSpPr/>
          <p:nvPr/>
        </p:nvSpPr>
        <p:spPr>
          <a:xfrm>
            <a:off x="566928" y="4626864"/>
            <a:ext cx="128016" cy="274320"/>
          </a:xfrm>
          <a:prstGeom prst="roundRect">
            <a:avLst>
              <a:gd fmla="val 28571"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859536" y="4517136"/>
            <a:ext cx="3931920" cy="640080"/>
          </a:xfrm>
          <a:prstGeom prst="rect">
            <a:avLst/>
          </a:prstGeom>
          <a:noFill/>
          <a:ln>
            <a:noFill/>
          </a:ln>
        </p:spPr>
        <p:txBody>
          <a:bodyPr anchorCtr="0" anchor="ctr" bIns="0" lIns="0" spcFirstLastPara="1" rIns="0" wrap="square" tIns="0">
            <a:noAutofit/>
          </a:bodyPr>
          <a:lstStyle/>
          <a:p>
            <a:pPr indent="0" lvl="0" marL="0" marR="0" rtl="0" algn="l">
              <a:lnSpc>
                <a:spcPct val="125925"/>
              </a:lnSpc>
              <a:spcBef>
                <a:spcPts val="0"/>
              </a:spcBef>
              <a:spcAft>
                <a:spcPts val="0"/>
              </a:spcAft>
              <a:buClr>
                <a:srgbClr val="141B34"/>
              </a:buClr>
              <a:buSzPts val="1350"/>
              <a:buFont typeface="Calibri"/>
              <a:buNone/>
            </a:pPr>
            <a:r>
              <a:rPr b="1" i="0" lang="en-US" sz="1350" u="none" cap="none" strike="noStrike">
                <a:solidFill>
                  <a:srgbClr val="141B34"/>
                </a:solidFill>
                <a:latin typeface="Calibri"/>
                <a:ea typeface="Calibri"/>
                <a:cs typeface="Calibri"/>
                <a:sym typeface="Calibri"/>
              </a:rPr>
              <a:t>Eight productive hours per developer per day.</a:t>
            </a:r>
            <a:endParaRPr b="0" i="0" sz="1350" u="none" cap="none" strike="noStrike">
              <a:solidFill>
                <a:schemeClr val="dk1"/>
              </a:solidFill>
              <a:latin typeface="Calibri"/>
              <a:ea typeface="Calibri"/>
              <a:cs typeface="Calibri"/>
              <a:sym typeface="Calibri"/>
            </a:endParaRPr>
          </a:p>
        </p:txBody>
      </p:sp>
      <p:sp>
        <p:nvSpPr>
          <p:cNvPr id="153" name="Google Shape;153;p6"/>
          <p:cNvSpPr/>
          <p:nvPr/>
        </p:nvSpPr>
        <p:spPr>
          <a:xfrm>
            <a:off x="4937760" y="4517136"/>
            <a:ext cx="6656832" cy="64008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Five developers times 68 days times 8 hours gives a capacity of 2,720 person hours against an estimated 2,002 person hours of effort. The remaining 718 hours, about 26 percent of capacity, is buffer.</a:t>
            </a:r>
            <a:endParaRPr b="0" i="0" sz="1200" u="none" cap="none" strike="noStrike">
              <a:solidFill>
                <a:schemeClr val="dk1"/>
              </a:solidFill>
              <a:latin typeface="Calibri"/>
              <a:ea typeface="Calibri"/>
              <a:cs typeface="Calibri"/>
              <a:sym typeface="Calibri"/>
            </a:endParaRPr>
          </a:p>
        </p:txBody>
      </p:sp>
      <p:sp>
        <p:nvSpPr>
          <p:cNvPr id="154" name="Google Shape;154;p6"/>
          <p:cNvSpPr/>
          <p:nvPr/>
        </p:nvSpPr>
        <p:spPr>
          <a:xfrm>
            <a:off x="566928" y="5404104"/>
            <a:ext cx="128016" cy="274320"/>
          </a:xfrm>
          <a:prstGeom prst="roundRect">
            <a:avLst>
              <a:gd fmla="val 28571"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859536" y="5294376"/>
            <a:ext cx="3931920" cy="640080"/>
          </a:xfrm>
          <a:prstGeom prst="rect">
            <a:avLst/>
          </a:prstGeom>
          <a:noFill/>
          <a:ln>
            <a:noFill/>
          </a:ln>
        </p:spPr>
        <p:txBody>
          <a:bodyPr anchorCtr="0" anchor="ctr" bIns="0" lIns="0" spcFirstLastPara="1" rIns="0" wrap="square" tIns="0">
            <a:noAutofit/>
          </a:bodyPr>
          <a:lstStyle/>
          <a:p>
            <a:pPr indent="0" lvl="0" marL="0" marR="0" rtl="0" algn="l">
              <a:lnSpc>
                <a:spcPct val="125925"/>
              </a:lnSpc>
              <a:spcBef>
                <a:spcPts val="0"/>
              </a:spcBef>
              <a:spcAft>
                <a:spcPts val="0"/>
              </a:spcAft>
              <a:buClr>
                <a:srgbClr val="141B34"/>
              </a:buClr>
              <a:buSzPts val="1350"/>
              <a:buFont typeface="Calibri"/>
              <a:buNone/>
            </a:pPr>
            <a:r>
              <a:rPr b="1" i="0" lang="en-US" sz="1350" u="none" cap="none" strike="noStrike">
                <a:solidFill>
                  <a:srgbClr val="141B34"/>
                </a:solidFill>
                <a:latin typeface="Calibri"/>
                <a:ea typeface="Calibri"/>
                <a:cs typeface="Calibri"/>
                <a:sym typeface="Calibri"/>
              </a:rPr>
              <a:t>Justification for the window.</a:t>
            </a:r>
            <a:endParaRPr b="0" i="0" sz="1350" u="none" cap="none" strike="noStrike">
              <a:solidFill>
                <a:schemeClr val="dk1"/>
              </a:solidFill>
              <a:latin typeface="Calibri"/>
              <a:ea typeface="Calibri"/>
              <a:cs typeface="Calibri"/>
              <a:sym typeface="Calibri"/>
            </a:endParaRPr>
          </a:p>
        </p:txBody>
      </p:sp>
      <p:sp>
        <p:nvSpPr>
          <p:cNvPr id="156" name="Google Shape;156;p6"/>
          <p:cNvSpPr/>
          <p:nvPr/>
        </p:nvSpPr>
        <p:spPr>
          <a:xfrm>
            <a:off x="4937760" y="5294376"/>
            <a:ext cx="6656832" cy="64008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85"/>
              </a:buClr>
              <a:buSzPts val="1200"/>
              <a:buFont typeface="Calibri"/>
              <a:buNone/>
            </a:pPr>
            <a:r>
              <a:rPr b="0" i="0" lang="en-US" sz="1200" u="none" cap="none" strike="noStrike">
                <a:solidFill>
                  <a:srgbClr val="6B7185"/>
                </a:solidFill>
                <a:latin typeface="Calibri"/>
                <a:ea typeface="Calibri"/>
                <a:cs typeface="Calibri"/>
                <a:sym typeface="Calibri"/>
              </a:rPr>
              <a:t>Function Point analysis produced 2,002 person hours. Divided across five developers that is 50 working days of pure effort. Scheduling 68 working days adds roughly a third on top for integration, code review and AI prompt tuning.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7"/>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Project Timeline</a:t>
            </a:r>
            <a:endParaRPr b="0" i="0" sz="3000" u="none" cap="none" strike="noStrike">
              <a:solidFill>
                <a:schemeClr val="dk1"/>
              </a:solidFill>
              <a:latin typeface="Calibri"/>
              <a:ea typeface="Calibri"/>
              <a:cs typeface="Calibri"/>
              <a:sym typeface="Calibri"/>
            </a:endParaRPr>
          </a:p>
        </p:txBody>
      </p:sp>
      <p:sp>
        <p:nvSpPr>
          <p:cNvPr id="164" name="Google Shape;164;p7"/>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Incremental development across 14 weeks, Jun 1 to Sep 4, 2026</a:t>
            </a:r>
            <a:endParaRPr b="0" i="0" sz="1300" u="none" cap="none" strike="noStrike">
              <a:solidFill>
                <a:schemeClr val="dk1"/>
              </a:solidFill>
              <a:latin typeface="Calibri"/>
              <a:ea typeface="Calibri"/>
              <a:cs typeface="Calibri"/>
              <a:sym typeface="Calibri"/>
            </a:endParaRPr>
          </a:p>
        </p:txBody>
      </p:sp>
      <p:sp>
        <p:nvSpPr>
          <p:cNvPr id="165" name="Google Shape;165;p7"/>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166" name="Google Shape;166;p7"/>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167" name="Google Shape;167;p7"/>
          <p:cNvSpPr/>
          <p:nvPr/>
        </p:nvSpPr>
        <p:spPr>
          <a:xfrm>
            <a:off x="3246120"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3246120"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W1</a:t>
            </a:r>
            <a:endParaRPr b="0" i="0" sz="900" u="none" cap="none" strike="noStrike">
              <a:solidFill>
                <a:schemeClr val="dk1"/>
              </a:solidFill>
              <a:latin typeface="Calibri"/>
              <a:ea typeface="Calibri"/>
              <a:cs typeface="Calibri"/>
              <a:sym typeface="Calibri"/>
            </a:endParaRPr>
          </a:p>
        </p:txBody>
      </p:sp>
      <p:sp>
        <p:nvSpPr>
          <p:cNvPr id="169" name="Google Shape;169;p7"/>
          <p:cNvSpPr/>
          <p:nvPr/>
        </p:nvSpPr>
        <p:spPr>
          <a:xfrm>
            <a:off x="3246120" y="1636776"/>
            <a:ext cx="155774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950"/>
              <a:buFont typeface="Calibri"/>
              <a:buNone/>
            </a:pPr>
            <a:r>
              <a:rPr b="1" i="0" lang="en-US" sz="950" u="none" cap="none" strike="noStrike">
                <a:solidFill>
                  <a:srgbClr val="141B34"/>
                </a:solidFill>
                <a:latin typeface="Calibri"/>
                <a:ea typeface="Calibri"/>
                <a:cs typeface="Calibri"/>
                <a:sym typeface="Calibri"/>
              </a:rPr>
              <a:t>JUNE</a:t>
            </a:r>
            <a:endParaRPr b="0" i="0" sz="950" u="none" cap="none" strike="noStrike">
              <a:solidFill>
                <a:schemeClr val="dk1"/>
              </a:solidFill>
              <a:latin typeface="Calibri"/>
              <a:ea typeface="Calibri"/>
              <a:cs typeface="Calibri"/>
              <a:sym typeface="Calibri"/>
            </a:endParaRPr>
          </a:p>
        </p:txBody>
      </p:sp>
      <p:sp>
        <p:nvSpPr>
          <p:cNvPr id="170" name="Google Shape;170;p7"/>
          <p:cNvSpPr/>
          <p:nvPr/>
        </p:nvSpPr>
        <p:spPr>
          <a:xfrm>
            <a:off x="3765369"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3765369"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W2</a:t>
            </a:r>
            <a:endParaRPr b="0" i="0" sz="900" u="none" cap="none" strike="noStrike">
              <a:solidFill>
                <a:schemeClr val="dk1"/>
              </a:solidFill>
              <a:latin typeface="Calibri"/>
              <a:ea typeface="Calibri"/>
              <a:cs typeface="Calibri"/>
              <a:sym typeface="Calibri"/>
            </a:endParaRPr>
          </a:p>
        </p:txBody>
      </p:sp>
      <p:sp>
        <p:nvSpPr>
          <p:cNvPr id="172" name="Google Shape;172;p7"/>
          <p:cNvSpPr/>
          <p:nvPr/>
        </p:nvSpPr>
        <p:spPr>
          <a:xfrm>
            <a:off x="4284617"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4284617"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W3</a:t>
            </a:r>
            <a:endParaRPr b="0" i="0" sz="900" u="none" cap="none" strike="noStrike">
              <a:solidFill>
                <a:schemeClr val="dk1"/>
              </a:solidFill>
              <a:latin typeface="Calibri"/>
              <a:ea typeface="Calibri"/>
              <a:cs typeface="Calibri"/>
              <a:sym typeface="Calibri"/>
            </a:endParaRPr>
          </a:p>
        </p:txBody>
      </p:sp>
      <p:sp>
        <p:nvSpPr>
          <p:cNvPr id="174" name="Google Shape;174;p7"/>
          <p:cNvSpPr/>
          <p:nvPr/>
        </p:nvSpPr>
        <p:spPr>
          <a:xfrm>
            <a:off x="4803866"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4803866"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W4</a:t>
            </a:r>
            <a:endParaRPr b="0" i="0" sz="900" u="none" cap="none" strike="noStrike">
              <a:solidFill>
                <a:schemeClr val="dk1"/>
              </a:solidFill>
              <a:latin typeface="Calibri"/>
              <a:ea typeface="Calibri"/>
              <a:cs typeface="Calibri"/>
              <a:sym typeface="Calibri"/>
            </a:endParaRPr>
          </a:p>
        </p:txBody>
      </p:sp>
      <p:sp>
        <p:nvSpPr>
          <p:cNvPr id="176" name="Google Shape;176;p7"/>
          <p:cNvSpPr/>
          <p:nvPr/>
        </p:nvSpPr>
        <p:spPr>
          <a:xfrm>
            <a:off x="5323114"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5323114"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W5</a:t>
            </a:r>
            <a:endParaRPr b="0" i="0" sz="900" u="none" cap="none" strike="noStrike">
              <a:solidFill>
                <a:schemeClr val="dk1"/>
              </a:solidFill>
              <a:latin typeface="Calibri"/>
              <a:ea typeface="Calibri"/>
              <a:cs typeface="Calibri"/>
              <a:sym typeface="Calibri"/>
            </a:endParaRPr>
          </a:p>
        </p:txBody>
      </p:sp>
      <p:sp>
        <p:nvSpPr>
          <p:cNvPr id="178" name="Google Shape;178;p7"/>
          <p:cNvSpPr/>
          <p:nvPr/>
        </p:nvSpPr>
        <p:spPr>
          <a:xfrm>
            <a:off x="5842363"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5842363"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W6</a:t>
            </a:r>
            <a:endParaRPr b="0" i="0" sz="900" u="none" cap="none" strike="noStrike">
              <a:solidFill>
                <a:schemeClr val="dk1"/>
              </a:solidFill>
              <a:latin typeface="Calibri"/>
              <a:ea typeface="Calibri"/>
              <a:cs typeface="Calibri"/>
              <a:sym typeface="Calibri"/>
            </a:endParaRPr>
          </a:p>
        </p:txBody>
      </p:sp>
      <p:sp>
        <p:nvSpPr>
          <p:cNvPr id="180" name="Google Shape;180;p7"/>
          <p:cNvSpPr/>
          <p:nvPr/>
        </p:nvSpPr>
        <p:spPr>
          <a:xfrm>
            <a:off x="5842363" y="1636776"/>
            <a:ext cx="155774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950"/>
              <a:buFont typeface="Calibri"/>
              <a:buNone/>
            </a:pPr>
            <a:r>
              <a:rPr b="1" i="0" lang="en-US" sz="950" u="none" cap="none" strike="noStrike">
                <a:solidFill>
                  <a:srgbClr val="141B34"/>
                </a:solidFill>
                <a:latin typeface="Calibri"/>
                <a:ea typeface="Calibri"/>
                <a:cs typeface="Calibri"/>
                <a:sym typeface="Calibri"/>
              </a:rPr>
              <a:t>JULY</a:t>
            </a:r>
            <a:endParaRPr b="0" i="0" sz="950" u="none" cap="none" strike="noStrike">
              <a:solidFill>
                <a:schemeClr val="dk1"/>
              </a:solidFill>
              <a:latin typeface="Calibri"/>
              <a:ea typeface="Calibri"/>
              <a:cs typeface="Calibri"/>
              <a:sym typeface="Calibri"/>
            </a:endParaRPr>
          </a:p>
        </p:txBody>
      </p:sp>
      <p:sp>
        <p:nvSpPr>
          <p:cNvPr id="181" name="Google Shape;181;p7"/>
          <p:cNvSpPr/>
          <p:nvPr/>
        </p:nvSpPr>
        <p:spPr>
          <a:xfrm>
            <a:off x="6361611"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6361611"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W7</a:t>
            </a:r>
            <a:endParaRPr b="0" i="0" sz="900" u="none" cap="none" strike="noStrike">
              <a:solidFill>
                <a:schemeClr val="dk1"/>
              </a:solidFill>
              <a:latin typeface="Calibri"/>
              <a:ea typeface="Calibri"/>
              <a:cs typeface="Calibri"/>
              <a:sym typeface="Calibri"/>
            </a:endParaRPr>
          </a:p>
        </p:txBody>
      </p:sp>
      <p:sp>
        <p:nvSpPr>
          <p:cNvPr id="183" name="Google Shape;183;p7"/>
          <p:cNvSpPr/>
          <p:nvPr/>
        </p:nvSpPr>
        <p:spPr>
          <a:xfrm>
            <a:off x="6880860"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6880860"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W8</a:t>
            </a:r>
            <a:endParaRPr b="0" i="0" sz="900" u="none" cap="none" strike="noStrike">
              <a:solidFill>
                <a:schemeClr val="dk1"/>
              </a:solidFill>
              <a:latin typeface="Calibri"/>
              <a:ea typeface="Calibri"/>
              <a:cs typeface="Calibri"/>
              <a:sym typeface="Calibri"/>
            </a:endParaRPr>
          </a:p>
        </p:txBody>
      </p:sp>
      <p:sp>
        <p:nvSpPr>
          <p:cNvPr id="185" name="Google Shape;185;p7"/>
          <p:cNvSpPr/>
          <p:nvPr/>
        </p:nvSpPr>
        <p:spPr>
          <a:xfrm>
            <a:off x="7400109"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7400109"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W9</a:t>
            </a:r>
            <a:endParaRPr b="0" i="0" sz="900" u="none" cap="none" strike="noStrike">
              <a:solidFill>
                <a:schemeClr val="dk1"/>
              </a:solidFill>
              <a:latin typeface="Calibri"/>
              <a:ea typeface="Calibri"/>
              <a:cs typeface="Calibri"/>
              <a:sym typeface="Calibri"/>
            </a:endParaRPr>
          </a:p>
        </p:txBody>
      </p:sp>
      <p:sp>
        <p:nvSpPr>
          <p:cNvPr id="187" name="Google Shape;187;p7"/>
          <p:cNvSpPr/>
          <p:nvPr/>
        </p:nvSpPr>
        <p:spPr>
          <a:xfrm>
            <a:off x="7919357"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7919357"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W10</a:t>
            </a:r>
            <a:endParaRPr b="0" i="0" sz="900" u="none" cap="none" strike="noStrike">
              <a:solidFill>
                <a:schemeClr val="dk1"/>
              </a:solidFill>
              <a:latin typeface="Calibri"/>
              <a:ea typeface="Calibri"/>
              <a:cs typeface="Calibri"/>
              <a:sym typeface="Calibri"/>
            </a:endParaRPr>
          </a:p>
        </p:txBody>
      </p:sp>
      <p:sp>
        <p:nvSpPr>
          <p:cNvPr id="189" name="Google Shape;189;p7"/>
          <p:cNvSpPr/>
          <p:nvPr/>
        </p:nvSpPr>
        <p:spPr>
          <a:xfrm>
            <a:off x="7919357" y="1636776"/>
            <a:ext cx="155774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950"/>
              <a:buFont typeface="Calibri"/>
              <a:buNone/>
            </a:pPr>
            <a:r>
              <a:rPr b="1" i="0" lang="en-US" sz="950" u="none" cap="none" strike="noStrike">
                <a:solidFill>
                  <a:srgbClr val="141B34"/>
                </a:solidFill>
                <a:latin typeface="Calibri"/>
                <a:ea typeface="Calibri"/>
                <a:cs typeface="Calibri"/>
                <a:sym typeface="Calibri"/>
              </a:rPr>
              <a:t>AUGUST</a:t>
            </a:r>
            <a:endParaRPr b="0" i="0" sz="950" u="none" cap="none" strike="noStrike">
              <a:solidFill>
                <a:schemeClr val="dk1"/>
              </a:solidFill>
              <a:latin typeface="Calibri"/>
              <a:ea typeface="Calibri"/>
              <a:cs typeface="Calibri"/>
              <a:sym typeface="Calibri"/>
            </a:endParaRPr>
          </a:p>
        </p:txBody>
      </p:sp>
      <p:sp>
        <p:nvSpPr>
          <p:cNvPr id="190" name="Google Shape;190;p7"/>
          <p:cNvSpPr/>
          <p:nvPr/>
        </p:nvSpPr>
        <p:spPr>
          <a:xfrm>
            <a:off x="8438606"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8438606"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W11</a:t>
            </a:r>
            <a:endParaRPr b="0" i="0" sz="900" u="none" cap="none" strike="noStrike">
              <a:solidFill>
                <a:schemeClr val="dk1"/>
              </a:solidFill>
              <a:latin typeface="Calibri"/>
              <a:ea typeface="Calibri"/>
              <a:cs typeface="Calibri"/>
              <a:sym typeface="Calibri"/>
            </a:endParaRPr>
          </a:p>
        </p:txBody>
      </p:sp>
      <p:sp>
        <p:nvSpPr>
          <p:cNvPr id="192" name="Google Shape;192;p7"/>
          <p:cNvSpPr/>
          <p:nvPr/>
        </p:nvSpPr>
        <p:spPr>
          <a:xfrm>
            <a:off x="8957854"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8957854"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W12</a:t>
            </a:r>
            <a:endParaRPr b="0" i="0" sz="900" u="none" cap="none" strike="noStrike">
              <a:solidFill>
                <a:schemeClr val="dk1"/>
              </a:solidFill>
              <a:latin typeface="Calibri"/>
              <a:ea typeface="Calibri"/>
              <a:cs typeface="Calibri"/>
              <a:sym typeface="Calibri"/>
            </a:endParaRPr>
          </a:p>
        </p:txBody>
      </p:sp>
      <p:sp>
        <p:nvSpPr>
          <p:cNvPr id="194" name="Google Shape;194;p7"/>
          <p:cNvSpPr/>
          <p:nvPr/>
        </p:nvSpPr>
        <p:spPr>
          <a:xfrm>
            <a:off x="9477103"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9477103"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W13</a:t>
            </a:r>
            <a:endParaRPr b="0" i="0" sz="900" u="none" cap="none" strike="noStrike">
              <a:solidFill>
                <a:schemeClr val="dk1"/>
              </a:solidFill>
              <a:latin typeface="Calibri"/>
              <a:ea typeface="Calibri"/>
              <a:cs typeface="Calibri"/>
              <a:sym typeface="Calibri"/>
            </a:endParaRPr>
          </a:p>
        </p:txBody>
      </p:sp>
      <p:sp>
        <p:nvSpPr>
          <p:cNvPr id="196" name="Google Shape;196;p7"/>
          <p:cNvSpPr/>
          <p:nvPr/>
        </p:nvSpPr>
        <p:spPr>
          <a:xfrm>
            <a:off x="9996351" y="2185416"/>
            <a:ext cx="9144" cy="3401568"/>
          </a:xfrm>
          <a:prstGeom prst="rect">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9996351" y="1892808"/>
            <a:ext cx="519249"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W14</a:t>
            </a:r>
            <a:endParaRPr b="0" i="0" sz="900" u="none" cap="none" strike="noStrike">
              <a:solidFill>
                <a:schemeClr val="dk1"/>
              </a:solidFill>
              <a:latin typeface="Calibri"/>
              <a:ea typeface="Calibri"/>
              <a:cs typeface="Calibri"/>
              <a:sym typeface="Calibri"/>
            </a:endParaRPr>
          </a:p>
        </p:txBody>
      </p:sp>
      <p:sp>
        <p:nvSpPr>
          <p:cNvPr id="198" name="Google Shape;198;p7"/>
          <p:cNvSpPr/>
          <p:nvPr/>
        </p:nvSpPr>
        <p:spPr>
          <a:xfrm>
            <a:off x="9996351" y="1636776"/>
            <a:ext cx="155774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950"/>
              <a:buFont typeface="Calibri"/>
              <a:buNone/>
            </a:pPr>
            <a:r>
              <a:rPr b="1" i="0" lang="en-US" sz="950" u="none" cap="none" strike="noStrike">
                <a:solidFill>
                  <a:srgbClr val="141B34"/>
                </a:solidFill>
                <a:latin typeface="Calibri"/>
                <a:ea typeface="Calibri"/>
                <a:cs typeface="Calibri"/>
                <a:sym typeface="Calibri"/>
              </a:rPr>
              <a:t>SEP</a:t>
            </a:r>
            <a:endParaRPr b="0" i="0" sz="950" u="none" cap="none" strike="noStrike">
              <a:solidFill>
                <a:schemeClr val="dk1"/>
              </a:solidFill>
              <a:latin typeface="Calibri"/>
              <a:ea typeface="Calibri"/>
              <a:cs typeface="Calibri"/>
              <a:sym typeface="Calibri"/>
            </a:endParaRPr>
          </a:p>
        </p:txBody>
      </p:sp>
      <p:sp>
        <p:nvSpPr>
          <p:cNvPr id="199" name="Google Shape;199;p7"/>
          <p:cNvSpPr/>
          <p:nvPr/>
        </p:nvSpPr>
        <p:spPr>
          <a:xfrm>
            <a:off x="566928" y="2331720"/>
            <a:ext cx="2606040" cy="365760"/>
          </a:xfrm>
          <a:prstGeom prst="rect">
            <a:avLst/>
          </a:prstGeom>
          <a:noFill/>
          <a:ln>
            <a:noFill/>
          </a:ln>
        </p:spPr>
        <p:txBody>
          <a:bodyPr anchorCtr="0" anchor="ctr" bIns="0" lIns="0" spcFirstLastPara="1" rIns="0" wrap="square" tIns="0">
            <a:noAutofit/>
          </a:bodyPr>
          <a:lstStyle/>
          <a:p>
            <a:pPr indent="0" lvl="0" marL="0" marR="0" rtl="0" algn="r">
              <a:lnSpc>
                <a:spcPct val="118181"/>
              </a:lnSpc>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Requirements &amp; Design</a:t>
            </a:r>
            <a:endParaRPr b="0" i="0" sz="1100" u="none" cap="none" strike="noStrike">
              <a:solidFill>
                <a:schemeClr val="dk1"/>
              </a:solidFill>
              <a:latin typeface="Calibri"/>
              <a:ea typeface="Calibri"/>
              <a:cs typeface="Calibri"/>
              <a:sym typeface="Calibri"/>
            </a:endParaRPr>
          </a:p>
        </p:txBody>
      </p:sp>
      <p:sp>
        <p:nvSpPr>
          <p:cNvPr id="200" name="Google Shape;200;p7"/>
          <p:cNvSpPr/>
          <p:nvPr/>
        </p:nvSpPr>
        <p:spPr>
          <a:xfrm>
            <a:off x="3273552" y="2395728"/>
            <a:ext cx="1502882" cy="274320"/>
          </a:xfrm>
          <a:prstGeom prst="roundRect">
            <a:avLst>
              <a:gd fmla="val 16667"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4877018" y="2368296"/>
            <a:ext cx="1463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Jun 1 - Jun 19</a:t>
            </a:r>
            <a:endParaRPr b="0" i="0" sz="900" u="none" cap="none" strike="noStrike">
              <a:solidFill>
                <a:schemeClr val="dk1"/>
              </a:solidFill>
              <a:latin typeface="Calibri"/>
              <a:ea typeface="Calibri"/>
              <a:cs typeface="Calibri"/>
              <a:sym typeface="Calibri"/>
            </a:endParaRPr>
          </a:p>
        </p:txBody>
      </p:sp>
      <p:sp>
        <p:nvSpPr>
          <p:cNvPr id="202" name="Google Shape;202;p7"/>
          <p:cNvSpPr/>
          <p:nvPr/>
        </p:nvSpPr>
        <p:spPr>
          <a:xfrm>
            <a:off x="566928" y="2843784"/>
            <a:ext cx="2606040" cy="365760"/>
          </a:xfrm>
          <a:prstGeom prst="rect">
            <a:avLst/>
          </a:prstGeom>
          <a:noFill/>
          <a:ln>
            <a:noFill/>
          </a:ln>
        </p:spPr>
        <p:txBody>
          <a:bodyPr anchorCtr="0" anchor="ctr" bIns="0" lIns="0" spcFirstLastPara="1" rIns="0" wrap="square" tIns="0">
            <a:noAutofit/>
          </a:bodyPr>
          <a:lstStyle/>
          <a:p>
            <a:pPr indent="0" lvl="0" marL="0" marR="0" rtl="0" algn="r">
              <a:lnSpc>
                <a:spcPct val="118181"/>
              </a:lnSpc>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Increment 1  Auth, DB, Question Bank</a:t>
            </a:r>
            <a:endParaRPr b="0" i="0" sz="1100" u="none" cap="none" strike="noStrike">
              <a:solidFill>
                <a:schemeClr val="dk1"/>
              </a:solidFill>
              <a:latin typeface="Calibri"/>
              <a:ea typeface="Calibri"/>
              <a:cs typeface="Calibri"/>
              <a:sym typeface="Calibri"/>
            </a:endParaRPr>
          </a:p>
        </p:txBody>
      </p:sp>
      <p:sp>
        <p:nvSpPr>
          <p:cNvPr id="203" name="Google Shape;203;p7"/>
          <p:cNvSpPr/>
          <p:nvPr/>
        </p:nvSpPr>
        <p:spPr>
          <a:xfrm>
            <a:off x="4831298" y="2907792"/>
            <a:ext cx="1502882" cy="274320"/>
          </a:xfrm>
          <a:prstGeom prst="roundRect">
            <a:avLst>
              <a:gd fmla="val 16667"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6434763" y="2880360"/>
            <a:ext cx="1463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Jun 22 - Jul 10</a:t>
            </a:r>
            <a:endParaRPr b="0" i="0" sz="900" u="none" cap="none" strike="noStrike">
              <a:solidFill>
                <a:schemeClr val="dk1"/>
              </a:solidFill>
              <a:latin typeface="Calibri"/>
              <a:ea typeface="Calibri"/>
              <a:cs typeface="Calibri"/>
              <a:sym typeface="Calibri"/>
            </a:endParaRPr>
          </a:p>
        </p:txBody>
      </p:sp>
      <p:sp>
        <p:nvSpPr>
          <p:cNvPr id="205" name="Google Shape;205;p7"/>
          <p:cNvSpPr/>
          <p:nvPr/>
        </p:nvSpPr>
        <p:spPr>
          <a:xfrm>
            <a:off x="566928" y="3355848"/>
            <a:ext cx="2606040" cy="365760"/>
          </a:xfrm>
          <a:prstGeom prst="rect">
            <a:avLst/>
          </a:prstGeom>
          <a:noFill/>
          <a:ln>
            <a:noFill/>
          </a:ln>
        </p:spPr>
        <p:txBody>
          <a:bodyPr anchorCtr="0" anchor="ctr" bIns="0" lIns="0" spcFirstLastPara="1" rIns="0" wrap="square" tIns="0">
            <a:noAutofit/>
          </a:bodyPr>
          <a:lstStyle/>
          <a:p>
            <a:pPr indent="0" lvl="0" marL="0" marR="0" rtl="0" algn="r">
              <a:lnSpc>
                <a:spcPct val="118181"/>
              </a:lnSpc>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Increment 2  Session Engine &amp; AI Pipeline</a:t>
            </a:r>
            <a:endParaRPr b="0" i="0" sz="1100" u="none" cap="none" strike="noStrike">
              <a:solidFill>
                <a:schemeClr val="dk1"/>
              </a:solidFill>
              <a:latin typeface="Calibri"/>
              <a:ea typeface="Calibri"/>
              <a:cs typeface="Calibri"/>
              <a:sym typeface="Calibri"/>
            </a:endParaRPr>
          </a:p>
        </p:txBody>
      </p:sp>
      <p:sp>
        <p:nvSpPr>
          <p:cNvPr id="206" name="Google Shape;206;p7"/>
          <p:cNvSpPr/>
          <p:nvPr/>
        </p:nvSpPr>
        <p:spPr>
          <a:xfrm>
            <a:off x="6389043" y="3419856"/>
            <a:ext cx="2022130" cy="274320"/>
          </a:xfrm>
          <a:prstGeom prst="roundRect">
            <a:avLst>
              <a:gd fmla="val 16667"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8511758" y="3392424"/>
            <a:ext cx="1463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Jul 13 - Aug 7</a:t>
            </a:r>
            <a:endParaRPr b="0" i="0" sz="900" u="none" cap="none" strike="noStrike">
              <a:solidFill>
                <a:schemeClr val="dk1"/>
              </a:solidFill>
              <a:latin typeface="Calibri"/>
              <a:ea typeface="Calibri"/>
              <a:cs typeface="Calibri"/>
              <a:sym typeface="Calibri"/>
            </a:endParaRPr>
          </a:p>
        </p:txBody>
      </p:sp>
      <p:sp>
        <p:nvSpPr>
          <p:cNvPr id="208" name="Google Shape;208;p7"/>
          <p:cNvSpPr/>
          <p:nvPr/>
        </p:nvSpPr>
        <p:spPr>
          <a:xfrm>
            <a:off x="566928" y="3867912"/>
            <a:ext cx="2606040" cy="365760"/>
          </a:xfrm>
          <a:prstGeom prst="rect">
            <a:avLst/>
          </a:prstGeom>
          <a:noFill/>
          <a:ln>
            <a:noFill/>
          </a:ln>
        </p:spPr>
        <p:txBody>
          <a:bodyPr anchorCtr="0" anchor="ctr" bIns="0" lIns="0" spcFirstLastPara="1" rIns="0" wrap="square" tIns="0">
            <a:noAutofit/>
          </a:bodyPr>
          <a:lstStyle/>
          <a:p>
            <a:pPr indent="0" lvl="0" marL="0" marR="0" rtl="0" algn="r">
              <a:lnSpc>
                <a:spcPct val="118181"/>
              </a:lnSpc>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Increment 3  Feedback Report &amp; Dashboard</a:t>
            </a:r>
            <a:endParaRPr b="0" i="0" sz="1100" u="none" cap="none" strike="noStrike">
              <a:solidFill>
                <a:schemeClr val="dk1"/>
              </a:solidFill>
              <a:latin typeface="Calibri"/>
              <a:ea typeface="Calibri"/>
              <a:cs typeface="Calibri"/>
              <a:sym typeface="Calibri"/>
            </a:endParaRPr>
          </a:p>
        </p:txBody>
      </p:sp>
      <p:sp>
        <p:nvSpPr>
          <p:cNvPr id="209" name="Google Shape;209;p7"/>
          <p:cNvSpPr/>
          <p:nvPr/>
        </p:nvSpPr>
        <p:spPr>
          <a:xfrm>
            <a:off x="8466038" y="3931920"/>
            <a:ext cx="983633" cy="274320"/>
          </a:xfrm>
          <a:prstGeom prst="roundRect">
            <a:avLst>
              <a:gd fmla="val 16667"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9550255" y="3904488"/>
            <a:ext cx="1463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Aug 10 - Aug 21</a:t>
            </a:r>
            <a:endParaRPr b="0" i="0" sz="900" u="none" cap="none" strike="noStrike">
              <a:solidFill>
                <a:schemeClr val="dk1"/>
              </a:solidFill>
              <a:latin typeface="Calibri"/>
              <a:ea typeface="Calibri"/>
              <a:cs typeface="Calibri"/>
              <a:sym typeface="Calibri"/>
            </a:endParaRPr>
          </a:p>
        </p:txBody>
      </p:sp>
      <p:sp>
        <p:nvSpPr>
          <p:cNvPr id="211" name="Google Shape;211;p7"/>
          <p:cNvSpPr/>
          <p:nvPr/>
        </p:nvSpPr>
        <p:spPr>
          <a:xfrm>
            <a:off x="566928" y="4379976"/>
            <a:ext cx="2606040" cy="365760"/>
          </a:xfrm>
          <a:prstGeom prst="rect">
            <a:avLst/>
          </a:prstGeom>
          <a:noFill/>
          <a:ln>
            <a:noFill/>
          </a:ln>
        </p:spPr>
        <p:txBody>
          <a:bodyPr anchorCtr="0" anchor="ctr" bIns="0" lIns="0" spcFirstLastPara="1" rIns="0" wrap="square" tIns="0">
            <a:noAutofit/>
          </a:bodyPr>
          <a:lstStyle/>
          <a:p>
            <a:pPr indent="0" lvl="0" marL="0" marR="0" rtl="0" algn="r">
              <a:lnSpc>
                <a:spcPct val="118181"/>
              </a:lnSpc>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System Test, Hardening &amp; UAT</a:t>
            </a:r>
            <a:endParaRPr b="0" i="0" sz="1100" u="none" cap="none" strike="noStrike">
              <a:solidFill>
                <a:schemeClr val="dk1"/>
              </a:solidFill>
              <a:latin typeface="Calibri"/>
              <a:ea typeface="Calibri"/>
              <a:cs typeface="Calibri"/>
              <a:sym typeface="Calibri"/>
            </a:endParaRPr>
          </a:p>
        </p:txBody>
      </p:sp>
      <p:sp>
        <p:nvSpPr>
          <p:cNvPr id="212" name="Google Shape;212;p7"/>
          <p:cNvSpPr/>
          <p:nvPr/>
        </p:nvSpPr>
        <p:spPr>
          <a:xfrm>
            <a:off x="9504535" y="4443984"/>
            <a:ext cx="672084" cy="274320"/>
          </a:xfrm>
          <a:prstGeom prst="roundRect">
            <a:avLst>
              <a:gd fmla="val 16667" name="adj"/>
            </a:avLst>
          </a:prstGeom>
          <a:solidFill>
            <a:srgbClr val="5C6BA8"/>
          </a:solidFill>
          <a:ln cap="flat" cmpd="sng" w="12700">
            <a:solidFill>
              <a:srgbClr val="5C6B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10277203" y="4416552"/>
            <a:ext cx="1463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Aug 24 - Sep 1</a:t>
            </a:r>
            <a:endParaRPr b="0" i="0" sz="900" u="none" cap="none" strike="noStrike">
              <a:solidFill>
                <a:schemeClr val="dk1"/>
              </a:solidFill>
              <a:latin typeface="Calibri"/>
              <a:ea typeface="Calibri"/>
              <a:cs typeface="Calibri"/>
              <a:sym typeface="Calibri"/>
            </a:endParaRPr>
          </a:p>
        </p:txBody>
      </p:sp>
      <p:sp>
        <p:nvSpPr>
          <p:cNvPr id="214" name="Google Shape;214;p7"/>
          <p:cNvSpPr/>
          <p:nvPr/>
        </p:nvSpPr>
        <p:spPr>
          <a:xfrm>
            <a:off x="566928" y="4892040"/>
            <a:ext cx="2606040" cy="365760"/>
          </a:xfrm>
          <a:prstGeom prst="rect">
            <a:avLst/>
          </a:prstGeom>
          <a:noFill/>
          <a:ln>
            <a:noFill/>
          </a:ln>
        </p:spPr>
        <p:txBody>
          <a:bodyPr anchorCtr="0" anchor="ctr" bIns="0" lIns="0" spcFirstLastPara="1" rIns="0" wrap="square" tIns="0">
            <a:noAutofit/>
          </a:bodyPr>
          <a:lstStyle/>
          <a:p>
            <a:pPr indent="0" lvl="0" marL="0" marR="0" rtl="0" algn="r">
              <a:lnSpc>
                <a:spcPct val="118181"/>
              </a:lnSpc>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Deployment &amp; Handoff</a:t>
            </a:r>
            <a:endParaRPr b="0" i="0" sz="1100" u="none" cap="none" strike="noStrike">
              <a:solidFill>
                <a:schemeClr val="dk1"/>
              </a:solidFill>
              <a:latin typeface="Calibri"/>
              <a:ea typeface="Calibri"/>
              <a:cs typeface="Calibri"/>
              <a:sym typeface="Calibri"/>
            </a:endParaRPr>
          </a:p>
        </p:txBody>
      </p:sp>
      <p:sp>
        <p:nvSpPr>
          <p:cNvPr id="215" name="Google Shape;215;p7"/>
          <p:cNvSpPr/>
          <p:nvPr/>
        </p:nvSpPr>
        <p:spPr>
          <a:xfrm>
            <a:off x="10231483" y="4956048"/>
            <a:ext cx="256685" cy="274320"/>
          </a:xfrm>
          <a:prstGeom prst="roundRect">
            <a:avLst>
              <a:gd fmla="val 17812" name="adj"/>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10588752" y="4928616"/>
            <a:ext cx="1463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900"/>
              <a:buFont typeface="Calibri"/>
              <a:buNone/>
            </a:pPr>
            <a:r>
              <a:rPr b="0" i="0" lang="en-US" sz="900" u="none" cap="none" strike="noStrike">
                <a:solidFill>
                  <a:srgbClr val="6B7185"/>
                </a:solidFill>
                <a:latin typeface="Calibri"/>
                <a:ea typeface="Calibri"/>
                <a:cs typeface="Calibri"/>
                <a:sym typeface="Calibri"/>
              </a:rPr>
              <a:t>Sep 2 - Sep 4</a:t>
            </a:r>
            <a:endParaRPr b="0" i="0" sz="900" u="none" cap="none" strike="noStrike">
              <a:solidFill>
                <a:schemeClr val="dk1"/>
              </a:solidFill>
              <a:latin typeface="Calibri"/>
              <a:ea typeface="Calibri"/>
              <a:cs typeface="Calibri"/>
              <a:sym typeface="Calibri"/>
            </a:endParaRPr>
          </a:p>
        </p:txBody>
      </p:sp>
      <p:sp>
        <p:nvSpPr>
          <p:cNvPr id="217" name="Google Shape;217;p7"/>
          <p:cNvSpPr/>
          <p:nvPr/>
        </p:nvSpPr>
        <p:spPr>
          <a:xfrm>
            <a:off x="4735286" y="5404104"/>
            <a:ext cx="137160" cy="137160"/>
          </a:xfrm>
          <a:prstGeom prst="diamond">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8370026" y="5404104"/>
            <a:ext cx="137160" cy="137160"/>
          </a:xfrm>
          <a:prstGeom prst="diamond">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9408523" y="5404104"/>
            <a:ext cx="137160" cy="137160"/>
          </a:xfrm>
          <a:prstGeom prst="diamond">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10447020" y="5404104"/>
            <a:ext cx="137160" cy="137160"/>
          </a:xfrm>
          <a:prstGeom prst="diamond">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566928" y="5349240"/>
            <a:ext cx="26060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Milestones</a:t>
            </a:r>
            <a:endParaRPr b="0" i="0" sz="1000" u="none" cap="none" strike="noStrike">
              <a:solidFill>
                <a:schemeClr val="dk1"/>
              </a:solidFill>
              <a:latin typeface="Calibri"/>
              <a:ea typeface="Calibri"/>
              <a:cs typeface="Calibri"/>
              <a:sym typeface="Calibri"/>
            </a:endParaRPr>
          </a:p>
        </p:txBody>
      </p:sp>
      <p:sp>
        <p:nvSpPr>
          <p:cNvPr id="222" name="Google Shape;222;p7"/>
          <p:cNvSpPr/>
          <p:nvPr/>
        </p:nvSpPr>
        <p:spPr>
          <a:xfrm>
            <a:off x="566928" y="5596128"/>
            <a:ext cx="11027664" cy="640080"/>
          </a:xfrm>
          <a:prstGeom prst="roundRect">
            <a:avLst>
              <a:gd fmla="val 8571"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822960" y="5641848"/>
            <a:ext cx="10515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Milestones:  design freeze W3  .  core release W10  .  feature complete W12  .  go live W14</a:t>
            </a:r>
            <a:endParaRPr b="0" i="0" sz="1100" u="none" cap="none" strike="noStrike">
              <a:solidFill>
                <a:schemeClr val="dk1"/>
              </a:solidFill>
              <a:latin typeface="Calibri"/>
              <a:ea typeface="Calibri"/>
              <a:cs typeface="Calibri"/>
              <a:sym typeface="Calibri"/>
            </a:endParaRPr>
          </a:p>
        </p:txBody>
      </p:sp>
      <p:sp>
        <p:nvSpPr>
          <p:cNvPr id="224" name="Google Shape;224;p7"/>
          <p:cNvSpPr/>
          <p:nvPr/>
        </p:nvSpPr>
        <p:spPr>
          <a:xfrm>
            <a:off x="822960" y="589788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Why incremental: the AI interviewer's behavior cannot be fully specified up front, so each increment ships a working slice and shapes the next one. Increment 2 is the longest because the AI pipeline carries the most requirement volatility.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8"/>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Cost Estimation  1 of 3:  Function Point Analysis</a:t>
            </a:r>
            <a:endParaRPr b="0" i="0" sz="3000" u="none" cap="none" strike="noStrike">
              <a:solidFill>
                <a:schemeClr val="dk1"/>
              </a:solidFill>
              <a:latin typeface="Calibri"/>
              <a:ea typeface="Calibri"/>
              <a:cs typeface="Calibri"/>
              <a:sym typeface="Calibri"/>
            </a:endParaRPr>
          </a:p>
        </p:txBody>
      </p:sp>
      <p:sp>
        <p:nvSpPr>
          <p:cNvPr id="232" name="Google Shape;232;p8"/>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Technique chosen: Function Point (FP), applied to the Interview Lens system</a:t>
            </a:r>
            <a:endParaRPr b="0" i="0" sz="1300" u="none" cap="none" strike="noStrike">
              <a:solidFill>
                <a:schemeClr val="dk1"/>
              </a:solidFill>
              <a:latin typeface="Calibri"/>
              <a:ea typeface="Calibri"/>
              <a:cs typeface="Calibri"/>
              <a:sym typeface="Calibri"/>
            </a:endParaRPr>
          </a:p>
        </p:txBody>
      </p:sp>
      <p:sp>
        <p:nvSpPr>
          <p:cNvPr id="233" name="Google Shape;233;p8"/>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234" name="Google Shape;234;p8"/>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235" name="Google Shape;235;p8"/>
          <p:cNvSpPr/>
          <p:nvPr/>
        </p:nvSpPr>
        <p:spPr>
          <a:xfrm>
            <a:off x="566928" y="1481328"/>
            <a:ext cx="11027664" cy="384048"/>
          </a:xfrm>
          <a:prstGeom prst="rect">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713232" y="1481328"/>
            <a:ext cx="25420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FUNCTION TYPE</a:t>
            </a:r>
            <a:endParaRPr b="0" i="0" sz="1050" u="none" cap="none" strike="noStrike">
              <a:solidFill>
                <a:schemeClr val="dk1"/>
              </a:solidFill>
              <a:latin typeface="Calibri"/>
              <a:ea typeface="Calibri"/>
              <a:cs typeface="Calibri"/>
              <a:sym typeface="Calibri"/>
            </a:endParaRPr>
          </a:p>
        </p:txBody>
      </p:sp>
      <p:sp>
        <p:nvSpPr>
          <p:cNvPr id="237" name="Google Shape;237;p8"/>
          <p:cNvSpPr/>
          <p:nvPr/>
        </p:nvSpPr>
        <p:spPr>
          <a:xfrm>
            <a:off x="3547872" y="1481328"/>
            <a:ext cx="523951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COMPONENTS COUNTED</a:t>
            </a:r>
            <a:endParaRPr b="0" i="0" sz="1050" u="none" cap="none" strike="noStrike">
              <a:solidFill>
                <a:schemeClr val="dk1"/>
              </a:solidFill>
              <a:latin typeface="Calibri"/>
              <a:ea typeface="Calibri"/>
              <a:cs typeface="Calibri"/>
              <a:sym typeface="Calibri"/>
            </a:endParaRPr>
          </a:p>
        </p:txBody>
      </p:sp>
      <p:sp>
        <p:nvSpPr>
          <p:cNvPr id="238" name="Google Shape;238;p8"/>
          <p:cNvSpPr/>
          <p:nvPr/>
        </p:nvSpPr>
        <p:spPr>
          <a:xfrm>
            <a:off x="9079992" y="1481328"/>
            <a:ext cx="85039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COUNT</a:t>
            </a:r>
            <a:endParaRPr b="0" i="0" sz="1050" u="none" cap="none" strike="noStrike">
              <a:solidFill>
                <a:schemeClr val="dk1"/>
              </a:solidFill>
              <a:latin typeface="Calibri"/>
              <a:ea typeface="Calibri"/>
              <a:cs typeface="Calibri"/>
              <a:sym typeface="Calibri"/>
            </a:endParaRPr>
          </a:p>
        </p:txBody>
      </p:sp>
      <p:sp>
        <p:nvSpPr>
          <p:cNvPr id="239" name="Google Shape;239;p8"/>
          <p:cNvSpPr/>
          <p:nvPr/>
        </p:nvSpPr>
        <p:spPr>
          <a:xfrm>
            <a:off x="10222992" y="1481328"/>
            <a:ext cx="122529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050"/>
              <a:buFont typeface="Calibri"/>
              <a:buNone/>
            </a:pPr>
            <a:r>
              <a:rPr b="1" i="0" lang="en-US" sz="1050" u="none" cap="none" strike="noStrike">
                <a:solidFill>
                  <a:srgbClr val="F2A65A"/>
                </a:solidFill>
                <a:latin typeface="Calibri"/>
                <a:ea typeface="Calibri"/>
                <a:cs typeface="Calibri"/>
                <a:sym typeface="Calibri"/>
              </a:rPr>
              <a:t>WEIGHTED</a:t>
            </a:r>
            <a:endParaRPr b="0" i="0" sz="1050" u="none" cap="none" strike="noStrike">
              <a:solidFill>
                <a:schemeClr val="dk1"/>
              </a:solidFill>
              <a:latin typeface="Calibri"/>
              <a:ea typeface="Calibri"/>
              <a:cs typeface="Calibri"/>
              <a:sym typeface="Calibri"/>
            </a:endParaRPr>
          </a:p>
        </p:txBody>
      </p:sp>
      <p:sp>
        <p:nvSpPr>
          <p:cNvPr id="240" name="Google Shape;240;p8"/>
          <p:cNvSpPr/>
          <p:nvPr/>
        </p:nvSpPr>
        <p:spPr>
          <a:xfrm>
            <a:off x="566928" y="1865376"/>
            <a:ext cx="11027664" cy="658368"/>
          </a:xfrm>
          <a:prstGeom prst="rect">
            <a:avLst/>
          </a:prstGeom>
          <a:solidFill>
            <a:srgbClr val="FFFFFF"/>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713232" y="1865376"/>
            <a:ext cx="254203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50"/>
              <a:buFont typeface="Calibri"/>
              <a:buNone/>
            </a:pPr>
            <a:r>
              <a:rPr b="1" i="0" lang="en-US" sz="1250" u="none" cap="none" strike="noStrike">
                <a:solidFill>
                  <a:srgbClr val="141B34"/>
                </a:solidFill>
                <a:latin typeface="Calibri"/>
                <a:ea typeface="Calibri"/>
                <a:cs typeface="Calibri"/>
                <a:sym typeface="Calibri"/>
              </a:rPr>
              <a:t>External Inputs (EI)</a:t>
            </a:r>
            <a:endParaRPr b="0" i="0" sz="1250" u="none" cap="none" strike="noStrike">
              <a:solidFill>
                <a:schemeClr val="dk1"/>
              </a:solidFill>
              <a:latin typeface="Calibri"/>
              <a:ea typeface="Calibri"/>
              <a:cs typeface="Calibri"/>
              <a:sym typeface="Calibri"/>
            </a:endParaRPr>
          </a:p>
        </p:txBody>
      </p:sp>
      <p:sp>
        <p:nvSpPr>
          <p:cNvPr id="242" name="Google Shape;242;p8"/>
          <p:cNvSpPr/>
          <p:nvPr/>
        </p:nvSpPr>
        <p:spPr>
          <a:xfrm>
            <a:off x="3547872" y="1865376"/>
            <a:ext cx="5239512" cy="65836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Register, log in, start session, submit text answer, submit audio answer, add/edit/delete question, update profile</a:t>
            </a:r>
            <a:endParaRPr b="0" i="0" sz="1100" u="none" cap="none" strike="noStrike">
              <a:solidFill>
                <a:schemeClr val="dk1"/>
              </a:solidFill>
              <a:latin typeface="Calibri"/>
              <a:ea typeface="Calibri"/>
              <a:cs typeface="Calibri"/>
              <a:sym typeface="Calibri"/>
            </a:endParaRPr>
          </a:p>
        </p:txBody>
      </p:sp>
      <p:sp>
        <p:nvSpPr>
          <p:cNvPr id="243" name="Google Shape;243;p8"/>
          <p:cNvSpPr/>
          <p:nvPr/>
        </p:nvSpPr>
        <p:spPr>
          <a:xfrm>
            <a:off x="8933688" y="1865376"/>
            <a:ext cx="11430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F42"/>
              </a:buClr>
              <a:buSzPts val="1300"/>
              <a:buFont typeface="Calibri"/>
              <a:buNone/>
            </a:pPr>
            <a:r>
              <a:rPr b="0" i="0" lang="en-US" sz="1300" u="none" cap="none" strike="noStrike">
                <a:solidFill>
                  <a:srgbClr val="2B2F42"/>
                </a:solidFill>
                <a:latin typeface="Calibri"/>
                <a:ea typeface="Calibri"/>
                <a:cs typeface="Calibri"/>
                <a:sym typeface="Calibri"/>
              </a:rPr>
              <a:t>8</a:t>
            </a:r>
            <a:endParaRPr b="0" i="0" sz="1300" u="none" cap="none" strike="noStrike">
              <a:solidFill>
                <a:schemeClr val="dk1"/>
              </a:solidFill>
              <a:latin typeface="Calibri"/>
              <a:ea typeface="Calibri"/>
              <a:cs typeface="Calibri"/>
              <a:sym typeface="Calibri"/>
            </a:endParaRPr>
          </a:p>
        </p:txBody>
      </p:sp>
      <p:sp>
        <p:nvSpPr>
          <p:cNvPr id="244" name="Google Shape;244;p8"/>
          <p:cNvSpPr/>
          <p:nvPr/>
        </p:nvSpPr>
        <p:spPr>
          <a:xfrm>
            <a:off x="10076688" y="1865376"/>
            <a:ext cx="15179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3A78"/>
              </a:buClr>
              <a:buSzPts val="1700"/>
              <a:buFont typeface="Cambria"/>
              <a:buNone/>
            </a:pPr>
            <a:r>
              <a:rPr b="1" i="0" lang="en-US" sz="1700" u="none" cap="none" strike="noStrike">
                <a:solidFill>
                  <a:srgbClr val="2A3A78"/>
                </a:solidFill>
                <a:latin typeface="Cambria"/>
                <a:ea typeface="Cambria"/>
                <a:cs typeface="Cambria"/>
                <a:sym typeface="Cambria"/>
              </a:rPr>
              <a:t>30</a:t>
            </a:r>
            <a:endParaRPr b="0" i="0" sz="1700" u="none" cap="none" strike="noStrike">
              <a:solidFill>
                <a:schemeClr val="dk1"/>
              </a:solidFill>
              <a:latin typeface="Calibri"/>
              <a:ea typeface="Calibri"/>
              <a:cs typeface="Calibri"/>
              <a:sym typeface="Calibri"/>
            </a:endParaRPr>
          </a:p>
        </p:txBody>
      </p:sp>
      <p:sp>
        <p:nvSpPr>
          <p:cNvPr id="245" name="Google Shape;245;p8"/>
          <p:cNvSpPr/>
          <p:nvPr/>
        </p:nvSpPr>
        <p:spPr>
          <a:xfrm>
            <a:off x="566928" y="2523744"/>
            <a:ext cx="11027664" cy="658368"/>
          </a:xfrm>
          <a:prstGeom prst="rect">
            <a:avLst/>
          </a:prstGeom>
          <a:solidFill>
            <a:srgbClr val="F0F2F8"/>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713232" y="2523744"/>
            <a:ext cx="254203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50"/>
              <a:buFont typeface="Calibri"/>
              <a:buNone/>
            </a:pPr>
            <a:r>
              <a:rPr b="1" i="0" lang="en-US" sz="1250" u="none" cap="none" strike="noStrike">
                <a:solidFill>
                  <a:srgbClr val="141B34"/>
                </a:solidFill>
                <a:latin typeface="Calibri"/>
                <a:ea typeface="Calibri"/>
                <a:cs typeface="Calibri"/>
                <a:sym typeface="Calibri"/>
              </a:rPr>
              <a:t>External Outputs (EO)</a:t>
            </a:r>
            <a:endParaRPr b="0" i="0" sz="1250" u="none" cap="none" strike="noStrike">
              <a:solidFill>
                <a:schemeClr val="dk1"/>
              </a:solidFill>
              <a:latin typeface="Calibri"/>
              <a:ea typeface="Calibri"/>
              <a:cs typeface="Calibri"/>
              <a:sym typeface="Calibri"/>
            </a:endParaRPr>
          </a:p>
        </p:txBody>
      </p:sp>
      <p:sp>
        <p:nvSpPr>
          <p:cNvPr id="247" name="Google Shape;247;p8"/>
          <p:cNvSpPr/>
          <p:nvPr/>
        </p:nvSpPr>
        <p:spPr>
          <a:xfrm>
            <a:off x="3547872" y="2523744"/>
            <a:ext cx="5239512" cy="65836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Feedback report, progress dashboard, session summary, audit log export</a:t>
            </a:r>
            <a:endParaRPr b="0" i="0" sz="1100" u="none" cap="none" strike="noStrike">
              <a:solidFill>
                <a:schemeClr val="dk1"/>
              </a:solidFill>
              <a:latin typeface="Calibri"/>
              <a:ea typeface="Calibri"/>
              <a:cs typeface="Calibri"/>
              <a:sym typeface="Calibri"/>
            </a:endParaRPr>
          </a:p>
        </p:txBody>
      </p:sp>
      <p:sp>
        <p:nvSpPr>
          <p:cNvPr id="248" name="Google Shape;248;p8"/>
          <p:cNvSpPr/>
          <p:nvPr/>
        </p:nvSpPr>
        <p:spPr>
          <a:xfrm>
            <a:off x="8933688" y="2523744"/>
            <a:ext cx="11430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F42"/>
              </a:buClr>
              <a:buSzPts val="1300"/>
              <a:buFont typeface="Calibri"/>
              <a:buNone/>
            </a:pPr>
            <a:r>
              <a:rPr b="0" i="0" lang="en-US" sz="1300" u="none" cap="none" strike="noStrike">
                <a:solidFill>
                  <a:srgbClr val="2B2F42"/>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49" name="Google Shape;249;p8"/>
          <p:cNvSpPr/>
          <p:nvPr/>
        </p:nvSpPr>
        <p:spPr>
          <a:xfrm>
            <a:off x="10076688" y="2523744"/>
            <a:ext cx="15179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3A78"/>
              </a:buClr>
              <a:buSzPts val="1700"/>
              <a:buFont typeface="Cambria"/>
              <a:buNone/>
            </a:pPr>
            <a:r>
              <a:rPr b="1" i="0" lang="en-US" sz="1700" u="none" cap="none" strike="noStrike">
                <a:solidFill>
                  <a:srgbClr val="2A3A78"/>
                </a:solidFill>
                <a:latin typeface="Cambria"/>
                <a:ea typeface="Cambria"/>
                <a:cs typeface="Cambria"/>
                <a:sym typeface="Cambria"/>
              </a:rPr>
              <a:t>24</a:t>
            </a:r>
            <a:endParaRPr b="0" i="0" sz="1700" u="none" cap="none" strike="noStrike">
              <a:solidFill>
                <a:schemeClr val="dk1"/>
              </a:solidFill>
              <a:latin typeface="Calibri"/>
              <a:ea typeface="Calibri"/>
              <a:cs typeface="Calibri"/>
              <a:sym typeface="Calibri"/>
            </a:endParaRPr>
          </a:p>
        </p:txBody>
      </p:sp>
      <p:sp>
        <p:nvSpPr>
          <p:cNvPr id="250" name="Google Shape;250;p8"/>
          <p:cNvSpPr/>
          <p:nvPr/>
        </p:nvSpPr>
        <p:spPr>
          <a:xfrm>
            <a:off x="566928" y="3182112"/>
            <a:ext cx="11027664" cy="658368"/>
          </a:xfrm>
          <a:prstGeom prst="rect">
            <a:avLst/>
          </a:prstGeom>
          <a:solidFill>
            <a:srgbClr val="FFFFFF"/>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713232" y="3182112"/>
            <a:ext cx="254203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50"/>
              <a:buFont typeface="Calibri"/>
              <a:buNone/>
            </a:pPr>
            <a:r>
              <a:rPr b="1" i="0" lang="en-US" sz="1250" u="none" cap="none" strike="noStrike">
                <a:solidFill>
                  <a:srgbClr val="141B34"/>
                </a:solidFill>
                <a:latin typeface="Calibri"/>
                <a:ea typeface="Calibri"/>
                <a:cs typeface="Calibri"/>
                <a:sym typeface="Calibri"/>
              </a:rPr>
              <a:t>External Inquiries (EQ)</a:t>
            </a:r>
            <a:endParaRPr b="0" i="0" sz="1250" u="none" cap="none" strike="noStrike">
              <a:solidFill>
                <a:schemeClr val="dk1"/>
              </a:solidFill>
              <a:latin typeface="Calibri"/>
              <a:ea typeface="Calibri"/>
              <a:cs typeface="Calibri"/>
              <a:sym typeface="Calibri"/>
            </a:endParaRPr>
          </a:p>
        </p:txBody>
      </p:sp>
      <p:sp>
        <p:nvSpPr>
          <p:cNvPr id="252" name="Google Shape;252;p8"/>
          <p:cNvSpPr/>
          <p:nvPr/>
        </p:nvSpPr>
        <p:spPr>
          <a:xfrm>
            <a:off x="3547872" y="3182112"/>
            <a:ext cx="5239512" cy="65836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Session history list, single past report, question bank search, retrieve next question</a:t>
            </a:r>
            <a:endParaRPr b="0" i="0" sz="1100" u="none" cap="none" strike="noStrike">
              <a:solidFill>
                <a:schemeClr val="dk1"/>
              </a:solidFill>
              <a:latin typeface="Calibri"/>
              <a:ea typeface="Calibri"/>
              <a:cs typeface="Calibri"/>
              <a:sym typeface="Calibri"/>
            </a:endParaRPr>
          </a:p>
        </p:txBody>
      </p:sp>
      <p:sp>
        <p:nvSpPr>
          <p:cNvPr id="253" name="Google Shape;253;p8"/>
          <p:cNvSpPr/>
          <p:nvPr/>
        </p:nvSpPr>
        <p:spPr>
          <a:xfrm>
            <a:off x="8933688" y="3182112"/>
            <a:ext cx="11430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F42"/>
              </a:buClr>
              <a:buSzPts val="1300"/>
              <a:buFont typeface="Calibri"/>
              <a:buNone/>
            </a:pPr>
            <a:r>
              <a:rPr b="0" i="0" lang="en-US" sz="1300" u="none" cap="none" strike="noStrike">
                <a:solidFill>
                  <a:srgbClr val="2B2F42"/>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54" name="Google Shape;254;p8"/>
          <p:cNvSpPr/>
          <p:nvPr/>
        </p:nvSpPr>
        <p:spPr>
          <a:xfrm>
            <a:off x="10076688" y="3182112"/>
            <a:ext cx="15179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3A78"/>
              </a:buClr>
              <a:buSzPts val="1700"/>
              <a:buFont typeface="Cambria"/>
              <a:buNone/>
            </a:pPr>
            <a:r>
              <a:rPr b="1" i="0" lang="en-US" sz="1700" u="none" cap="none" strike="noStrike">
                <a:solidFill>
                  <a:srgbClr val="2A3A78"/>
                </a:solidFill>
                <a:latin typeface="Cambria"/>
                <a:ea typeface="Cambria"/>
                <a:cs typeface="Cambria"/>
                <a:sym typeface="Cambria"/>
              </a:rPr>
              <a:t>15</a:t>
            </a:r>
            <a:endParaRPr b="0" i="0" sz="1700" u="none" cap="none" strike="noStrike">
              <a:solidFill>
                <a:schemeClr val="dk1"/>
              </a:solidFill>
              <a:latin typeface="Calibri"/>
              <a:ea typeface="Calibri"/>
              <a:cs typeface="Calibri"/>
              <a:sym typeface="Calibri"/>
            </a:endParaRPr>
          </a:p>
        </p:txBody>
      </p:sp>
      <p:sp>
        <p:nvSpPr>
          <p:cNvPr id="255" name="Google Shape;255;p8"/>
          <p:cNvSpPr/>
          <p:nvPr/>
        </p:nvSpPr>
        <p:spPr>
          <a:xfrm>
            <a:off x="566928" y="3840480"/>
            <a:ext cx="11027664" cy="658368"/>
          </a:xfrm>
          <a:prstGeom prst="rect">
            <a:avLst/>
          </a:prstGeom>
          <a:solidFill>
            <a:srgbClr val="F0F2F8"/>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713232" y="3840480"/>
            <a:ext cx="254203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50"/>
              <a:buFont typeface="Calibri"/>
              <a:buNone/>
            </a:pPr>
            <a:r>
              <a:rPr b="1" i="0" lang="en-US" sz="1250" u="none" cap="none" strike="noStrike">
                <a:solidFill>
                  <a:srgbClr val="141B34"/>
                </a:solidFill>
                <a:latin typeface="Calibri"/>
                <a:ea typeface="Calibri"/>
                <a:cs typeface="Calibri"/>
                <a:sym typeface="Calibri"/>
              </a:rPr>
              <a:t>Internal Logical Files (ILF)</a:t>
            </a:r>
            <a:endParaRPr b="0" i="0" sz="1250" u="none" cap="none" strike="noStrike">
              <a:solidFill>
                <a:schemeClr val="dk1"/>
              </a:solidFill>
              <a:latin typeface="Calibri"/>
              <a:ea typeface="Calibri"/>
              <a:cs typeface="Calibri"/>
              <a:sym typeface="Calibri"/>
            </a:endParaRPr>
          </a:p>
        </p:txBody>
      </p:sp>
      <p:sp>
        <p:nvSpPr>
          <p:cNvPr id="257" name="Google Shape;257;p8"/>
          <p:cNvSpPr/>
          <p:nvPr/>
        </p:nvSpPr>
        <p:spPr>
          <a:xfrm>
            <a:off x="3547872" y="3840480"/>
            <a:ext cx="5239512" cy="65836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User, InterviewSession, Question / QuestionBank, Response, FeedbackReport, AuditLog</a:t>
            </a:r>
            <a:endParaRPr b="0" i="0" sz="1100" u="none" cap="none" strike="noStrike">
              <a:solidFill>
                <a:schemeClr val="dk1"/>
              </a:solidFill>
              <a:latin typeface="Calibri"/>
              <a:ea typeface="Calibri"/>
              <a:cs typeface="Calibri"/>
              <a:sym typeface="Calibri"/>
            </a:endParaRPr>
          </a:p>
        </p:txBody>
      </p:sp>
      <p:sp>
        <p:nvSpPr>
          <p:cNvPr id="258" name="Google Shape;258;p8"/>
          <p:cNvSpPr/>
          <p:nvPr/>
        </p:nvSpPr>
        <p:spPr>
          <a:xfrm>
            <a:off x="8933688" y="3840480"/>
            <a:ext cx="11430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F42"/>
              </a:buClr>
              <a:buSzPts val="1300"/>
              <a:buFont typeface="Calibri"/>
              <a:buNone/>
            </a:pPr>
            <a:r>
              <a:rPr b="0" i="0" lang="en-US" sz="1300" u="none" cap="none" strike="noStrike">
                <a:solidFill>
                  <a:srgbClr val="2B2F42"/>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259" name="Google Shape;259;p8"/>
          <p:cNvSpPr/>
          <p:nvPr/>
        </p:nvSpPr>
        <p:spPr>
          <a:xfrm>
            <a:off x="10076688" y="3840480"/>
            <a:ext cx="15179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3A78"/>
              </a:buClr>
              <a:buSzPts val="1700"/>
              <a:buFont typeface="Cambria"/>
              <a:buNone/>
            </a:pPr>
            <a:r>
              <a:rPr b="1" i="0" lang="en-US" sz="1700" u="none" cap="none" strike="noStrike">
                <a:solidFill>
                  <a:srgbClr val="2A3A78"/>
                </a:solidFill>
                <a:latin typeface="Cambria"/>
                <a:ea typeface="Cambria"/>
                <a:cs typeface="Cambria"/>
                <a:sym typeface="Cambria"/>
              </a:rPr>
              <a:t>51</a:t>
            </a:r>
            <a:endParaRPr b="0" i="0" sz="1700" u="none" cap="none" strike="noStrike">
              <a:solidFill>
                <a:schemeClr val="dk1"/>
              </a:solidFill>
              <a:latin typeface="Calibri"/>
              <a:ea typeface="Calibri"/>
              <a:cs typeface="Calibri"/>
              <a:sym typeface="Calibri"/>
            </a:endParaRPr>
          </a:p>
        </p:txBody>
      </p:sp>
      <p:sp>
        <p:nvSpPr>
          <p:cNvPr id="260" name="Google Shape;260;p8"/>
          <p:cNvSpPr/>
          <p:nvPr/>
        </p:nvSpPr>
        <p:spPr>
          <a:xfrm>
            <a:off x="566928" y="4498848"/>
            <a:ext cx="11027664" cy="658368"/>
          </a:xfrm>
          <a:prstGeom prst="rect">
            <a:avLst/>
          </a:prstGeom>
          <a:solidFill>
            <a:srgbClr val="FFFFFF"/>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713232" y="4498848"/>
            <a:ext cx="254203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50"/>
              <a:buFont typeface="Calibri"/>
              <a:buNone/>
            </a:pPr>
            <a:r>
              <a:rPr b="1" i="0" lang="en-US" sz="1250" u="none" cap="none" strike="noStrike">
                <a:solidFill>
                  <a:srgbClr val="141B34"/>
                </a:solidFill>
                <a:latin typeface="Calibri"/>
                <a:ea typeface="Calibri"/>
                <a:cs typeface="Calibri"/>
                <a:sym typeface="Calibri"/>
              </a:rPr>
              <a:t>External Interface Files (EIF)</a:t>
            </a:r>
            <a:endParaRPr b="0" i="0" sz="1250" u="none" cap="none" strike="noStrike">
              <a:solidFill>
                <a:schemeClr val="dk1"/>
              </a:solidFill>
              <a:latin typeface="Calibri"/>
              <a:ea typeface="Calibri"/>
              <a:cs typeface="Calibri"/>
              <a:sym typeface="Calibri"/>
            </a:endParaRPr>
          </a:p>
        </p:txBody>
      </p:sp>
      <p:sp>
        <p:nvSpPr>
          <p:cNvPr id="262" name="Google Shape;262;p8"/>
          <p:cNvSpPr/>
          <p:nvPr/>
        </p:nvSpPr>
        <p:spPr>
          <a:xfrm>
            <a:off x="3547872" y="4498848"/>
            <a:ext cx="5239512" cy="65836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LLM provider API, speech to text transcription service</a:t>
            </a:r>
            <a:endParaRPr b="0" i="0" sz="1100" u="none" cap="none" strike="noStrike">
              <a:solidFill>
                <a:schemeClr val="dk1"/>
              </a:solidFill>
              <a:latin typeface="Calibri"/>
              <a:ea typeface="Calibri"/>
              <a:cs typeface="Calibri"/>
              <a:sym typeface="Calibri"/>
            </a:endParaRPr>
          </a:p>
        </p:txBody>
      </p:sp>
      <p:sp>
        <p:nvSpPr>
          <p:cNvPr id="263" name="Google Shape;263;p8"/>
          <p:cNvSpPr/>
          <p:nvPr/>
        </p:nvSpPr>
        <p:spPr>
          <a:xfrm>
            <a:off x="8933688" y="4498848"/>
            <a:ext cx="11430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F42"/>
              </a:buClr>
              <a:buSzPts val="1300"/>
              <a:buFont typeface="Calibri"/>
              <a:buNone/>
            </a:pPr>
            <a:r>
              <a:rPr b="0" i="0" lang="en-US" sz="1300" u="none" cap="none" strike="noStrike">
                <a:solidFill>
                  <a:srgbClr val="2B2F42"/>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64" name="Google Shape;264;p8"/>
          <p:cNvSpPr/>
          <p:nvPr/>
        </p:nvSpPr>
        <p:spPr>
          <a:xfrm>
            <a:off x="10076688" y="4498848"/>
            <a:ext cx="15179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3A78"/>
              </a:buClr>
              <a:buSzPts val="1700"/>
              <a:buFont typeface="Cambria"/>
              <a:buNone/>
            </a:pPr>
            <a:r>
              <a:rPr b="1" i="0" lang="en-US" sz="1700" u="none" cap="none" strike="noStrike">
                <a:solidFill>
                  <a:srgbClr val="2A3A78"/>
                </a:solidFill>
                <a:latin typeface="Cambria"/>
                <a:ea typeface="Cambria"/>
                <a:cs typeface="Cambria"/>
                <a:sym typeface="Cambria"/>
              </a:rPr>
              <a:t>14</a:t>
            </a:r>
            <a:endParaRPr b="0" i="0" sz="1700" u="none" cap="none" strike="noStrike">
              <a:solidFill>
                <a:schemeClr val="dk1"/>
              </a:solidFill>
              <a:latin typeface="Calibri"/>
              <a:ea typeface="Calibri"/>
              <a:cs typeface="Calibri"/>
              <a:sym typeface="Calibri"/>
            </a:endParaRPr>
          </a:p>
        </p:txBody>
      </p:sp>
      <p:sp>
        <p:nvSpPr>
          <p:cNvPr id="265" name="Google Shape;265;p8"/>
          <p:cNvSpPr/>
          <p:nvPr/>
        </p:nvSpPr>
        <p:spPr>
          <a:xfrm>
            <a:off x="566928" y="5157216"/>
            <a:ext cx="11027664" cy="512064"/>
          </a:xfrm>
          <a:prstGeom prst="rect">
            <a:avLst/>
          </a:prstGeom>
          <a:solidFill>
            <a:srgbClr val="E7EBF7"/>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713232" y="5157216"/>
            <a:ext cx="73152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Unadjusted Function Points (UFP)</a:t>
            </a:r>
            <a:endParaRPr b="0" i="0" sz="1300" u="none" cap="none" strike="noStrike">
              <a:solidFill>
                <a:schemeClr val="dk1"/>
              </a:solidFill>
              <a:latin typeface="Calibri"/>
              <a:ea typeface="Calibri"/>
              <a:cs typeface="Calibri"/>
              <a:sym typeface="Calibri"/>
            </a:endParaRPr>
          </a:p>
        </p:txBody>
      </p:sp>
      <p:sp>
        <p:nvSpPr>
          <p:cNvPr id="267" name="Google Shape;267;p8"/>
          <p:cNvSpPr/>
          <p:nvPr/>
        </p:nvSpPr>
        <p:spPr>
          <a:xfrm>
            <a:off x="8933688" y="5157216"/>
            <a:ext cx="114300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2F42"/>
              </a:buClr>
              <a:buSzPts val="1300"/>
              <a:buFont typeface="Calibri"/>
              <a:buNone/>
            </a:pPr>
            <a:r>
              <a:rPr b="1" i="0" lang="en-US" sz="1300" u="none" cap="none" strike="noStrike">
                <a:solidFill>
                  <a:srgbClr val="2B2F42"/>
                </a:solidFill>
                <a:latin typeface="Calibri"/>
                <a:ea typeface="Calibri"/>
                <a:cs typeface="Calibri"/>
                <a:sym typeface="Calibri"/>
              </a:rPr>
              <a:t>24</a:t>
            </a:r>
            <a:endParaRPr b="0" i="0" sz="1300" u="none" cap="none" strike="noStrike">
              <a:solidFill>
                <a:schemeClr val="dk1"/>
              </a:solidFill>
              <a:latin typeface="Calibri"/>
              <a:ea typeface="Calibri"/>
              <a:cs typeface="Calibri"/>
              <a:sym typeface="Calibri"/>
            </a:endParaRPr>
          </a:p>
        </p:txBody>
      </p:sp>
      <p:sp>
        <p:nvSpPr>
          <p:cNvPr id="268" name="Google Shape;268;p8"/>
          <p:cNvSpPr/>
          <p:nvPr/>
        </p:nvSpPr>
        <p:spPr>
          <a:xfrm>
            <a:off x="10076688" y="5157216"/>
            <a:ext cx="151790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2000"/>
              <a:buFont typeface="Cambria"/>
              <a:buNone/>
            </a:pPr>
            <a:r>
              <a:rPr b="1" i="0" lang="en-US" sz="2000" u="none" cap="none" strike="noStrike">
                <a:solidFill>
                  <a:srgbClr val="F2A65A"/>
                </a:solidFill>
                <a:latin typeface="Cambria"/>
                <a:ea typeface="Cambria"/>
                <a:cs typeface="Cambria"/>
                <a:sym typeface="Cambria"/>
              </a:rPr>
              <a:t>134</a:t>
            </a:r>
            <a:endParaRPr b="0" i="0" sz="2000" u="none" cap="none" strike="noStrike">
              <a:solidFill>
                <a:schemeClr val="dk1"/>
              </a:solidFill>
              <a:latin typeface="Calibri"/>
              <a:ea typeface="Calibri"/>
              <a:cs typeface="Calibri"/>
              <a:sym typeface="Calibri"/>
            </a:endParaRPr>
          </a:p>
        </p:txBody>
      </p:sp>
      <p:sp>
        <p:nvSpPr>
          <p:cNvPr id="269" name="Google Shape;269;p8"/>
          <p:cNvSpPr/>
          <p:nvPr/>
        </p:nvSpPr>
        <p:spPr>
          <a:xfrm>
            <a:off x="566928" y="5815584"/>
            <a:ext cx="11027664"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B7185"/>
              </a:buClr>
              <a:buSzPts val="1150"/>
              <a:buFont typeface="Calibri"/>
              <a:buNone/>
            </a:pPr>
            <a:r>
              <a:rPr b="0" i="1" lang="en-US" sz="1150" u="none" cap="none" strike="noStrike">
                <a:solidFill>
                  <a:srgbClr val="6B7185"/>
                </a:solidFill>
                <a:latin typeface="Calibri"/>
                <a:ea typeface="Calibri"/>
                <a:cs typeface="Calibri"/>
                <a:sym typeface="Calibri"/>
              </a:rPr>
              <a:t>Weights are the standard IFPUG simple / average / complex values. Audio answer submission and the AI feedback report were rated complex; profile update and question deletion were rated simple.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9"/>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Cost Estimation  2 of 3:  Adjustment, Effort and Price</a:t>
            </a:r>
            <a:endParaRPr b="0" i="0" sz="3000" u="none" cap="none" strike="noStrike">
              <a:solidFill>
                <a:schemeClr val="dk1"/>
              </a:solidFill>
              <a:latin typeface="Calibri"/>
              <a:ea typeface="Calibri"/>
              <a:cs typeface="Calibri"/>
              <a:sym typeface="Calibri"/>
            </a:endParaRPr>
          </a:p>
        </p:txBody>
      </p:sp>
      <p:sp>
        <p:nvSpPr>
          <p:cNvPr id="277" name="Google Shape;277;p9"/>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From 134 unadjusted function points to a quoted project price</a:t>
            </a:r>
            <a:endParaRPr b="0" i="0" sz="1300" u="none" cap="none" strike="noStrike">
              <a:solidFill>
                <a:schemeClr val="dk1"/>
              </a:solidFill>
              <a:latin typeface="Calibri"/>
              <a:ea typeface="Calibri"/>
              <a:cs typeface="Calibri"/>
              <a:sym typeface="Calibri"/>
            </a:endParaRPr>
          </a:p>
        </p:txBody>
      </p:sp>
      <p:sp>
        <p:nvSpPr>
          <p:cNvPr id="278" name="Google Shape;278;p9"/>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279" name="Google Shape;279;p9"/>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280" name="Google Shape;280;p9"/>
          <p:cNvSpPr/>
          <p:nvPr/>
        </p:nvSpPr>
        <p:spPr>
          <a:xfrm>
            <a:off x="566928" y="1463040"/>
            <a:ext cx="2688336" cy="1737360"/>
          </a:xfrm>
          <a:prstGeom prst="roundRect">
            <a:avLst>
              <a:gd fmla="val 3158"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786384" y="1609344"/>
            <a:ext cx="22494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4000"/>
              <a:buFont typeface="Cambria"/>
              <a:buNone/>
            </a:pPr>
            <a:r>
              <a:rPr b="1" i="0" lang="en-US" sz="4000" u="none" cap="none" strike="noStrike">
                <a:solidFill>
                  <a:srgbClr val="2A3A78"/>
                </a:solidFill>
                <a:latin typeface="Cambria"/>
                <a:ea typeface="Cambria"/>
                <a:cs typeface="Cambria"/>
                <a:sym typeface="Cambria"/>
              </a:rPr>
              <a:t>134</a:t>
            </a:r>
            <a:endParaRPr b="0" i="0" sz="4000" u="none" cap="none" strike="noStrike">
              <a:solidFill>
                <a:schemeClr val="dk1"/>
              </a:solidFill>
              <a:latin typeface="Calibri"/>
              <a:ea typeface="Calibri"/>
              <a:cs typeface="Calibri"/>
              <a:sym typeface="Calibri"/>
            </a:endParaRPr>
          </a:p>
        </p:txBody>
      </p:sp>
      <p:sp>
        <p:nvSpPr>
          <p:cNvPr id="282" name="Google Shape;282;p9"/>
          <p:cNvSpPr/>
          <p:nvPr/>
        </p:nvSpPr>
        <p:spPr>
          <a:xfrm>
            <a:off x="786384" y="2249424"/>
            <a:ext cx="22494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UFP</a:t>
            </a:r>
            <a:endParaRPr b="0" i="0" sz="1100" u="none" cap="none" strike="noStrike">
              <a:solidFill>
                <a:schemeClr val="dk1"/>
              </a:solidFill>
              <a:latin typeface="Calibri"/>
              <a:ea typeface="Calibri"/>
              <a:cs typeface="Calibri"/>
              <a:sym typeface="Calibri"/>
            </a:endParaRPr>
          </a:p>
        </p:txBody>
      </p:sp>
      <p:sp>
        <p:nvSpPr>
          <p:cNvPr id="283" name="Google Shape;283;p9"/>
          <p:cNvSpPr/>
          <p:nvPr/>
        </p:nvSpPr>
        <p:spPr>
          <a:xfrm>
            <a:off x="786384" y="2542032"/>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24 functions counted</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and weighted</a:t>
            </a:r>
            <a:endParaRPr b="0" i="0" sz="1100" u="none" cap="none" strike="noStrike">
              <a:solidFill>
                <a:schemeClr val="dk1"/>
              </a:solidFill>
              <a:latin typeface="Calibri"/>
              <a:ea typeface="Calibri"/>
              <a:cs typeface="Calibri"/>
              <a:sym typeface="Calibri"/>
            </a:endParaRPr>
          </a:p>
        </p:txBody>
      </p:sp>
      <p:sp>
        <p:nvSpPr>
          <p:cNvPr id="284" name="Google Shape;284;p9"/>
          <p:cNvSpPr/>
          <p:nvPr/>
        </p:nvSpPr>
        <p:spPr>
          <a:xfrm>
            <a:off x="3259836" y="1463040"/>
            <a:ext cx="141732" cy="1737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500"/>
              <a:buFont typeface="Calibri"/>
              <a:buNone/>
            </a:pPr>
            <a:r>
              <a:rPr b="1" i="0" lang="en-US" sz="1500" u="none" cap="none" strike="noStrike">
                <a:solidFill>
                  <a:srgbClr val="F2A65A"/>
                </a:solidFill>
                <a:latin typeface="Calibri"/>
                <a:ea typeface="Calibri"/>
                <a:cs typeface="Calibri"/>
                <a:sym typeface="Calibri"/>
              </a:rPr>
              <a:t>&gt;</a:t>
            </a:r>
            <a:endParaRPr b="0" i="0" sz="1500" u="none" cap="none" strike="noStrike">
              <a:solidFill>
                <a:schemeClr val="dk1"/>
              </a:solidFill>
              <a:latin typeface="Calibri"/>
              <a:ea typeface="Calibri"/>
              <a:cs typeface="Calibri"/>
              <a:sym typeface="Calibri"/>
            </a:endParaRPr>
          </a:p>
        </p:txBody>
      </p:sp>
      <p:sp>
        <p:nvSpPr>
          <p:cNvPr id="285" name="Google Shape;285;p9"/>
          <p:cNvSpPr/>
          <p:nvPr/>
        </p:nvSpPr>
        <p:spPr>
          <a:xfrm>
            <a:off x="3396996" y="1463040"/>
            <a:ext cx="2688336" cy="1737360"/>
          </a:xfrm>
          <a:prstGeom prst="roundRect">
            <a:avLst>
              <a:gd fmla="val 3158"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3616452" y="1609344"/>
            <a:ext cx="22494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4000"/>
              <a:buFont typeface="Cambria"/>
              <a:buNone/>
            </a:pPr>
            <a:r>
              <a:rPr b="1" i="0" lang="en-US" sz="4000" u="none" cap="none" strike="noStrike">
                <a:solidFill>
                  <a:srgbClr val="2A3A78"/>
                </a:solidFill>
                <a:latin typeface="Cambria"/>
                <a:ea typeface="Cambria"/>
                <a:cs typeface="Cambria"/>
                <a:sym typeface="Cambria"/>
              </a:rPr>
              <a:t>1.15</a:t>
            </a:r>
            <a:endParaRPr b="0" i="0" sz="4000" u="none" cap="none" strike="noStrike">
              <a:solidFill>
                <a:schemeClr val="dk1"/>
              </a:solidFill>
              <a:latin typeface="Calibri"/>
              <a:ea typeface="Calibri"/>
              <a:cs typeface="Calibri"/>
              <a:sym typeface="Calibri"/>
            </a:endParaRPr>
          </a:p>
        </p:txBody>
      </p:sp>
      <p:sp>
        <p:nvSpPr>
          <p:cNvPr id="287" name="Google Shape;287;p9"/>
          <p:cNvSpPr/>
          <p:nvPr/>
        </p:nvSpPr>
        <p:spPr>
          <a:xfrm>
            <a:off x="3616452" y="2249424"/>
            <a:ext cx="22494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VAF</a:t>
            </a:r>
            <a:endParaRPr b="0" i="0" sz="1100" u="none" cap="none" strike="noStrike">
              <a:solidFill>
                <a:schemeClr val="dk1"/>
              </a:solidFill>
              <a:latin typeface="Calibri"/>
              <a:ea typeface="Calibri"/>
              <a:cs typeface="Calibri"/>
              <a:sym typeface="Calibri"/>
            </a:endParaRPr>
          </a:p>
        </p:txBody>
      </p:sp>
      <p:sp>
        <p:nvSpPr>
          <p:cNvPr id="288" name="Google Shape;288;p9"/>
          <p:cNvSpPr/>
          <p:nvPr/>
        </p:nvSpPr>
        <p:spPr>
          <a:xfrm>
            <a:off x="3616452" y="2542032"/>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TDI = 50 across the</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14 general characteristics</a:t>
            </a:r>
            <a:endParaRPr b="0" i="0" sz="1100" u="none" cap="none" strike="noStrike">
              <a:solidFill>
                <a:schemeClr val="dk1"/>
              </a:solidFill>
              <a:latin typeface="Calibri"/>
              <a:ea typeface="Calibri"/>
              <a:cs typeface="Calibri"/>
              <a:sym typeface="Calibri"/>
            </a:endParaRPr>
          </a:p>
        </p:txBody>
      </p:sp>
      <p:sp>
        <p:nvSpPr>
          <p:cNvPr id="289" name="Google Shape;289;p9"/>
          <p:cNvSpPr/>
          <p:nvPr/>
        </p:nvSpPr>
        <p:spPr>
          <a:xfrm>
            <a:off x="6089904" y="1463040"/>
            <a:ext cx="141732" cy="1737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500"/>
              <a:buFont typeface="Calibri"/>
              <a:buNone/>
            </a:pPr>
            <a:r>
              <a:rPr b="1" i="0" lang="en-US" sz="1500" u="none" cap="none" strike="noStrike">
                <a:solidFill>
                  <a:srgbClr val="F2A65A"/>
                </a:solidFill>
                <a:latin typeface="Calibri"/>
                <a:ea typeface="Calibri"/>
                <a:cs typeface="Calibri"/>
                <a:sym typeface="Calibri"/>
              </a:rPr>
              <a:t>&gt;</a:t>
            </a:r>
            <a:endParaRPr b="0" i="0" sz="1500" u="none" cap="none" strike="noStrike">
              <a:solidFill>
                <a:schemeClr val="dk1"/>
              </a:solidFill>
              <a:latin typeface="Calibri"/>
              <a:ea typeface="Calibri"/>
              <a:cs typeface="Calibri"/>
              <a:sym typeface="Calibri"/>
            </a:endParaRPr>
          </a:p>
        </p:txBody>
      </p:sp>
      <p:sp>
        <p:nvSpPr>
          <p:cNvPr id="290" name="Google Shape;290;p9"/>
          <p:cNvSpPr/>
          <p:nvPr/>
        </p:nvSpPr>
        <p:spPr>
          <a:xfrm>
            <a:off x="6227064" y="1463040"/>
            <a:ext cx="2688336" cy="1737360"/>
          </a:xfrm>
          <a:prstGeom prst="roundRect">
            <a:avLst>
              <a:gd fmla="val 3158"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6446520" y="1609344"/>
            <a:ext cx="22494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4000"/>
              <a:buFont typeface="Cambria"/>
              <a:buNone/>
            </a:pPr>
            <a:r>
              <a:rPr b="1" i="0" lang="en-US" sz="4000" u="none" cap="none" strike="noStrike">
                <a:solidFill>
                  <a:srgbClr val="2A3A78"/>
                </a:solidFill>
                <a:latin typeface="Cambria"/>
                <a:ea typeface="Cambria"/>
                <a:cs typeface="Cambria"/>
                <a:sym typeface="Cambria"/>
              </a:rPr>
              <a:t>154</a:t>
            </a:r>
            <a:endParaRPr b="0" i="0" sz="4000" u="none" cap="none" strike="noStrike">
              <a:solidFill>
                <a:schemeClr val="dk1"/>
              </a:solidFill>
              <a:latin typeface="Calibri"/>
              <a:ea typeface="Calibri"/>
              <a:cs typeface="Calibri"/>
              <a:sym typeface="Calibri"/>
            </a:endParaRPr>
          </a:p>
        </p:txBody>
      </p:sp>
      <p:sp>
        <p:nvSpPr>
          <p:cNvPr id="292" name="Google Shape;292;p9"/>
          <p:cNvSpPr/>
          <p:nvPr/>
        </p:nvSpPr>
        <p:spPr>
          <a:xfrm>
            <a:off x="6446520" y="2249424"/>
            <a:ext cx="22494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ADJUSTED FP</a:t>
            </a:r>
            <a:endParaRPr b="0" i="0" sz="1100" u="none" cap="none" strike="noStrike">
              <a:solidFill>
                <a:schemeClr val="dk1"/>
              </a:solidFill>
              <a:latin typeface="Calibri"/>
              <a:ea typeface="Calibri"/>
              <a:cs typeface="Calibri"/>
              <a:sym typeface="Calibri"/>
            </a:endParaRPr>
          </a:p>
        </p:txBody>
      </p:sp>
      <p:sp>
        <p:nvSpPr>
          <p:cNvPr id="293" name="Google Shape;293;p9"/>
          <p:cNvSpPr/>
          <p:nvPr/>
        </p:nvSpPr>
        <p:spPr>
          <a:xfrm>
            <a:off x="6446520" y="2542032"/>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134 x 1.15 = 154.1,</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B7185"/>
              </a:buClr>
              <a:buSzPts val="1100"/>
              <a:buFont typeface="Calibri"/>
              <a:buNone/>
            </a:pPr>
            <a:r>
              <a:rPr b="0" i="0" lang="en-US" sz="1100" u="none" cap="none" strike="noStrike">
                <a:solidFill>
                  <a:srgbClr val="6B7185"/>
                </a:solidFill>
                <a:latin typeface="Calibri"/>
                <a:ea typeface="Calibri"/>
                <a:cs typeface="Calibri"/>
                <a:sym typeface="Calibri"/>
              </a:rPr>
              <a:t>rounded to 154</a:t>
            </a:r>
            <a:endParaRPr b="0" i="0" sz="1100" u="none" cap="none" strike="noStrike">
              <a:solidFill>
                <a:schemeClr val="dk1"/>
              </a:solidFill>
              <a:latin typeface="Calibri"/>
              <a:ea typeface="Calibri"/>
              <a:cs typeface="Calibri"/>
              <a:sym typeface="Calibri"/>
            </a:endParaRPr>
          </a:p>
        </p:txBody>
      </p:sp>
      <p:sp>
        <p:nvSpPr>
          <p:cNvPr id="294" name="Google Shape;294;p9"/>
          <p:cNvSpPr/>
          <p:nvPr/>
        </p:nvSpPr>
        <p:spPr>
          <a:xfrm>
            <a:off x="8919972" y="1463040"/>
            <a:ext cx="141732" cy="1737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1500"/>
              <a:buFont typeface="Calibri"/>
              <a:buNone/>
            </a:pPr>
            <a:r>
              <a:rPr b="1" i="0" lang="en-US" sz="1500" u="none" cap="none" strike="noStrike">
                <a:solidFill>
                  <a:srgbClr val="F2A65A"/>
                </a:solidFill>
                <a:latin typeface="Calibri"/>
                <a:ea typeface="Calibri"/>
                <a:cs typeface="Calibri"/>
                <a:sym typeface="Calibri"/>
              </a:rPr>
              <a:t>&gt;</a:t>
            </a:r>
            <a:endParaRPr b="0" i="0" sz="1500" u="none" cap="none" strike="noStrike">
              <a:solidFill>
                <a:schemeClr val="dk1"/>
              </a:solidFill>
              <a:latin typeface="Calibri"/>
              <a:ea typeface="Calibri"/>
              <a:cs typeface="Calibri"/>
              <a:sym typeface="Calibri"/>
            </a:endParaRPr>
          </a:p>
        </p:txBody>
      </p:sp>
      <p:sp>
        <p:nvSpPr>
          <p:cNvPr id="295" name="Google Shape;295;p9"/>
          <p:cNvSpPr/>
          <p:nvPr/>
        </p:nvSpPr>
        <p:spPr>
          <a:xfrm>
            <a:off x="9057132" y="1463040"/>
            <a:ext cx="2688336" cy="1737360"/>
          </a:xfrm>
          <a:prstGeom prst="roundRect">
            <a:avLst>
              <a:gd fmla="val 3158"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9276588" y="1609344"/>
            <a:ext cx="224942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4000"/>
              <a:buFont typeface="Cambria"/>
              <a:buNone/>
            </a:pPr>
            <a:r>
              <a:rPr b="1" i="0" lang="en-US" sz="4000" u="none" cap="none" strike="noStrike">
                <a:solidFill>
                  <a:srgbClr val="F2A65A"/>
                </a:solidFill>
                <a:latin typeface="Cambria"/>
                <a:ea typeface="Cambria"/>
                <a:cs typeface="Cambria"/>
                <a:sym typeface="Cambria"/>
              </a:rPr>
              <a:t>2,002</a:t>
            </a:r>
            <a:endParaRPr b="0" i="0" sz="4000" u="none" cap="none" strike="noStrike">
              <a:solidFill>
                <a:schemeClr val="dk1"/>
              </a:solidFill>
              <a:latin typeface="Calibri"/>
              <a:ea typeface="Calibri"/>
              <a:cs typeface="Calibri"/>
              <a:sym typeface="Calibri"/>
            </a:endParaRPr>
          </a:p>
        </p:txBody>
      </p:sp>
      <p:sp>
        <p:nvSpPr>
          <p:cNvPr id="297" name="Google Shape;297;p9"/>
          <p:cNvSpPr/>
          <p:nvPr/>
        </p:nvSpPr>
        <p:spPr>
          <a:xfrm>
            <a:off x="9276588" y="2249424"/>
            <a:ext cx="22494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PERSON HOURS</a:t>
            </a:r>
            <a:endParaRPr b="0" i="0" sz="1100" u="none" cap="none" strike="noStrike">
              <a:solidFill>
                <a:schemeClr val="dk1"/>
              </a:solidFill>
              <a:latin typeface="Calibri"/>
              <a:ea typeface="Calibri"/>
              <a:cs typeface="Calibri"/>
              <a:sym typeface="Calibri"/>
            </a:endParaRPr>
          </a:p>
        </p:txBody>
      </p:sp>
      <p:sp>
        <p:nvSpPr>
          <p:cNvPr id="298" name="Google Shape;298;p9"/>
          <p:cNvSpPr/>
          <p:nvPr/>
        </p:nvSpPr>
        <p:spPr>
          <a:xfrm>
            <a:off x="9276588" y="2542032"/>
            <a:ext cx="2249424" cy="56692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154 FP x 13 hrs/FP</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team productivity rate</a:t>
            </a:r>
            <a:endParaRPr b="0" i="0" sz="1100" u="none" cap="none" strike="noStrike">
              <a:solidFill>
                <a:schemeClr val="dk1"/>
              </a:solidFill>
              <a:latin typeface="Calibri"/>
              <a:ea typeface="Calibri"/>
              <a:cs typeface="Calibri"/>
              <a:sym typeface="Calibri"/>
            </a:endParaRPr>
          </a:p>
        </p:txBody>
      </p:sp>
      <p:sp>
        <p:nvSpPr>
          <p:cNvPr id="299" name="Google Shape;299;p9"/>
          <p:cNvSpPr/>
          <p:nvPr/>
        </p:nvSpPr>
        <p:spPr>
          <a:xfrm>
            <a:off x="566928" y="3401568"/>
            <a:ext cx="5504688" cy="2286000"/>
          </a:xfrm>
          <a:prstGeom prst="roundRect">
            <a:avLst>
              <a:gd fmla="val 2400"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822960" y="3566160"/>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800"/>
              <a:buFont typeface="Cambria"/>
              <a:buNone/>
            </a:pPr>
            <a:r>
              <a:rPr b="1" i="0" lang="en-US" sz="1800" u="none" cap="none" strike="noStrike">
                <a:solidFill>
                  <a:srgbClr val="141B34"/>
                </a:solidFill>
                <a:latin typeface="Cambria"/>
                <a:ea typeface="Cambria"/>
                <a:cs typeface="Cambria"/>
                <a:sym typeface="Cambria"/>
              </a:rPr>
              <a:t>Value Adjustment Factor</a:t>
            </a:r>
            <a:endParaRPr b="0" i="0" sz="1800" u="none" cap="none" strike="noStrike">
              <a:solidFill>
                <a:schemeClr val="dk1"/>
              </a:solidFill>
              <a:latin typeface="Calibri"/>
              <a:ea typeface="Calibri"/>
              <a:cs typeface="Calibri"/>
              <a:sym typeface="Calibri"/>
            </a:endParaRPr>
          </a:p>
        </p:txBody>
      </p:sp>
      <p:sp>
        <p:nvSpPr>
          <p:cNvPr id="301" name="Google Shape;301;p9"/>
          <p:cNvSpPr/>
          <p:nvPr/>
        </p:nvSpPr>
        <p:spPr>
          <a:xfrm>
            <a:off x="822960" y="3877056"/>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250"/>
              <a:buFont typeface="Courier New"/>
              <a:buNone/>
            </a:pPr>
            <a:r>
              <a:rPr b="1" i="0" lang="en-US" sz="1250" u="none" cap="none" strike="noStrike">
                <a:solidFill>
                  <a:srgbClr val="2A3A78"/>
                </a:solidFill>
                <a:latin typeface="Courier New"/>
                <a:ea typeface="Courier New"/>
                <a:cs typeface="Courier New"/>
                <a:sym typeface="Courier New"/>
              </a:rPr>
              <a:t>VAF = 0.65 + (0.01 x TDI) = 0.65 + 0.50 = 1.15</a:t>
            </a:r>
            <a:endParaRPr b="0" i="0" sz="1250" u="none" cap="none" strike="noStrike">
              <a:solidFill>
                <a:schemeClr val="dk1"/>
              </a:solidFill>
              <a:latin typeface="Calibri"/>
              <a:ea typeface="Calibri"/>
              <a:cs typeface="Calibri"/>
              <a:sym typeface="Calibri"/>
            </a:endParaRPr>
          </a:p>
        </p:txBody>
      </p:sp>
      <p:sp>
        <p:nvSpPr>
          <p:cNvPr id="302" name="Google Shape;302;p9"/>
          <p:cNvSpPr/>
          <p:nvPr/>
        </p:nvSpPr>
        <p:spPr>
          <a:xfrm>
            <a:off x="822960" y="4261104"/>
            <a:ext cx="5029200" cy="1298448"/>
          </a:xfrm>
          <a:prstGeom prst="rect">
            <a:avLst/>
          </a:prstGeom>
          <a:noFill/>
          <a:ln>
            <a:noFill/>
          </a:ln>
        </p:spPr>
        <p:txBody>
          <a:bodyPr anchorCtr="0" anchor="ctr" bIns="0" lIns="0" spcFirstLastPara="1" rIns="0" wrap="square" tIns="0">
            <a:noAutofit/>
          </a:bodyPr>
          <a:lstStyle/>
          <a:p>
            <a:pPr indent="-342900" lvl="0" marL="342900" marR="0" rtl="0" algn="l">
              <a:lnSpc>
                <a:spcPct val="121739"/>
              </a:lnSpc>
              <a:spcBef>
                <a:spcPts val="0"/>
              </a:spcBef>
              <a:spcAft>
                <a:spcPts val="0"/>
              </a:spcAft>
              <a:buClr>
                <a:srgbClr val="2B2F42"/>
              </a:buClr>
              <a:buSzPts val="1150"/>
              <a:buFont typeface="Calibri"/>
              <a:buChar char="•"/>
            </a:pPr>
            <a:r>
              <a:rPr b="0" i="0" lang="en-US" sz="1150" u="none" cap="none" strike="noStrike">
                <a:solidFill>
                  <a:srgbClr val="2B2F42"/>
                </a:solidFill>
                <a:latin typeface="Calibri"/>
                <a:ea typeface="Calibri"/>
                <a:cs typeface="Calibri"/>
                <a:sym typeface="Calibri"/>
              </a:rPr>
              <a:t>Highest rated characteristics (5 of 5):  data communications, online data entry, complex processing.</a:t>
            </a:r>
            <a:endParaRPr b="0" i="0" sz="1150" u="none" cap="none" strike="noStrike">
              <a:solidFill>
                <a:schemeClr val="dk1"/>
              </a:solidFill>
              <a:latin typeface="Calibri"/>
              <a:ea typeface="Calibri"/>
              <a:cs typeface="Calibri"/>
              <a:sym typeface="Calibri"/>
            </a:endParaRPr>
          </a:p>
          <a:p>
            <a:pPr indent="-342900" lvl="0" marL="342900" marR="0" rtl="0" algn="l">
              <a:lnSpc>
                <a:spcPct val="121739"/>
              </a:lnSpc>
              <a:spcBef>
                <a:spcPts val="600"/>
              </a:spcBef>
              <a:spcAft>
                <a:spcPts val="0"/>
              </a:spcAft>
              <a:buClr>
                <a:srgbClr val="2B2F42"/>
              </a:buClr>
              <a:buSzPts val="1150"/>
              <a:buFont typeface="Calibri"/>
              <a:buChar char="•"/>
            </a:pPr>
            <a:r>
              <a:rPr b="0" i="0" lang="en-US" sz="1150" u="none" cap="none" strike="noStrike">
                <a:solidFill>
                  <a:srgbClr val="2B2F42"/>
                </a:solidFill>
                <a:latin typeface="Calibri"/>
                <a:ea typeface="Calibri"/>
                <a:cs typeface="Calibri"/>
                <a:sym typeface="Calibri"/>
              </a:rPr>
              <a:t>Complex processing scored 5 because the AI engine performs transcription, rubric scoring and adaptive question generation.</a:t>
            </a:r>
            <a:endParaRPr b="0" i="0" sz="1150" u="none" cap="none" strike="noStrike">
              <a:solidFill>
                <a:schemeClr val="dk1"/>
              </a:solidFill>
              <a:latin typeface="Calibri"/>
              <a:ea typeface="Calibri"/>
              <a:cs typeface="Calibri"/>
              <a:sym typeface="Calibri"/>
            </a:endParaRPr>
          </a:p>
          <a:p>
            <a:pPr indent="-342900" lvl="0" marL="342900" marR="0" rtl="0" algn="l">
              <a:lnSpc>
                <a:spcPct val="121739"/>
              </a:lnSpc>
              <a:spcBef>
                <a:spcPts val="600"/>
              </a:spcBef>
              <a:spcAft>
                <a:spcPts val="0"/>
              </a:spcAft>
              <a:buClr>
                <a:srgbClr val="2B2F42"/>
              </a:buClr>
              <a:buSzPts val="1150"/>
              <a:buFont typeface="Calibri"/>
              <a:buChar char="•"/>
            </a:pPr>
            <a:r>
              <a:rPr b="0" i="0" lang="en-US" sz="1150" u="none" cap="none" strike="noStrike">
                <a:solidFill>
                  <a:srgbClr val="2B2F42"/>
                </a:solidFill>
                <a:latin typeface="Calibri"/>
                <a:ea typeface="Calibri"/>
                <a:cs typeface="Calibri"/>
                <a:sym typeface="Calibri"/>
              </a:rPr>
              <a:t>Facilitate change scored 4 to reflect the volatility of AI requirements noted in our process model.</a:t>
            </a:r>
            <a:endParaRPr b="0" i="0" sz="1150" u="none" cap="none" strike="noStrike">
              <a:solidFill>
                <a:schemeClr val="dk1"/>
              </a:solidFill>
              <a:latin typeface="Calibri"/>
              <a:ea typeface="Calibri"/>
              <a:cs typeface="Calibri"/>
              <a:sym typeface="Calibri"/>
            </a:endParaRPr>
          </a:p>
        </p:txBody>
      </p:sp>
      <p:sp>
        <p:nvSpPr>
          <p:cNvPr id="303" name="Google Shape;303;p9"/>
          <p:cNvSpPr/>
          <p:nvPr/>
        </p:nvSpPr>
        <p:spPr>
          <a:xfrm>
            <a:off x="6272784" y="3401568"/>
            <a:ext cx="5321808" cy="2286000"/>
          </a:xfrm>
          <a:prstGeom prst="roundRect">
            <a:avLst>
              <a:gd fmla="val 2400"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6528816" y="3566160"/>
            <a:ext cx="4846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800"/>
              <a:buFont typeface="Cambria"/>
              <a:buNone/>
            </a:pPr>
            <a:r>
              <a:rPr b="1" i="0" lang="en-US" sz="1800" u="none" cap="none" strike="noStrike">
                <a:solidFill>
                  <a:srgbClr val="141B34"/>
                </a:solidFill>
                <a:latin typeface="Cambria"/>
                <a:ea typeface="Cambria"/>
                <a:cs typeface="Cambria"/>
                <a:sym typeface="Cambria"/>
              </a:rPr>
              <a:t>From Cost to Price</a:t>
            </a:r>
            <a:endParaRPr b="0" i="0" sz="1800" u="none" cap="none" strike="noStrike">
              <a:solidFill>
                <a:schemeClr val="dk1"/>
              </a:solidFill>
              <a:latin typeface="Calibri"/>
              <a:ea typeface="Calibri"/>
              <a:cs typeface="Calibri"/>
              <a:sym typeface="Calibri"/>
            </a:endParaRPr>
          </a:p>
        </p:txBody>
      </p:sp>
      <p:sp>
        <p:nvSpPr>
          <p:cNvPr id="305" name="Google Shape;305;p9"/>
          <p:cNvSpPr/>
          <p:nvPr/>
        </p:nvSpPr>
        <p:spPr>
          <a:xfrm>
            <a:off x="6528816" y="3931920"/>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Total development cost</a:t>
            </a:r>
            <a:endParaRPr b="0" i="0" sz="1200" u="none" cap="none" strike="noStrike">
              <a:solidFill>
                <a:schemeClr val="dk1"/>
              </a:solidFill>
              <a:latin typeface="Calibri"/>
              <a:ea typeface="Calibri"/>
              <a:cs typeface="Calibri"/>
              <a:sym typeface="Calibri"/>
            </a:endParaRPr>
          </a:p>
        </p:txBody>
      </p:sp>
      <p:sp>
        <p:nvSpPr>
          <p:cNvPr id="306" name="Google Shape;306;p9"/>
          <p:cNvSpPr/>
          <p:nvPr/>
        </p:nvSpPr>
        <p:spPr>
          <a:xfrm>
            <a:off x="9820656" y="3931920"/>
            <a:ext cx="155448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B2F42"/>
              </a:buClr>
              <a:buSzPts val="1200"/>
              <a:buFont typeface="Calibri"/>
              <a:buNone/>
            </a:pPr>
            <a:r>
              <a:rPr b="1" i="0" lang="en-US" sz="1200" u="none" cap="none" strike="noStrike">
                <a:solidFill>
                  <a:srgbClr val="2B2F42"/>
                </a:solidFill>
                <a:latin typeface="Calibri"/>
                <a:ea typeface="Calibri"/>
                <a:cs typeface="Calibri"/>
                <a:sym typeface="Calibri"/>
              </a:rPr>
              <a:t>$128,243</a:t>
            </a:r>
            <a:endParaRPr b="0" i="0" sz="1200" u="none" cap="none" strike="noStrike">
              <a:solidFill>
                <a:schemeClr val="dk1"/>
              </a:solidFill>
              <a:latin typeface="Calibri"/>
              <a:ea typeface="Calibri"/>
              <a:cs typeface="Calibri"/>
              <a:sym typeface="Calibri"/>
            </a:endParaRPr>
          </a:p>
        </p:txBody>
      </p:sp>
      <p:sp>
        <p:nvSpPr>
          <p:cNvPr id="307" name="Google Shape;307;p9"/>
          <p:cNvSpPr/>
          <p:nvPr/>
        </p:nvSpPr>
        <p:spPr>
          <a:xfrm>
            <a:off x="6528816" y="4261104"/>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Overhead and contingency (15%)</a:t>
            </a:r>
            <a:endParaRPr b="0" i="0" sz="1200" u="none" cap="none" strike="noStrike">
              <a:solidFill>
                <a:schemeClr val="dk1"/>
              </a:solidFill>
              <a:latin typeface="Calibri"/>
              <a:ea typeface="Calibri"/>
              <a:cs typeface="Calibri"/>
              <a:sym typeface="Calibri"/>
            </a:endParaRPr>
          </a:p>
        </p:txBody>
      </p:sp>
      <p:sp>
        <p:nvSpPr>
          <p:cNvPr id="308" name="Google Shape;308;p9"/>
          <p:cNvSpPr/>
          <p:nvPr/>
        </p:nvSpPr>
        <p:spPr>
          <a:xfrm>
            <a:off x="9820656" y="4261104"/>
            <a:ext cx="155448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B2F42"/>
              </a:buClr>
              <a:buSzPts val="1200"/>
              <a:buFont typeface="Calibri"/>
              <a:buNone/>
            </a:pPr>
            <a:r>
              <a:rPr b="1" i="0" lang="en-US" sz="1200" u="none" cap="none" strike="noStrike">
                <a:solidFill>
                  <a:srgbClr val="2B2F42"/>
                </a:solidFill>
                <a:latin typeface="Calibri"/>
                <a:ea typeface="Calibri"/>
                <a:cs typeface="Calibri"/>
                <a:sym typeface="Calibri"/>
              </a:rPr>
              <a:t>$19,236</a:t>
            </a:r>
            <a:endParaRPr b="0" i="0" sz="1200" u="none" cap="none" strike="noStrike">
              <a:solidFill>
                <a:schemeClr val="dk1"/>
              </a:solidFill>
              <a:latin typeface="Calibri"/>
              <a:ea typeface="Calibri"/>
              <a:cs typeface="Calibri"/>
              <a:sym typeface="Calibri"/>
            </a:endParaRPr>
          </a:p>
        </p:txBody>
      </p:sp>
      <p:sp>
        <p:nvSpPr>
          <p:cNvPr id="309" name="Google Shape;309;p9"/>
          <p:cNvSpPr/>
          <p:nvPr/>
        </p:nvSpPr>
        <p:spPr>
          <a:xfrm>
            <a:off x="6528816" y="4590288"/>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Subtotal</a:t>
            </a:r>
            <a:endParaRPr b="0" i="0" sz="1200" u="none" cap="none" strike="noStrike">
              <a:solidFill>
                <a:schemeClr val="dk1"/>
              </a:solidFill>
              <a:latin typeface="Calibri"/>
              <a:ea typeface="Calibri"/>
              <a:cs typeface="Calibri"/>
              <a:sym typeface="Calibri"/>
            </a:endParaRPr>
          </a:p>
        </p:txBody>
      </p:sp>
      <p:sp>
        <p:nvSpPr>
          <p:cNvPr id="310" name="Google Shape;310;p9"/>
          <p:cNvSpPr/>
          <p:nvPr/>
        </p:nvSpPr>
        <p:spPr>
          <a:xfrm>
            <a:off x="9820656" y="4590288"/>
            <a:ext cx="155448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B2F42"/>
              </a:buClr>
              <a:buSzPts val="1200"/>
              <a:buFont typeface="Calibri"/>
              <a:buNone/>
            </a:pPr>
            <a:r>
              <a:rPr b="1" i="0" lang="en-US" sz="1200" u="none" cap="none" strike="noStrike">
                <a:solidFill>
                  <a:srgbClr val="2B2F42"/>
                </a:solidFill>
                <a:latin typeface="Calibri"/>
                <a:ea typeface="Calibri"/>
                <a:cs typeface="Calibri"/>
                <a:sym typeface="Calibri"/>
              </a:rPr>
              <a:t>$147,479</a:t>
            </a:r>
            <a:endParaRPr b="0" i="0" sz="1200" u="none" cap="none" strike="noStrike">
              <a:solidFill>
                <a:schemeClr val="dk1"/>
              </a:solidFill>
              <a:latin typeface="Calibri"/>
              <a:ea typeface="Calibri"/>
              <a:cs typeface="Calibri"/>
              <a:sym typeface="Calibri"/>
            </a:endParaRPr>
          </a:p>
        </p:txBody>
      </p:sp>
      <p:sp>
        <p:nvSpPr>
          <p:cNvPr id="311" name="Google Shape;311;p9"/>
          <p:cNvSpPr/>
          <p:nvPr/>
        </p:nvSpPr>
        <p:spPr>
          <a:xfrm>
            <a:off x="6528816" y="4919472"/>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Profit margin (20%)</a:t>
            </a:r>
            <a:endParaRPr b="0" i="0" sz="1200" u="none" cap="none" strike="noStrike">
              <a:solidFill>
                <a:schemeClr val="dk1"/>
              </a:solidFill>
              <a:latin typeface="Calibri"/>
              <a:ea typeface="Calibri"/>
              <a:cs typeface="Calibri"/>
              <a:sym typeface="Calibri"/>
            </a:endParaRPr>
          </a:p>
        </p:txBody>
      </p:sp>
      <p:sp>
        <p:nvSpPr>
          <p:cNvPr id="312" name="Google Shape;312;p9"/>
          <p:cNvSpPr/>
          <p:nvPr/>
        </p:nvSpPr>
        <p:spPr>
          <a:xfrm>
            <a:off x="9820656" y="4919472"/>
            <a:ext cx="155448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B2F42"/>
              </a:buClr>
              <a:buSzPts val="1200"/>
              <a:buFont typeface="Calibri"/>
              <a:buNone/>
            </a:pPr>
            <a:r>
              <a:rPr b="1" i="0" lang="en-US" sz="1200" u="none" cap="none" strike="noStrike">
                <a:solidFill>
                  <a:srgbClr val="2B2F42"/>
                </a:solidFill>
                <a:latin typeface="Calibri"/>
                <a:ea typeface="Calibri"/>
                <a:cs typeface="Calibri"/>
                <a:sym typeface="Calibri"/>
              </a:rPr>
              <a:t>$29,496</a:t>
            </a:r>
            <a:endParaRPr b="0" i="0" sz="1200" u="none" cap="none" strike="noStrike">
              <a:solidFill>
                <a:schemeClr val="dk1"/>
              </a:solidFill>
              <a:latin typeface="Calibri"/>
              <a:ea typeface="Calibri"/>
              <a:cs typeface="Calibri"/>
              <a:sym typeface="Calibri"/>
            </a:endParaRPr>
          </a:p>
        </p:txBody>
      </p:sp>
      <p:sp>
        <p:nvSpPr>
          <p:cNvPr id="313" name="Google Shape;313;p9"/>
          <p:cNvSpPr/>
          <p:nvPr/>
        </p:nvSpPr>
        <p:spPr>
          <a:xfrm>
            <a:off x="6528816" y="5248656"/>
            <a:ext cx="3291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Quoted project price</a:t>
            </a:r>
            <a:endParaRPr b="0" i="0" sz="1300" u="none" cap="none" strike="noStrike">
              <a:solidFill>
                <a:schemeClr val="dk1"/>
              </a:solidFill>
              <a:latin typeface="Calibri"/>
              <a:ea typeface="Calibri"/>
              <a:cs typeface="Calibri"/>
              <a:sym typeface="Calibri"/>
            </a:endParaRPr>
          </a:p>
        </p:txBody>
      </p:sp>
      <p:sp>
        <p:nvSpPr>
          <p:cNvPr id="314" name="Google Shape;314;p9"/>
          <p:cNvSpPr/>
          <p:nvPr/>
        </p:nvSpPr>
        <p:spPr>
          <a:xfrm>
            <a:off x="9820656" y="5248656"/>
            <a:ext cx="155448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2A65A"/>
              </a:buClr>
              <a:buSzPts val="1700"/>
              <a:buFont typeface="Cambria"/>
              <a:buNone/>
            </a:pPr>
            <a:r>
              <a:rPr b="1" i="0" lang="en-US" sz="1700" u="none" cap="none" strike="noStrike">
                <a:solidFill>
                  <a:srgbClr val="F2A65A"/>
                </a:solidFill>
                <a:latin typeface="Cambria"/>
                <a:ea typeface="Cambria"/>
                <a:cs typeface="Cambria"/>
                <a:sym typeface="Cambria"/>
              </a:rPr>
              <a:t>$176,975</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10"/>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Cost Estimation  3 of 3:  Hardware, Software and Personnel</a:t>
            </a:r>
            <a:endParaRPr b="0" i="0" sz="3000" u="none" cap="none" strike="noStrike">
              <a:solidFill>
                <a:schemeClr val="dk1"/>
              </a:solidFill>
              <a:latin typeface="Calibri"/>
              <a:ea typeface="Calibri"/>
              <a:cs typeface="Calibri"/>
              <a:sym typeface="Calibri"/>
            </a:endParaRPr>
          </a:p>
        </p:txBody>
      </p:sp>
      <p:sp>
        <p:nvSpPr>
          <p:cNvPr id="322" name="Google Shape;322;p10"/>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Total development cost $128,243 over a 12 month first year of operation</a:t>
            </a:r>
            <a:endParaRPr b="0" i="0" sz="1300" u="none" cap="none" strike="noStrike">
              <a:solidFill>
                <a:schemeClr val="dk1"/>
              </a:solidFill>
              <a:latin typeface="Calibri"/>
              <a:ea typeface="Calibri"/>
              <a:cs typeface="Calibri"/>
              <a:sym typeface="Calibri"/>
            </a:endParaRPr>
          </a:p>
        </p:txBody>
      </p:sp>
      <p:sp>
        <p:nvSpPr>
          <p:cNvPr id="323" name="Google Shape;323;p10"/>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24" name="Google Shape;324;p10"/>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pic>
        <p:nvPicPr>
          <p:cNvPr id="325" name="Google Shape;325;p10"/>
          <p:cNvPicPr preferRelativeResize="0"/>
          <p:nvPr/>
        </p:nvPicPr>
        <p:blipFill rotWithShape="1">
          <a:blip r:embed="rId3">
            <a:alphaModFix/>
          </a:blip>
          <a:srcRect b="0" l="0" r="0" t="0"/>
          <a:stretch/>
        </p:blipFill>
        <p:spPr>
          <a:xfrm>
            <a:off x="566928" y="1536192"/>
            <a:ext cx="4114800" cy="2103120"/>
          </a:xfrm>
          <a:prstGeom prst="rect">
            <a:avLst/>
          </a:prstGeom>
          <a:noFill/>
          <a:ln>
            <a:noFill/>
          </a:ln>
        </p:spPr>
      </p:pic>
      <p:sp>
        <p:nvSpPr>
          <p:cNvPr id="326" name="Google Shape;326;p10"/>
          <p:cNvSpPr/>
          <p:nvPr/>
        </p:nvSpPr>
        <p:spPr>
          <a:xfrm>
            <a:off x="4937760" y="1536192"/>
            <a:ext cx="2286000" cy="4480560"/>
          </a:xfrm>
          <a:prstGeom prst="roundRect">
            <a:avLst>
              <a:gd fmla="val 2400" name="adj"/>
            </a:avLst>
          </a:prstGeom>
          <a:solidFill>
            <a:srgbClr val="E7EBF7"/>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5138928" y="1700784"/>
            <a:ext cx="18836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050"/>
              <a:buFont typeface="Calibri"/>
              <a:buNone/>
            </a:pPr>
            <a:r>
              <a:rPr b="1" i="0" lang="en-US" sz="1050" u="none" cap="none" strike="noStrike">
                <a:solidFill>
                  <a:srgbClr val="2A3A78"/>
                </a:solidFill>
                <a:latin typeface="Calibri"/>
                <a:ea typeface="Calibri"/>
                <a:cs typeface="Calibri"/>
                <a:sym typeface="Calibri"/>
              </a:rPr>
              <a:t>PERSONNEL</a:t>
            </a:r>
            <a:endParaRPr b="0" i="0" sz="1050" u="none" cap="none" strike="noStrike">
              <a:solidFill>
                <a:schemeClr val="dk1"/>
              </a:solidFill>
              <a:latin typeface="Calibri"/>
              <a:ea typeface="Calibri"/>
              <a:cs typeface="Calibri"/>
              <a:sym typeface="Calibri"/>
            </a:endParaRPr>
          </a:p>
        </p:txBody>
      </p:sp>
      <p:sp>
        <p:nvSpPr>
          <p:cNvPr id="328" name="Google Shape;328;p10"/>
          <p:cNvSpPr/>
          <p:nvPr/>
        </p:nvSpPr>
        <p:spPr>
          <a:xfrm>
            <a:off x="5138928" y="1938528"/>
            <a:ext cx="188366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400"/>
              <a:buFont typeface="Cambria"/>
              <a:buNone/>
            </a:pPr>
            <a:r>
              <a:rPr b="1" i="0" lang="en-US" sz="2400" u="none" cap="none" strike="noStrike">
                <a:solidFill>
                  <a:srgbClr val="141B34"/>
                </a:solidFill>
                <a:latin typeface="Cambria"/>
                <a:ea typeface="Cambria"/>
                <a:cs typeface="Cambria"/>
                <a:sym typeface="Cambria"/>
              </a:rPr>
              <a:t>$103,884</a:t>
            </a:r>
            <a:endParaRPr b="0" i="0" sz="2400" u="none" cap="none" strike="noStrike">
              <a:solidFill>
                <a:schemeClr val="dk1"/>
              </a:solidFill>
              <a:latin typeface="Calibri"/>
              <a:ea typeface="Calibri"/>
              <a:cs typeface="Calibri"/>
              <a:sym typeface="Calibri"/>
            </a:endParaRPr>
          </a:p>
        </p:txBody>
      </p:sp>
      <p:sp>
        <p:nvSpPr>
          <p:cNvPr id="329" name="Google Shape;329;p10"/>
          <p:cNvSpPr/>
          <p:nvPr/>
        </p:nvSpPr>
        <p:spPr>
          <a:xfrm>
            <a:off x="5138928" y="2450592"/>
            <a:ext cx="1883664" cy="3383280"/>
          </a:xfrm>
          <a:prstGeom prst="rect">
            <a:avLst/>
          </a:prstGeom>
          <a:noFill/>
          <a:ln>
            <a:noFill/>
          </a:ln>
        </p:spPr>
        <p:txBody>
          <a:bodyPr anchorCtr="0" anchor="ctr" bIns="0" lIns="0" spcFirstLastPara="1" rIns="0" wrap="square" tIns="0">
            <a:noAutofit/>
          </a:bodyPr>
          <a:lstStyle/>
          <a:p>
            <a:pPr indent="-342900" lvl="0" marL="342900" marR="0" rtl="0" algn="l">
              <a:lnSpc>
                <a:spcPct val="125000"/>
              </a:lnSpc>
              <a:spcBef>
                <a:spcPts val="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Ayro, backend and database, 420 h at $50/h  =  $21,000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Ben, backend and DevOps, 420 h at $50/h  =  $21,000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Hadeed, AI engineer, 440 h at $60/h  =  $26,400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Shaun, frontend, 400 h at $48/h  =  $19,200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Joshua, QA engineer, 322 h at $42/h  =  $13,524</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Post installation training: 2 admin sessions and documentation  =  $2,760</a:t>
            </a:r>
            <a:endParaRPr b="0" i="0" sz="1000" u="none" cap="none" strike="noStrike">
              <a:solidFill>
                <a:schemeClr val="dk1"/>
              </a:solidFill>
              <a:latin typeface="Calibri"/>
              <a:ea typeface="Calibri"/>
              <a:cs typeface="Calibri"/>
              <a:sym typeface="Calibri"/>
            </a:endParaRPr>
          </a:p>
        </p:txBody>
      </p:sp>
      <p:sp>
        <p:nvSpPr>
          <p:cNvPr id="330" name="Google Shape;330;p10"/>
          <p:cNvSpPr/>
          <p:nvPr/>
        </p:nvSpPr>
        <p:spPr>
          <a:xfrm>
            <a:off x="7351776" y="1536192"/>
            <a:ext cx="2286000" cy="4480560"/>
          </a:xfrm>
          <a:prstGeom prst="roundRect">
            <a:avLst>
              <a:gd fmla="val 2400"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7552944" y="1700784"/>
            <a:ext cx="18836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050"/>
              <a:buFont typeface="Calibri"/>
              <a:buNone/>
            </a:pPr>
            <a:r>
              <a:rPr b="1" i="0" lang="en-US" sz="1050" u="none" cap="none" strike="noStrike">
                <a:solidFill>
                  <a:srgbClr val="2A3A78"/>
                </a:solidFill>
                <a:latin typeface="Calibri"/>
                <a:ea typeface="Calibri"/>
                <a:cs typeface="Calibri"/>
                <a:sym typeface="Calibri"/>
              </a:rPr>
              <a:t>HARDWARE</a:t>
            </a:r>
            <a:endParaRPr b="0" i="0" sz="1050" u="none" cap="none" strike="noStrike">
              <a:solidFill>
                <a:schemeClr val="dk1"/>
              </a:solidFill>
              <a:latin typeface="Calibri"/>
              <a:ea typeface="Calibri"/>
              <a:cs typeface="Calibri"/>
              <a:sym typeface="Calibri"/>
            </a:endParaRPr>
          </a:p>
        </p:txBody>
      </p:sp>
      <p:sp>
        <p:nvSpPr>
          <p:cNvPr id="332" name="Google Shape;332;p10"/>
          <p:cNvSpPr/>
          <p:nvPr/>
        </p:nvSpPr>
        <p:spPr>
          <a:xfrm>
            <a:off x="7552944" y="1938528"/>
            <a:ext cx="188366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400"/>
              <a:buFont typeface="Cambria"/>
              <a:buNone/>
            </a:pPr>
            <a:r>
              <a:rPr b="1" i="0" lang="en-US" sz="2400" u="none" cap="none" strike="noStrike">
                <a:solidFill>
                  <a:srgbClr val="141B34"/>
                </a:solidFill>
                <a:latin typeface="Cambria"/>
                <a:ea typeface="Cambria"/>
                <a:cs typeface="Cambria"/>
                <a:sym typeface="Cambria"/>
              </a:rPr>
              <a:t>$14,516</a:t>
            </a:r>
            <a:endParaRPr b="0" i="0" sz="2400" u="none" cap="none" strike="noStrike">
              <a:solidFill>
                <a:schemeClr val="dk1"/>
              </a:solidFill>
              <a:latin typeface="Calibri"/>
              <a:ea typeface="Calibri"/>
              <a:cs typeface="Calibri"/>
              <a:sym typeface="Calibri"/>
            </a:endParaRPr>
          </a:p>
        </p:txBody>
      </p:sp>
      <p:sp>
        <p:nvSpPr>
          <p:cNvPr id="333" name="Google Shape;333;p10"/>
          <p:cNvSpPr/>
          <p:nvPr/>
        </p:nvSpPr>
        <p:spPr>
          <a:xfrm>
            <a:off x="7552944" y="2450592"/>
            <a:ext cx="1883664" cy="3383280"/>
          </a:xfrm>
          <a:prstGeom prst="rect">
            <a:avLst/>
          </a:prstGeom>
          <a:noFill/>
          <a:ln>
            <a:noFill/>
          </a:ln>
        </p:spPr>
        <p:txBody>
          <a:bodyPr anchorCtr="0" anchor="ctr" bIns="0" lIns="0" spcFirstLastPara="1" rIns="0" wrap="square" tIns="0">
            <a:noAutofit/>
          </a:bodyPr>
          <a:lstStyle/>
          <a:p>
            <a:pPr indent="-342900" lvl="0" marL="342900" marR="0" rtl="0" algn="l">
              <a:lnSpc>
                <a:spcPct val="125000"/>
              </a:lnSpc>
              <a:spcBef>
                <a:spcPts val="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5 developer workstations at $1,600  =  $8,000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2 application server instances, $140/mo  =  $3,360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Managed PostgreSQL instance, $95/mo  =  $1,140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Object storage for audio, 1 TB at $23/mo  =  $276</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Load balancer and bandwidth, $45/mo  =  $540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Staging environment and backup storage  =  $1,200</a:t>
            </a:r>
            <a:endParaRPr b="0" i="0" sz="1000" u="none" cap="none" strike="noStrike">
              <a:solidFill>
                <a:schemeClr val="dk1"/>
              </a:solidFill>
              <a:latin typeface="Calibri"/>
              <a:ea typeface="Calibri"/>
              <a:cs typeface="Calibri"/>
              <a:sym typeface="Calibri"/>
            </a:endParaRPr>
          </a:p>
        </p:txBody>
      </p:sp>
      <p:sp>
        <p:nvSpPr>
          <p:cNvPr id="334" name="Google Shape;334;p10"/>
          <p:cNvSpPr/>
          <p:nvPr/>
        </p:nvSpPr>
        <p:spPr>
          <a:xfrm>
            <a:off x="9765792" y="1536192"/>
            <a:ext cx="2286000" cy="4480560"/>
          </a:xfrm>
          <a:prstGeom prst="roundRect">
            <a:avLst>
              <a:gd fmla="val 2400"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0"/>
          <p:cNvSpPr/>
          <p:nvPr/>
        </p:nvSpPr>
        <p:spPr>
          <a:xfrm>
            <a:off x="9966960" y="1700784"/>
            <a:ext cx="18836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050"/>
              <a:buFont typeface="Calibri"/>
              <a:buNone/>
            </a:pPr>
            <a:r>
              <a:rPr b="1" i="0" lang="en-US" sz="1050" u="none" cap="none" strike="noStrike">
                <a:solidFill>
                  <a:srgbClr val="2A3A78"/>
                </a:solidFill>
                <a:latin typeface="Calibri"/>
                <a:ea typeface="Calibri"/>
                <a:cs typeface="Calibri"/>
                <a:sym typeface="Calibri"/>
              </a:rPr>
              <a:t>SOFTWARE</a:t>
            </a:r>
            <a:endParaRPr b="0" i="0" sz="1050" u="none" cap="none" strike="noStrike">
              <a:solidFill>
                <a:schemeClr val="dk1"/>
              </a:solidFill>
              <a:latin typeface="Calibri"/>
              <a:ea typeface="Calibri"/>
              <a:cs typeface="Calibri"/>
              <a:sym typeface="Calibri"/>
            </a:endParaRPr>
          </a:p>
        </p:txBody>
      </p:sp>
      <p:sp>
        <p:nvSpPr>
          <p:cNvPr id="336" name="Google Shape;336;p10"/>
          <p:cNvSpPr/>
          <p:nvPr/>
        </p:nvSpPr>
        <p:spPr>
          <a:xfrm>
            <a:off x="9966960" y="1938528"/>
            <a:ext cx="1883664"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400"/>
              <a:buFont typeface="Cambria"/>
              <a:buNone/>
            </a:pPr>
            <a:r>
              <a:rPr b="1" i="0" lang="en-US" sz="2400" u="none" cap="none" strike="noStrike">
                <a:solidFill>
                  <a:srgbClr val="141B34"/>
                </a:solidFill>
                <a:latin typeface="Cambria"/>
                <a:ea typeface="Cambria"/>
                <a:cs typeface="Cambria"/>
                <a:sym typeface="Cambria"/>
              </a:rPr>
              <a:t>$9,843</a:t>
            </a:r>
            <a:endParaRPr b="0" i="0" sz="2400" u="none" cap="none" strike="noStrike">
              <a:solidFill>
                <a:schemeClr val="dk1"/>
              </a:solidFill>
              <a:latin typeface="Calibri"/>
              <a:ea typeface="Calibri"/>
              <a:cs typeface="Calibri"/>
              <a:sym typeface="Calibri"/>
            </a:endParaRPr>
          </a:p>
        </p:txBody>
      </p:sp>
      <p:sp>
        <p:nvSpPr>
          <p:cNvPr id="337" name="Google Shape;337;p10"/>
          <p:cNvSpPr/>
          <p:nvPr/>
        </p:nvSpPr>
        <p:spPr>
          <a:xfrm>
            <a:off x="9966960" y="2450592"/>
            <a:ext cx="1883664" cy="3383280"/>
          </a:xfrm>
          <a:prstGeom prst="rect">
            <a:avLst/>
          </a:prstGeom>
          <a:noFill/>
          <a:ln>
            <a:noFill/>
          </a:ln>
        </p:spPr>
        <p:txBody>
          <a:bodyPr anchorCtr="0" anchor="ctr" bIns="0" lIns="0" spcFirstLastPara="1" rIns="0" wrap="square" tIns="0">
            <a:noAutofit/>
          </a:bodyPr>
          <a:lstStyle/>
          <a:p>
            <a:pPr indent="-342900" lvl="0" marL="342900" marR="0" rtl="0" algn="l">
              <a:lnSpc>
                <a:spcPct val="125000"/>
              </a:lnSpc>
              <a:spcBef>
                <a:spcPts val="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LLM API usage, $0.09 per session at 60,000 sessions  =  $5,400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Speech to text, $0.006/min at 180,000 min  =  $1,080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Monitoring and error tracking  =  $1,428</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GitHub Team plus CI/CD minutes, 5 seats  =  $660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Figma Professional, 2 seats  =  $360</a:t>
            </a:r>
            <a:endParaRPr b="0" i="0" sz="1000" u="none" cap="none" strike="noStrike">
              <a:solidFill>
                <a:schemeClr val="dk1"/>
              </a:solidFill>
              <a:latin typeface="Calibri"/>
              <a:ea typeface="Calibri"/>
              <a:cs typeface="Calibri"/>
              <a:sym typeface="Calibri"/>
            </a:endParaRPr>
          </a:p>
          <a:p>
            <a:pPr indent="-342900" lvl="0" marL="342900" marR="0" rtl="0" algn="l">
              <a:lnSpc>
                <a:spcPct val="125000"/>
              </a:lnSpc>
              <a:spcBef>
                <a:spcPts val="700"/>
              </a:spcBef>
              <a:spcAft>
                <a:spcPts val="0"/>
              </a:spcAft>
              <a:buClr>
                <a:srgbClr val="2B2F42"/>
              </a:buClr>
              <a:buSzPts val="1000"/>
              <a:buFont typeface="Calibri"/>
              <a:buChar char="•"/>
            </a:pPr>
            <a:r>
              <a:rPr b="0" i="0" lang="en-US" sz="1000" u="none" cap="none" strike="noStrike">
                <a:solidFill>
                  <a:srgbClr val="2B2F42"/>
                </a:solidFill>
                <a:latin typeface="Calibri"/>
                <a:ea typeface="Calibri"/>
                <a:cs typeface="Calibri"/>
                <a:sym typeface="Calibri"/>
              </a:rPr>
              <a:t>IDE licenses, TLS certificate and domain  =  $915</a:t>
            </a:r>
            <a:endParaRPr b="0" i="0" sz="1000" u="none" cap="none" strike="noStrike">
              <a:solidFill>
                <a:schemeClr val="dk1"/>
              </a:solidFill>
              <a:latin typeface="Calibri"/>
              <a:ea typeface="Calibri"/>
              <a:cs typeface="Calibri"/>
              <a:sym typeface="Calibri"/>
            </a:endParaRPr>
          </a:p>
        </p:txBody>
      </p:sp>
      <p:sp>
        <p:nvSpPr>
          <p:cNvPr id="338" name="Google Shape;338;p10"/>
          <p:cNvSpPr/>
          <p:nvPr/>
        </p:nvSpPr>
        <p:spPr>
          <a:xfrm>
            <a:off x="566928" y="3913632"/>
            <a:ext cx="4114800" cy="2103120"/>
          </a:xfrm>
          <a:prstGeom prst="roundRect">
            <a:avLst>
              <a:gd fmla="val 2609"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
          <p:cNvSpPr/>
          <p:nvPr/>
        </p:nvSpPr>
        <p:spPr>
          <a:xfrm>
            <a:off x="804672" y="4078224"/>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Cost per function point</a:t>
            </a:r>
            <a:endParaRPr b="0" i="0" sz="1100" u="none" cap="none" strike="noStrike">
              <a:solidFill>
                <a:schemeClr val="dk1"/>
              </a:solidFill>
              <a:latin typeface="Calibri"/>
              <a:ea typeface="Calibri"/>
              <a:cs typeface="Calibri"/>
              <a:sym typeface="Calibri"/>
            </a:endParaRPr>
          </a:p>
        </p:txBody>
      </p:sp>
      <p:sp>
        <p:nvSpPr>
          <p:cNvPr id="340" name="Google Shape;340;p10"/>
          <p:cNvSpPr/>
          <p:nvPr/>
        </p:nvSpPr>
        <p:spPr>
          <a:xfrm>
            <a:off x="804672" y="4352544"/>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$833</a:t>
            </a:r>
            <a:endParaRPr b="0" i="0" sz="4200" u="none" cap="none" strike="noStrike">
              <a:solidFill>
                <a:schemeClr val="dk1"/>
              </a:solidFill>
              <a:latin typeface="Calibri"/>
              <a:ea typeface="Calibri"/>
              <a:cs typeface="Calibri"/>
              <a:sym typeface="Calibri"/>
            </a:endParaRPr>
          </a:p>
        </p:txBody>
      </p:sp>
      <p:sp>
        <p:nvSpPr>
          <p:cNvPr id="341" name="Google Shape;341;p10"/>
          <p:cNvSpPr/>
          <p:nvPr/>
        </p:nvSpPr>
        <p:spPr>
          <a:xfrm>
            <a:off x="804672" y="5120640"/>
            <a:ext cx="3657600" cy="7772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$128,243 total development cost divided by 154 adjusted function points. This is the figure we would carry forward to estimate any future release of the platform.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11"/>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Functional Requirements</a:t>
            </a:r>
            <a:endParaRPr b="0" i="0" sz="3000" u="none" cap="none" strike="noStrike">
              <a:solidFill>
                <a:schemeClr val="dk1"/>
              </a:solidFill>
              <a:latin typeface="Calibri"/>
              <a:ea typeface="Calibri"/>
              <a:cs typeface="Calibri"/>
              <a:sym typeface="Calibri"/>
            </a:endParaRPr>
          </a:p>
        </p:txBody>
      </p:sp>
      <p:sp>
        <p:nvSpPr>
          <p:cNvPr id="349" name="Google Shape;349;p11"/>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What the system must do</a:t>
            </a:r>
            <a:endParaRPr b="0" i="0" sz="1300" u="none" cap="none" strike="noStrike">
              <a:solidFill>
                <a:schemeClr val="dk1"/>
              </a:solidFill>
              <a:latin typeface="Calibri"/>
              <a:ea typeface="Calibri"/>
              <a:cs typeface="Calibri"/>
              <a:sym typeface="Calibri"/>
            </a:endParaRPr>
          </a:p>
        </p:txBody>
      </p:sp>
      <p:sp>
        <p:nvSpPr>
          <p:cNvPr id="350" name="Google Shape;350;p11"/>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351" name="Google Shape;351;p11"/>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352" name="Google Shape;352;p11"/>
          <p:cNvSpPr/>
          <p:nvPr/>
        </p:nvSpPr>
        <p:spPr>
          <a:xfrm>
            <a:off x="566928" y="1481328"/>
            <a:ext cx="5358384"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768096" y="1664208"/>
            <a:ext cx="713232" cy="310896"/>
          </a:xfrm>
          <a:prstGeom prst="roundRect">
            <a:avLst>
              <a:gd fmla="val 14706"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768096" y="1664208"/>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FR-1</a:t>
            </a:r>
            <a:endParaRPr b="0" i="0" sz="1150" u="none" cap="none" strike="noStrike">
              <a:solidFill>
                <a:schemeClr val="dk1"/>
              </a:solidFill>
              <a:latin typeface="Calibri"/>
              <a:ea typeface="Calibri"/>
              <a:cs typeface="Calibri"/>
              <a:sym typeface="Calibri"/>
            </a:endParaRPr>
          </a:p>
        </p:txBody>
      </p:sp>
      <p:sp>
        <p:nvSpPr>
          <p:cNvPr id="355" name="Google Shape;355;p11"/>
          <p:cNvSpPr/>
          <p:nvPr/>
        </p:nvSpPr>
        <p:spPr>
          <a:xfrm>
            <a:off x="1591056" y="1645920"/>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Accounts</a:t>
            </a:r>
            <a:endParaRPr b="0" i="0" sz="1400" u="none" cap="none" strike="noStrike">
              <a:solidFill>
                <a:schemeClr val="dk1"/>
              </a:solidFill>
              <a:latin typeface="Calibri"/>
              <a:ea typeface="Calibri"/>
              <a:cs typeface="Calibri"/>
              <a:sym typeface="Calibri"/>
            </a:endParaRPr>
          </a:p>
        </p:txBody>
      </p:sp>
      <p:sp>
        <p:nvSpPr>
          <p:cNvPr id="356" name="Google Shape;356;p11"/>
          <p:cNvSpPr/>
          <p:nvPr/>
        </p:nvSpPr>
        <p:spPr>
          <a:xfrm>
            <a:off x="768096" y="1993392"/>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Register with name, email and password, then log in and log out. Duplicate emails are rejected.</a:t>
            </a:r>
            <a:endParaRPr b="0" i="0" sz="1050" u="none" cap="none" strike="noStrike">
              <a:solidFill>
                <a:schemeClr val="dk1"/>
              </a:solidFill>
              <a:latin typeface="Calibri"/>
              <a:ea typeface="Calibri"/>
              <a:cs typeface="Calibri"/>
              <a:sym typeface="Calibri"/>
            </a:endParaRPr>
          </a:p>
        </p:txBody>
      </p:sp>
      <p:sp>
        <p:nvSpPr>
          <p:cNvPr id="357" name="Google Shape;357;p11"/>
          <p:cNvSpPr/>
          <p:nvPr/>
        </p:nvSpPr>
        <p:spPr>
          <a:xfrm>
            <a:off x="566928" y="2651760"/>
            <a:ext cx="5358384"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768096" y="2834640"/>
            <a:ext cx="713232" cy="310896"/>
          </a:xfrm>
          <a:prstGeom prst="roundRect">
            <a:avLst>
              <a:gd fmla="val 14706"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768096" y="2834640"/>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FR-2</a:t>
            </a:r>
            <a:endParaRPr b="0" i="0" sz="1150" u="none" cap="none" strike="noStrike">
              <a:solidFill>
                <a:schemeClr val="dk1"/>
              </a:solidFill>
              <a:latin typeface="Calibri"/>
              <a:ea typeface="Calibri"/>
              <a:cs typeface="Calibri"/>
              <a:sym typeface="Calibri"/>
            </a:endParaRPr>
          </a:p>
        </p:txBody>
      </p:sp>
      <p:sp>
        <p:nvSpPr>
          <p:cNvPr id="360" name="Google Shape;360;p11"/>
          <p:cNvSpPr/>
          <p:nvPr/>
        </p:nvSpPr>
        <p:spPr>
          <a:xfrm>
            <a:off x="1591056" y="2816352"/>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Start a session</a:t>
            </a:r>
            <a:endParaRPr b="0" i="0" sz="1400" u="none" cap="none" strike="noStrike">
              <a:solidFill>
                <a:schemeClr val="dk1"/>
              </a:solidFill>
              <a:latin typeface="Calibri"/>
              <a:ea typeface="Calibri"/>
              <a:cs typeface="Calibri"/>
              <a:sym typeface="Calibri"/>
            </a:endParaRPr>
          </a:p>
        </p:txBody>
      </p:sp>
      <p:sp>
        <p:nvSpPr>
          <p:cNvPr id="361" name="Google Shape;361;p11"/>
          <p:cNvSpPr/>
          <p:nvPr/>
        </p:nvSpPr>
        <p:spPr>
          <a:xfrm>
            <a:off x="768096" y="3163824"/>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 logged in student starts a mock behavioral interview by choosing a target job role and a difficulty level.</a:t>
            </a:r>
            <a:endParaRPr b="0" i="0" sz="1050" u="none" cap="none" strike="noStrike">
              <a:solidFill>
                <a:schemeClr val="dk1"/>
              </a:solidFill>
              <a:latin typeface="Calibri"/>
              <a:ea typeface="Calibri"/>
              <a:cs typeface="Calibri"/>
              <a:sym typeface="Calibri"/>
            </a:endParaRPr>
          </a:p>
        </p:txBody>
      </p:sp>
      <p:sp>
        <p:nvSpPr>
          <p:cNvPr id="362" name="Google Shape;362;p11"/>
          <p:cNvSpPr/>
          <p:nvPr/>
        </p:nvSpPr>
        <p:spPr>
          <a:xfrm>
            <a:off x="566928" y="3822192"/>
            <a:ext cx="5358384"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768096" y="4005072"/>
            <a:ext cx="713232" cy="310896"/>
          </a:xfrm>
          <a:prstGeom prst="roundRect">
            <a:avLst>
              <a:gd fmla="val 14706"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768096" y="4005072"/>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FR-3</a:t>
            </a:r>
            <a:endParaRPr b="0" i="0" sz="1150" u="none" cap="none" strike="noStrike">
              <a:solidFill>
                <a:schemeClr val="dk1"/>
              </a:solidFill>
              <a:latin typeface="Calibri"/>
              <a:ea typeface="Calibri"/>
              <a:cs typeface="Calibri"/>
              <a:sym typeface="Calibri"/>
            </a:endParaRPr>
          </a:p>
        </p:txBody>
      </p:sp>
      <p:sp>
        <p:nvSpPr>
          <p:cNvPr id="365" name="Google Shape;365;p11"/>
          <p:cNvSpPr/>
          <p:nvPr/>
        </p:nvSpPr>
        <p:spPr>
          <a:xfrm>
            <a:off x="1591056" y="3986784"/>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Generate questions</a:t>
            </a:r>
            <a:endParaRPr b="0" i="0" sz="1400" u="none" cap="none" strike="noStrike">
              <a:solidFill>
                <a:schemeClr val="dk1"/>
              </a:solidFill>
              <a:latin typeface="Calibri"/>
              <a:ea typeface="Calibri"/>
              <a:cs typeface="Calibri"/>
              <a:sym typeface="Calibri"/>
            </a:endParaRPr>
          </a:p>
        </p:txBody>
      </p:sp>
      <p:sp>
        <p:nvSpPr>
          <p:cNvPr id="366" name="Google Shape;366;p11"/>
          <p:cNvSpPr/>
          <p:nvPr/>
        </p:nvSpPr>
        <p:spPr>
          <a:xfrm>
            <a:off x="768096" y="4334256"/>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The AI engine generates at least five behavioral questions per session, including adaptive follow ups based on the previous answer.</a:t>
            </a:r>
            <a:endParaRPr b="0" i="0" sz="1050" u="none" cap="none" strike="noStrike">
              <a:solidFill>
                <a:schemeClr val="dk1"/>
              </a:solidFill>
              <a:latin typeface="Calibri"/>
              <a:ea typeface="Calibri"/>
              <a:cs typeface="Calibri"/>
              <a:sym typeface="Calibri"/>
            </a:endParaRPr>
          </a:p>
        </p:txBody>
      </p:sp>
      <p:sp>
        <p:nvSpPr>
          <p:cNvPr id="367" name="Google Shape;367;p11"/>
          <p:cNvSpPr/>
          <p:nvPr/>
        </p:nvSpPr>
        <p:spPr>
          <a:xfrm>
            <a:off x="566928" y="4992624"/>
            <a:ext cx="5358384"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768096" y="5175504"/>
            <a:ext cx="713232" cy="310896"/>
          </a:xfrm>
          <a:prstGeom prst="roundRect">
            <a:avLst>
              <a:gd fmla="val 14706"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768096" y="5175504"/>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FR-4</a:t>
            </a:r>
            <a:endParaRPr b="0" i="0" sz="1150" u="none" cap="none" strike="noStrike">
              <a:solidFill>
                <a:schemeClr val="dk1"/>
              </a:solidFill>
              <a:latin typeface="Calibri"/>
              <a:ea typeface="Calibri"/>
              <a:cs typeface="Calibri"/>
              <a:sym typeface="Calibri"/>
            </a:endParaRPr>
          </a:p>
        </p:txBody>
      </p:sp>
      <p:sp>
        <p:nvSpPr>
          <p:cNvPr id="370" name="Google Shape;370;p11"/>
          <p:cNvSpPr/>
          <p:nvPr/>
        </p:nvSpPr>
        <p:spPr>
          <a:xfrm>
            <a:off x="1591056" y="5157216"/>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Answer input</a:t>
            </a:r>
            <a:endParaRPr b="0" i="0" sz="1400" u="none" cap="none" strike="noStrike">
              <a:solidFill>
                <a:schemeClr val="dk1"/>
              </a:solidFill>
              <a:latin typeface="Calibri"/>
              <a:ea typeface="Calibri"/>
              <a:cs typeface="Calibri"/>
              <a:sym typeface="Calibri"/>
            </a:endParaRPr>
          </a:p>
        </p:txBody>
      </p:sp>
      <p:sp>
        <p:nvSpPr>
          <p:cNvPr id="371" name="Google Shape;371;p11"/>
          <p:cNvSpPr/>
          <p:nvPr/>
        </p:nvSpPr>
        <p:spPr>
          <a:xfrm>
            <a:off x="768096" y="5504688"/>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Answers are accepted as typed text or recorded audio. Audio is transcribed to text before any analysis.</a:t>
            </a:r>
            <a:endParaRPr b="0" i="0" sz="1050" u="none" cap="none" strike="noStrike">
              <a:solidFill>
                <a:schemeClr val="dk1"/>
              </a:solidFill>
              <a:latin typeface="Calibri"/>
              <a:ea typeface="Calibri"/>
              <a:cs typeface="Calibri"/>
              <a:sym typeface="Calibri"/>
            </a:endParaRPr>
          </a:p>
        </p:txBody>
      </p:sp>
      <p:sp>
        <p:nvSpPr>
          <p:cNvPr id="372" name="Google Shape;372;p11"/>
          <p:cNvSpPr/>
          <p:nvPr/>
        </p:nvSpPr>
        <p:spPr>
          <a:xfrm>
            <a:off x="6236208" y="1481328"/>
            <a:ext cx="5358384" cy="1060704"/>
          </a:xfrm>
          <a:prstGeom prst="roundRect">
            <a:avLst>
              <a:gd fmla="val 5172"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6437376" y="1664208"/>
            <a:ext cx="713232" cy="310896"/>
          </a:xfrm>
          <a:prstGeom prst="roundRect">
            <a:avLst>
              <a:gd fmla="val 14706"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6437376" y="1664208"/>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150"/>
              <a:buFont typeface="Calibri"/>
              <a:buNone/>
            </a:pPr>
            <a:r>
              <a:rPr b="1" i="0" lang="en-US" sz="1150" u="none" cap="none" strike="noStrike">
                <a:solidFill>
                  <a:srgbClr val="141B34"/>
                </a:solidFill>
                <a:latin typeface="Calibri"/>
                <a:ea typeface="Calibri"/>
                <a:cs typeface="Calibri"/>
                <a:sym typeface="Calibri"/>
              </a:rPr>
              <a:t>FR-5</a:t>
            </a:r>
            <a:endParaRPr b="0" i="0" sz="1150" u="none" cap="none" strike="noStrike">
              <a:solidFill>
                <a:schemeClr val="dk1"/>
              </a:solidFill>
              <a:latin typeface="Calibri"/>
              <a:ea typeface="Calibri"/>
              <a:cs typeface="Calibri"/>
              <a:sym typeface="Calibri"/>
            </a:endParaRPr>
          </a:p>
        </p:txBody>
      </p:sp>
      <p:sp>
        <p:nvSpPr>
          <p:cNvPr id="375" name="Google Shape;375;p11"/>
          <p:cNvSpPr/>
          <p:nvPr/>
        </p:nvSpPr>
        <p:spPr>
          <a:xfrm>
            <a:off x="7260336" y="1645920"/>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Feedback report</a:t>
            </a:r>
            <a:endParaRPr b="0" i="0" sz="1400" u="none" cap="none" strike="noStrike">
              <a:solidFill>
                <a:schemeClr val="dk1"/>
              </a:solidFill>
              <a:latin typeface="Calibri"/>
              <a:ea typeface="Calibri"/>
              <a:cs typeface="Calibri"/>
              <a:sym typeface="Calibri"/>
            </a:endParaRPr>
          </a:p>
        </p:txBody>
      </p:sp>
      <p:sp>
        <p:nvSpPr>
          <p:cNvPr id="376" name="Google Shape;376;p11"/>
          <p:cNvSpPr/>
          <p:nvPr/>
        </p:nvSpPr>
        <p:spPr>
          <a:xfrm>
            <a:off x="6437376" y="1993392"/>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On completion, each answer is scored on STAR structure, clarity and confidence, giving an overall 0 to 100 score with written suggestions.</a:t>
            </a:r>
            <a:endParaRPr b="0" i="0" sz="1050" u="none" cap="none" strike="noStrike">
              <a:solidFill>
                <a:schemeClr val="dk1"/>
              </a:solidFill>
              <a:latin typeface="Calibri"/>
              <a:ea typeface="Calibri"/>
              <a:cs typeface="Calibri"/>
              <a:sym typeface="Calibri"/>
            </a:endParaRPr>
          </a:p>
        </p:txBody>
      </p:sp>
      <p:sp>
        <p:nvSpPr>
          <p:cNvPr id="377" name="Google Shape;377;p11"/>
          <p:cNvSpPr/>
          <p:nvPr/>
        </p:nvSpPr>
        <p:spPr>
          <a:xfrm>
            <a:off x="6236208" y="2651760"/>
            <a:ext cx="5358384"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6437376" y="2834640"/>
            <a:ext cx="713232" cy="310896"/>
          </a:xfrm>
          <a:prstGeom prst="roundRect">
            <a:avLst>
              <a:gd fmla="val 14706"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6437376" y="2834640"/>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FR-6</a:t>
            </a:r>
            <a:endParaRPr b="0" i="0" sz="1150" u="none" cap="none" strike="noStrike">
              <a:solidFill>
                <a:schemeClr val="dk1"/>
              </a:solidFill>
              <a:latin typeface="Calibri"/>
              <a:ea typeface="Calibri"/>
              <a:cs typeface="Calibri"/>
              <a:sym typeface="Calibri"/>
            </a:endParaRPr>
          </a:p>
        </p:txBody>
      </p:sp>
      <p:sp>
        <p:nvSpPr>
          <p:cNvPr id="380" name="Google Shape;380;p11"/>
          <p:cNvSpPr/>
          <p:nvPr/>
        </p:nvSpPr>
        <p:spPr>
          <a:xfrm>
            <a:off x="7260336" y="2816352"/>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Progress history</a:t>
            </a:r>
            <a:endParaRPr b="0" i="0" sz="1400" u="none" cap="none" strike="noStrike">
              <a:solidFill>
                <a:schemeClr val="dk1"/>
              </a:solidFill>
              <a:latin typeface="Calibri"/>
              <a:ea typeface="Calibri"/>
              <a:cs typeface="Calibri"/>
              <a:sym typeface="Calibri"/>
            </a:endParaRPr>
          </a:p>
        </p:txBody>
      </p:sp>
      <p:sp>
        <p:nvSpPr>
          <p:cNvPr id="381" name="Google Shape;381;p11"/>
          <p:cNvSpPr/>
          <p:nvPr/>
        </p:nvSpPr>
        <p:spPr>
          <a:xfrm>
            <a:off x="6437376" y="3163824"/>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Every completed session and report is stored, and the dashboard displays history and score trends over time.</a:t>
            </a:r>
            <a:endParaRPr b="0" i="0" sz="1050" u="none" cap="none" strike="noStrike">
              <a:solidFill>
                <a:schemeClr val="dk1"/>
              </a:solidFill>
              <a:latin typeface="Calibri"/>
              <a:ea typeface="Calibri"/>
              <a:cs typeface="Calibri"/>
              <a:sym typeface="Calibri"/>
            </a:endParaRPr>
          </a:p>
        </p:txBody>
      </p:sp>
      <p:sp>
        <p:nvSpPr>
          <p:cNvPr id="382" name="Google Shape;382;p11"/>
          <p:cNvSpPr/>
          <p:nvPr/>
        </p:nvSpPr>
        <p:spPr>
          <a:xfrm>
            <a:off x="6236208" y="3822192"/>
            <a:ext cx="5358384"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6437376" y="4005072"/>
            <a:ext cx="713232" cy="310896"/>
          </a:xfrm>
          <a:prstGeom prst="roundRect">
            <a:avLst>
              <a:gd fmla="val 14706"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6437376" y="4005072"/>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FR-7</a:t>
            </a:r>
            <a:endParaRPr b="0" i="0" sz="1150" u="none" cap="none" strike="noStrike">
              <a:solidFill>
                <a:schemeClr val="dk1"/>
              </a:solidFill>
              <a:latin typeface="Calibri"/>
              <a:ea typeface="Calibri"/>
              <a:cs typeface="Calibri"/>
              <a:sym typeface="Calibri"/>
            </a:endParaRPr>
          </a:p>
        </p:txBody>
      </p:sp>
      <p:sp>
        <p:nvSpPr>
          <p:cNvPr id="385" name="Google Shape;385;p11"/>
          <p:cNvSpPr/>
          <p:nvPr/>
        </p:nvSpPr>
        <p:spPr>
          <a:xfrm>
            <a:off x="7260336" y="3986784"/>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400"/>
              <a:buFont typeface="Calibri"/>
              <a:buNone/>
            </a:pPr>
            <a:r>
              <a:rPr b="1" i="0" lang="en-US" sz="1400" u="none" cap="none" strike="noStrike">
                <a:solidFill>
                  <a:srgbClr val="141B34"/>
                </a:solidFill>
                <a:latin typeface="Calibri"/>
                <a:ea typeface="Calibri"/>
                <a:cs typeface="Calibri"/>
                <a:sym typeface="Calibri"/>
              </a:rPr>
              <a:t>Question bank admin</a:t>
            </a:r>
            <a:endParaRPr b="0" i="0" sz="1400" u="none" cap="none" strike="noStrike">
              <a:solidFill>
                <a:schemeClr val="dk1"/>
              </a:solidFill>
              <a:latin typeface="Calibri"/>
              <a:ea typeface="Calibri"/>
              <a:cs typeface="Calibri"/>
              <a:sym typeface="Calibri"/>
            </a:endParaRPr>
          </a:p>
        </p:txBody>
      </p:sp>
      <p:sp>
        <p:nvSpPr>
          <p:cNvPr id="386" name="Google Shape;386;p11"/>
          <p:cNvSpPr/>
          <p:nvPr/>
        </p:nvSpPr>
        <p:spPr>
          <a:xfrm>
            <a:off x="6437376" y="4334256"/>
            <a:ext cx="4956048" cy="493776"/>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An administrator can add, edit and remove questions and question categories in the question bank.</a:t>
            </a:r>
            <a:endParaRPr b="0" i="0" sz="1050" u="none" cap="none" strike="noStrike">
              <a:solidFill>
                <a:schemeClr val="dk1"/>
              </a:solidFill>
              <a:latin typeface="Calibri"/>
              <a:ea typeface="Calibri"/>
              <a:cs typeface="Calibri"/>
              <a:sym typeface="Calibri"/>
            </a:endParaRPr>
          </a:p>
        </p:txBody>
      </p:sp>
      <p:sp>
        <p:nvSpPr>
          <p:cNvPr id="387" name="Google Shape;387;p11"/>
          <p:cNvSpPr/>
          <p:nvPr/>
        </p:nvSpPr>
        <p:spPr>
          <a:xfrm>
            <a:off x="6236208" y="4992624"/>
            <a:ext cx="5358384" cy="1060704"/>
          </a:xfrm>
          <a:prstGeom prst="roundRect">
            <a:avLst>
              <a:gd fmla="val 5172"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a:off x="6437376" y="5138928"/>
            <a:ext cx="495604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300"/>
              <a:buFont typeface="Calibri"/>
              <a:buNone/>
            </a:pPr>
            <a:r>
              <a:rPr b="1" i="0" lang="en-US" sz="1300" u="none" cap="none" strike="noStrike">
                <a:solidFill>
                  <a:srgbClr val="F2A65A"/>
                </a:solidFill>
                <a:latin typeface="Calibri"/>
                <a:ea typeface="Calibri"/>
                <a:cs typeface="Calibri"/>
                <a:sym typeface="Calibri"/>
              </a:rPr>
              <a:t>FR-5 is the core of the product</a:t>
            </a:r>
            <a:endParaRPr b="0" i="0" sz="1300" u="none" cap="none" strike="noStrike">
              <a:solidFill>
                <a:schemeClr val="dk1"/>
              </a:solidFill>
              <a:latin typeface="Calibri"/>
              <a:ea typeface="Calibri"/>
              <a:cs typeface="Calibri"/>
              <a:sym typeface="Calibri"/>
            </a:endParaRPr>
          </a:p>
        </p:txBody>
      </p:sp>
      <p:sp>
        <p:nvSpPr>
          <p:cNvPr id="389" name="Google Shape;389;p11"/>
          <p:cNvSpPr/>
          <p:nvPr/>
        </p:nvSpPr>
        <p:spPr>
          <a:xfrm>
            <a:off x="6437376" y="5431536"/>
            <a:ext cx="4956048" cy="512064"/>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It is the requirement our unit test targets, and the one that separates Interview Lens from tools that only replay questions.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12"/>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Non-Functional Requirements</a:t>
            </a:r>
            <a:endParaRPr b="0" i="0" sz="3000" u="none" cap="none" strike="noStrike">
              <a:solidFill>
                <a:schemeClr val="dk1"/>
              </a:solidFill>
              <a:latin typeface="Calibri"/>
              <a:ea typeface="Calibri"/>
              <a:cs typeface="Calibri"/>
              <a:sym typeface="Calibri"/>
            </a:endParaRPr>
          </a:p>
        </p:txBody>
      </p:sp>
      <p:sp>
        <p:nvSpPr>
          <p:cNvPr id="397" name="Google Shape;397;p12"/>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Representative items from the twelve NFRs, one per required type</a:t>
            </a:r>
            <a:endParaRPr b="0" i="0" sz="1300" u="none" cap="none" strike="noStrike">
              <a:solidFill>
                <a:schemeClr val="dk1"/>
              </a:solidFill>
              <a:latin typeface="Calibri"/>
              <a:ea typeface="Calibri"/>
              <a:cs typeface="Calibri"/>
              <a:sym typeface="Calibri"/>
            </a:endParaRPr>
          </a:p>
        </p:txBody>
      </p:sp>
      <p:sp>
        <p:nvSpPr>
          <p:cNvPr id="398" name="Google Shape;398;p12"/>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399" name="Google Shape;399;p12"/>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400" name="Google Shape;400;p12"/>
          <p:cNvSpPr/>
          <p:nvPr/>
        </p:nvSpPr>
        <p:spPr>
          <a:xfrm>
            <a:off x="566928" y="146304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p:nvPr/>
        </p:nvSpPr>
        <p:spPr>
          <a:xfrm>
            <a:off x="749808" y="159105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NFR-1</a:t>
            </a:r>
            <a:endParaRPr b="0" i="0" sz="1100" u="none" cap="none" strike="noStrike">
              <a:solidFill>
                <a:schemeClr val="dk1"/>
              </a:solidFill>
              <a:latin typeface="Calibri"/>
              <a:ea typeface="Calibri"/>
              <a:cs typeface="Calibri"/>
              <a:sym typeface="Calibri"/>
            </a:endParaRPr>
          </a:p>
        </p:txBody>
      </p:sp>
      <p:sp>
        <p:nvSpPr>
          <p:cNvPr id="402" name="Google Shape;402;p12"/>
          <p:cNvSpPr/>
          <p:nvPr/>
        </p:nvSpPr>
        <p:spPr>
          <a:xfrm>
            <a:off x="1527048" y="159105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Usability</a:t>
            </a:r>
            <a:endParaRPr b="0" i="0" sz="1300" u="none" cap="none" strike="noStrike">
              <a:solidFill>
                <a:schemeClr val="dk1"/>
              </a:solidFill>
              <a:latin typeface="Calibri"/>
              <a:ea typeface="Calibri"/>
              <a:cs typeface="Calibri"/>
              <a:sym typeface="Calibri"/>
            </a:endParaRPr>
          </a:p>
        </p:txBody>
      </p:sp>
      <p:sp>
        <p:nvSpPr>
          <p:cNvPr id="403" name="Google Shape;403;p12"/>
          <p:cNvSpPr/>
          <p:nvPr/>
        </p:nvSpPr>
        <p:spPr>
          <a:xfrm>
            <a:off x="749808" y="190195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 first time user creates an account and starts their first interview in under 3 minutes with no training.</a:t>
            </a:r>
            <a:endParaRPr b="0" i="0" sz="1050" u="none" cap="none" strike="noStrike">
              <a:solidFill>
                <a:schemeClr val="dk1"/>
              </a:solidFill>
              <a:latin typeface="Calibri"/>
              <a:ea typeface="Calibri"/>
              <a:cs typeface="Calibri"/>
              <a:sym typeface="Calibri"/>
            </a:endParaRPr>
          </a:p>
        </p:txBody>
      </p:sp>
      <p:sp>
        <p:nvSpPr>
          <p:cNvPr id="404" name="Google Shape;404;p12"/>
          <p:cNvSpPr/>
          <p:nvPr/>
        </p:nvSpPr>
        <p:spPr>
          <a:xfrm>
            <a:off x="4306824" y="146304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4489704" y="159105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NFR-2</a:t>
            </a:r>
            <a:endParaRPr b="0" i="0" sz="1100" u="none" cap="none" strike="noStrike">
              <a:solidFill>
                <a:schemeClr val="dk1"/>
              </a:solidFill>
              <a:latin typeface="Calibri"/>
              <a:ea typeface="Calibri"/>
              <a:cs typeface="Calibri"/>
              <a:sym typeface="Calibri"/>
            </a:endParaRPr>
          </a:p>
        </p:txBody>
      </p:sp>
      <p:sp>
        <p:nvSpPr>
          <p:cNvPr id="406" name="Google Shape;406;p12"/>
          <p:cNvSpPr/>
          <p:nvPr/>
        </p:nvSpPr>
        <p:spPr>
          <a:xfrm>
            <a:off x="5266944" y="159105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Performance</a:t>
            </a:r>
            <a:endParaRPr b="0" i="0" sz="1300" u="none" cap="none" strike="noStrike">
              <a:solidFill>
                <a:schemeClr val="dk1"/>
              </a:solidFill>
              <a:latin typeface="Calibri"/>
              <a:ea typeface="Calibri"/>
              <a:cs typeface="Calibri"/>
              <a:sym typeface="Calibri"/>
            </a:endParaRPr>
          </a:p>
        </p:txBody>
      </p:sp>
      <p:sp>
        <p:nvSpPr>
          <p:cNvPr id="407" name="Google Shape;407;p12"/>
          <p:cNvSpPr/>
          <p:nvPr/>
        </p:nvSpPr>
        <p:spPr>
          <a:xfrm>
            <a:off x="4489704" y="190195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Next question within 2 seconds, full feedback report within 15 seconds, for 95% of requests under normal load.</a:t>
            </a:r>
            <a:endParaRPr b="0" i="0" sz="1050" u="none" cap="none" strike="noStrike">
              <a:solidFill>
                <a:schemeClr val="dk1"/>
              </a:solidFill>
              <a:latin typeface="Calibri"/>
              <a:ea typeface="Calibri"/>
              <a:cs typeface="Calibri"/>
              <a:sym typeface="Calibri"/>
            </a:endParaRPr>
          </a:p>
        </p:txBody>
      </p:sp>
      <p:sp>
        <p:nvSpPr>
          <p:cNvPr id="408" name="Google Shape;408;p12"/>
          <p:cNvSpPr/>
          <p:nvPr/>
        </p:nvSpPr>
        <p:spPr>
          <a:xfrm>
            <a:off x="8046720" y="146304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2"/>
          <p:cNvSpPr/>
          <p:nvPr/>
        </p:nvSpPr>
        <p:spPr>
          <a:xfrm>
            <a:off x="8229600" y="159105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NFR-3</a:t>
            </a:r>
            <a:endParaRPr b="0" i="0" sz="1100" u="none" cap="none" strike="noStrike">
              <a:solidFill>
                <a:schemeClr val="dk1"/>
              </a:solidFill>
              <a:latin typeface="Calibri"/>
              <a:ea typeface="Calibri"/>
              <a:cs typeface="Calibri"/>
              <a:sym typeface="Calibri"/>
            </a:endParaRPr>
          </a:p>
        </p:txBody>
      </p:sp>
      <p:sp>
        <p:nvSpPr>
          <p:cNvPr id="410" name="Google Shape;410;p12"/>
          <p:cNvSpPr/>
          <p:nvPr/>
        </p:nvSpPr>
        <p:spPr>
          <a:xfrm>
            <a:off x="9006840" y="159105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Space</a:t>
            </a:r>
            <a:endParaRPr b="0" i="0" sz="1300" u="none" cap="none" strike="noStrike">
              <a:solidFill>
                <a:schemeClr val="dk1"/>
              </a:solidFill>
              <a:latin typeface="Calibri"/>
              <a:ea typeface="Calibri"/>
              <a:cs typeface="Calibri"/>
              <a:sym typeface="Calibri"/>
            </a:endParaRPr>
          </a:p>
        </p:txBody>
      </p:sp>
      <p:sp>
        <p:nvSpPr>
          <p:cNvPr id="411" name="Google Shape;411;p12"/>
          <p:cNvSpPr/>
          <p:nvPr/>
        </p:nvSpPr>
        <p:spPr>
          <a:xfrm>
            <a:off x="8229600" y="190195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Web bundle at most 5 MB. A completed session, transcript plus report, averages at most 2 MB of storage.</a:t>
            </a:r>
            <a:endParaRPr b="0" i="0" sz="1050" u="none" cap="none" strike="noStrike">
              <a:solidFill>
                <a:schemeClr val="dk1"/>
              </a:solidFill>
              <a:latin typeface="Calibri"/>
              <a:ea typeface="Calibri"/>
              <a:cs typeface="Calibri"/>
              <a:sym typeface="Calibri"/>
            </a:endParaRPr>
          </a:p>
        </p:txBody>
      </p:sp>
      <p:sp>
        <p:nvSpPr>
          <p:cNvPr id="412" name="Google Shape;412;p12"/>
          <p:cNvSpPr/>
          <p:nvPr/>
        </p:nvSpPr>
        <p:spPr>
          <a:xfrm>
            <a:off x="566928" y="269748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749808" y="282549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NFR-4</a:t>
            </a:r>
            <a:endParaRPr b="0" i="0" sz="1100" u="none" cap="none" strike="noStrike">
              <a:solidFill>
                <a:schemeClr val="dk1"/>
              </a:solidFill>
              <a:latin typeface="Calibri"/>
              <a:ea typeface="Calibri"/>
              <a:cs typeface="Calibri"/>
              <a:sym typeface="Calibri"/>
            </a:endParaRPr>
          </a:p>
        </p:txBody>
      </p:sp>
      <p:sp>
        <p:nvSpPr>
          <p:cNvPr id="414" name="Google Shape;414;p12"/>
          <p:cNvSpPr/>
          <p:nvPr/>
        </p:nvSpPr>
        <p:spPr>
          <a:xfrm>
            <a:off x="1527048" y="282549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Dependability</a:t>
            </a:r>
            <a:endParaRPr b="0" i="0" sz="1300" u="none" cap="none" strike="noStrike">
              <a:solidFill>
                <a:schemeClr val="dk1"/>
              </a:solidFill>
              <a:latin typeface="Calibri"/>
              <a:ea typeface="Calibri"/>
              <a:cs typeface="Calibri"/>
              <a:sym typeface="Calibri"/>
            </a:endParaRPr>
          </a:p>
        </p:txBody>
      </p:sp>
      <p:sp>
        <p:nvSpPr>
          <p:cNvPr id="415" name="Google Shape;415;p12"/>
          <p:cNvSpPr/>
          <p:nvPr/>
        </p:nvSpPr>
        <p:spPr>
          <a:xfrm>
            <a:off x="749808" y="313639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At least 99.5% monthly availability. Every answer autosaves on submit, so a crash loses at most the answer in progress.</a:t>
            </a:r>
            <a:endParaRPr b="0" i="0" sz="1050" u="none" cap="none" strike="noStrike">
              <a:solidFill>
                <a:schemeClr val="dk1"/>
              </a:solidFill>
              <a:latin typeface="Calibri"/>
              <a:ea typeface="Calibri"/>
              <a:cs typeface="Calibri"/>
              <a:sym typeface="Calibri"/>
            </a:endParaRPr>
          </a:p>
        </p:txBody>
      </p:sp>
      <p:sp>
        <p:nvSpPr>
          <p:cNvPr id="416" name="Google Shape;416;p12"/>
          <p:cNvSpPr/>
          <p:nvPr/>
        </p:nvSpPr>
        <p:spPr>
          <a:xfrm>
            <a:off x="4306824" y="269748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4489704" y="282549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NFR-5</a:t>
            </a:r>
            <a:endParaRPr b="0" i="0" sz="1100" u="none" cap="none" strike="noStrike">
              <a:solidFill>
                <a:schemeClr val="dk1"/>
              </a:solidFill>
              <a:latin typeface="Calibri"/>
              <a:ea typeface="Calibri"/>
              <a:cs typeface="Calibri"/>
              <a:sym typeface="Calibri"/>
            </a:endParaRPr>
          </a:p>
        </p:txBody>
      </p:sp>
      <p:sp>
        <p:nvSpPr>
          <p:cNvPr id="418" name="Google Shape;418;p12"/>
          <p:cNvSpPr/>
          <p:nvPr/>
        </p:nvSpPr>
        <p:spPr>
          <a:xfrm>
            <a:off x="5266944" y="282549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Security</a:t>
            </a:r>
            <a:endParaRPr b="0" i="0" sz="1300" u="none" cap="none" strike="noStrike">
              <a:solidFill>
                <a:schemeClr val="dk1"/>
              </a:solidFill>
              <a:latin typeface="Calibri"/>
              <a:ea typeface="Calibri"/>
              <a:cs typeface="Calibri"/>
              <a:sym typeface="Calibri"/>
            </a:endParaRPr>
          </a:p>
        </p:txBody>
      </p:sp>
      <p:sp>
        <p:nvSpPr>
          <p:cNvPr id="419" name="Google Shape;419;p12"/>
          <p:cNvSpPr/>
          <p:nvPr/>
        </p:nvSpPr>
        <p:spPr>
          <a:xfrm>
            <a:off x="4489704" y="313639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TLS 1.2 or higher, bcrypt password hashes, 24 hour session token expiry, and role based access control.</a:t>
            </a:r>
            <a:endParaRPr b="0" i="0" sz="1050" u="none" cap="none" strike="noStrike">
              <a:solidFill>
                <a:schemeClr val="dk1"/>
              </a:solidFill>
              <a:latin typeface="Calibri"/>
              <a:ea typeface="Calibri"/>
              <a:cs typeface="Calibri"/>
              <a:sym typeface="Calibri"/>
            </a:endParaRPr>
          </a:p>
        </p:txBody>
      </p:sp>
      <p:sp>
        <p:nvSpPr>
          <p:cNvPr id="420" name="Google Shape;420;p12"/>
          <p:cNvSpPr/>
          <p:nvPr/>
        </p:nvSpPr>
        <p:spPr>
          <a:xfrm>
            <a:off x="8046720" y="269748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8229600" y="282549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NFR-6</a:t>
            </a:r>
            <a:endParaRPr b="0" i="0" sz="1100" u="none" cap="none" strike="noStrike">
              <a:solidFill>
                <a:schemeClr val="dk1"/>
              </a:solidFill>
              <a:latin typeface="Calibri"/>
              <a:ea typeface="Calibri"/>
              <a:cs typeface="Calibri"/>
              <a:sym typeface="Calibri"/>
            </a:endParaRPr>
          </a:p>
        </p:txBody>
      </p:sp>
      <p:sp>
        <p:nvSpPr>
          <p:cNvPr id="422" name="Google Shape;422;p12"/>
          <p:cNvSpPr/>
          <p:nvPr/>
        </p:nvSpPr>
        <p:spPr>
          <a:xfrm>
            <a:off x="9006840" y="282549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Environmental</a:t>
            </a:r>
            <a:endParaRPr b="0" i="0" sz="1300" u="none" cap="none" strike="noStrike">
              <a:solidFill>
                <a:schemeClr val="dk1"/>
              </a:solidFill>
              <a:latin typeface="Calibri"/>
              <a:ea typeface="Calibri"/>
              <a:cs typeface="Calibri"/>
              <a:sym typeface="Calibri"/>
            </a:endParaRPr>
          </a:p>
        </p:txBody>
      </p:sp>
      <p:sp>
        <p:nvSpPr>
          <p:cNvPr id="423" name="Google Shape;423;p12"/>
          <p:cNvSpPr/>
          <p:nvPr/>
        </p:nvSpPr>
        <p:spPr>
          <a:xfrm>
            <a:off x="8229600" y="313639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Runs in the two most recent versions of Chrome, Firefox, Safari and Edge, desktop and mobile, with no local install.</a:t>
            </a:r>
            <a:endParaRPr b="0" i="0" sz="1050" u="none" cap="none" strike="noStrike">
              <a:solidFill>
                <a:schemeClr val="dk1"/>
              </a:solidFill>
              <a:latin typeface="Calibri"/>
              <a:ea typeface="Calibri"/>
              <a:cs typeface="Calibri"/>
              <a:sym typeface="Calibri"/>
            </a:endParaRPr>
          </a:p>
        </p:txBody>
      </p:sp>
      <p:sp>
        <p:nvSpPr>
          <p:cNvPr id="424" name="Google Shape;424;p12"/>
          <p:cNvSpPr/>
          <p:nvPr/>
        </p:nvSpPr>
        <p:spPr>
          <a:xfrm>
            <a:off x="566928" y="393192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
          <p:cNvSpPr/>
          <p:nvPr/>
        </p:nvSpPr>
        <p:spPr>
          <a:xfrm>
            <a:off x="749808" y="405993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NFR-7</a:t>
            </a:r>
            <a:endParaRPr b="0" i="0" sz="1100" u="none" cap="none" strike="noStrike">
              <a:solidFill>
                <a:schemeClr val="dk1"/>
              </a:solidFill>
              <a:latin typeface="Calibri"/>
              <a:ea typeface="Calibri"/>
              <a:cs typeface="Calibri"/>
              <a:sym typeface="Calibri"/>
            </a:endParaRPr>
          </a:p>
        </p:txBody>
      </p:sp>
      <p:sp>
        <p:nvSpPr>
          <p:cNvPr id="426" name="Google Shape;426;p12"/>
          <p:cNvSpPr/>
          <p:nvPr/>
        </p:nvSpPr>
        <p:spPr>
          <a:xfrm>
            <a:off x="1527048" y="405993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Operational</a:t>
            </a:r>
            <a:endParaRPr b="0" i="0" sz="1300" u="none" cap="none" strike="noStrike">
              <a:solidFill>
                <a:schemeClr val="dk1"/>
              </a:solidFill>
              <a:latin typeface="Calibri"/>
              <a:ea typeface="Calibri"/>
              <a:cs typeface="Calibri"/>
              <a:sym typeface="Calibri"/>
            </a:endParaRPr>
          </a:p>
        </p:txBody>
      </p:sp>
      <p:sp>
        <p:nvSpPr>
          <p:cNvPr id="427" name="Google Shape;427;p12"/>
          <p:cNvSpPr/>
          <p:nvPr/>
        </p:nvSpPr>
        <p:spPr>
          <a:xfrm>
            <a:off x="749808" y="437083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Supports at least 500 concurrent sessions at peak. Question bank updates without taking the platform offline.</a:t>
            </a:r>
            <a:endParaRPr b="0" i="0" sz="1050" u="none" cap="none" strike="noStrike">
              <a:solidFill>
                <a:schemeClr val="dk1"/>
              </a:solidFill>
              <a:latin typeface="Calibri"/>
              <a:ea typeface="Calibri"/>
              <a:cs typeface="Calibri"/>
              <a:sym typeface="Calibri"/>
            </a:endParaRPr>
          </a:p>
        </p:txBody>
      </p:sp>
      <p:sp>
        <p:nvSpPr>
          <p:cNvPr id="428" name="Google Shape;428;p12"/>
          <p:cNvSpPr/>
          <p:nvPr/>
        </p:nvSpPr>
        <p:spPr>
          <a:xfrm>
            <a:off x="4306824" y="393192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
          <p:cNvSpPr/>
          <p:nvPr/>
        </p:nvSpPr>
        <p:spPr>
          <a:xfrm>
            <a:off x="4489704" y="405993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NFR-8</a:t>
            </a:r>
            <a:endParaRPr b="0" i="0" sz="1100" u="none" cap="none" strike="noStrike">
              <a:solidFill>
                <a:schemeClr val="dk1"/>
              </a:solidFill>
              <a:latin typeface="Calibri"/>
              <a:ea typeface="Calibri"/>
              <a:cs typeface="Calibri"/>
              <a:sym typeface="Calibri"/>
            </a:endParaRPr>
          </a:p>
        </p:txBody>
      </p:sp>
      <p:sp>
        <p:nvSpPr>
          <p:cNvPr id="430" name="Google Shape;430;p12"/>
          <p:cNvSpPr/>
          <p:nvPr/>
        </p:nvSpPr>
        <p:spPr>
          <a:xfrm>
            <a:off x="5266944" y="405993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Development</a:t>
            </a:r>
            <a:endParaRPr b="0" i="0" sz="1300" u="none" cap="none" strike="noStrike">
              <a:solidFill>
                <a:schemeClr val="dk1"/>
              </a:solidFill>
              <a:latin typeface="Calibri"/>
              <a:ea typeface="Calibri"/>
              <a:cs typeface="Calibri"/>
              <a:sym typeface="Calibri"/>
            </a:endParaRPr>
          </a:p>
        </p:txBody>
      </p:sp>
      <p:sp>
        <p:nvSpPr>
          <p:cNvPr id="431" name="Google Shape;431;p12"/>
          <p:cNvSpPr/>
          <p:nvPr/>
        </p:nvSpPr>
        <p:spPr>
          <a:xfrm>
            <a:off x="4489704" y="437083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All TypeScript, merged only through reviewed pull requests, with 70% minimum line coverage enforced by CI/CD.</a:t>
            </a:r>
            <a:endParaRPr b="0" i="0" sz="1050" u="none" cap="none" strike="noStrike">
              <a:solidFill>
                <a:schemeClr val="dk1"/>
              </a:solidFill>
              <a:latin typeface="Calibri"/>
              <a:ea typeface="Calibri"/>
              <a:cs typeface="Calibri"/>
              <a:sym typeface="Calibri"/>
            </a:endParaRPr>
          </a:p>
        </p:txBody>
      </p:sp>
      <p:sp>
        <p:nvSpPr>
          <p:cNvPr id="432" name="Google Shape;432;p12"/>
          <p:cNvSpPr/>
          <p:nvPr/>
        </p:nvSpPr>
        <p:spPr>
          <a:xfrm>
            <a:off x="8046720" y="393192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
          <p:cNvSpPr/>
          <p:nvPr/>
        </p:nvSpPr>
        <p:spPr>
          <a:xfrm>
            <a:off x="8229600" y="405993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NFR-9</a:t>
            </a:r>
            <a:endParaRPr b="0" i="0" sz="1100" u="none" cap="none" strike="noStrike">
              <a:solidFill>
                <a:schemeClr val="dk1"/>
              </a:solidFill>
              <a:latin typeface="Calibri"/>
              <a:ea typeface="Calibri"/>
              <a:cs typeface="Calibri"/>
              <a:sym typeface="Calibri"/>
            </a:endParaRPr>
          </a:p>
        </p:txBody>
      </p:sp>
      <p:sp>
        <p:nvSpPr>
          <p:cNvPr id="434" name="Google Shape;434;p12"/>
          <p:cNvSpPr/>
          <p:nvPr/>
        </p:nvSpPr>
        <p:spPr>
          <a:xfrm>
            <a:off x="9006840" y="405993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Regulatory</a:t>
            </a:r>
            <a:endParaRPr b="0" i="0" sz="1300" u="none" cap="none" strike="noStrike">
              <a:solidFill>
                <a:schemeClr val="dk1"/>
              </a:solidFill>
              <a:latin typeface="Calibri"/>
              <a:ea typeface="Calibri"/>
              <a:cs typeface="Calibri"/>
              <a:sym typeface="Calibri"/>
            </a:endParaRPr>
          </a:p>
        </p:txBody>
      </p:sp>
      <p:sp>
        <p:nvSpPr>
          <p:cNvPr id="435" name="Google Shape;435;p12"/>
          <p:cNvSpPr/>
          <p:nvPr/>
        </p:nvSpPr>
        <p:spPr>
          <a:xfrm>
            <a:off x="8229600" y="437083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Transcripts and feedback are handled as FERPA aligned educational records, private by default.</a:t>
            </a:r>
            <a:endParaRPr b="0" i="0" sz="1050" u="none" cap="none" strike="noStrike">
              <a:solidFill>
                <a:schemeClr val="dk1"/>
              </a:solidFill>
              <a:latin typeface="Calibri"/>
              <a:ea typeface="Calibri"/>
              <a:cs typeface="Calibri"/>
              <a:sym typeface="Calibri"/>
            </a:endParaRPr>
          </a:p>
        </p:txBody>
      </p:sp>
      <p:sp>
        <p:nvSpPr>
          <p:cNvPr id="436" name="Google Shape;436;p12"/>
          <p:cNvSpPr/>
          <p:nvPr/>
        </p:nvSpPr>
        <p:spPr>
          <a:xfrm>
            <a:off x="566928" y="516636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2"/>
          <p:cNvSpPr/>
          <p:nvPr/>
        </p:nvSpPr>
        <p:spPr>
          <a:xfrm>
            <a:off x="749808" y="529437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NFR-10</a:t>
            </a:r>
            <a:endParaRPr b="0" i="0" sz="1100" u="none" cap="none" strike="noStrike">
              <a:solidFill>
                <a:schemeClr val="dk1"/>
              </a:solidFill>
              <a:latin typeface="Calibri"/>
              <a:ea typeface="Calibri"/>
              <a:cs typeface="Calibri"/>
              <a:sym typeface="Calibri"/>
            </a:endParaRPr>
          </a:p>
        </p:txBody>
      </p:sp>
      <p:sp>
        <p:nvSpPr>
          <p:cNvPr id="438" name="Google Shape;438;p12"/>
          <p:cNvSpPr/>
          <p:nvPr/>
        </p:nvSpPr>
        <p:spPr>
          <a:xfrm>
            <a:off x="1527048" y="529437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Ethical</a:t>
            </a:r>
            <a:endParaRPr b="0" i="0" sz="1300" u="none" cap="none" strike="noStrike">
              <a:solidFill>
                <a:schemeClr val="dk1"/>
              </a:solidFill>
              <a:latin typeface="Calibri"/>
              <a:ea typeface="Calibri"/>
              <a:cs typeface="Calibri"/>
              <a:sym typeface="Calibri"/>
            </a:endParaRPr>
          </a:p>
        </p:txBody>
      </p:sp>
      <p:sp>
        <p:nvSpPr>
          <p:cNvPr id="439" name="Google Shape;439;p12"/>
          <p:cNvSpPr/>
          <p:nvPr/>
        </p:nvSpPr>
        <p:spPr>
          <a:xfrm>
            <a:off x="749808" y="560527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All feedback is labelled AI generated. No data sales, no training on responses without opt in, and prompt bias review.</a:t>
            </a:r>
            <a:endParaRPr b="0" i="0" sz="1050" u="none" cap="none" strike="noStrike">
              <a:solidFill>
                <a:schemeClr val="dk1"/>
              </a:solidFill>
              <a:latin typeface="Calibri"/>
              <a:ea typeface="Calibri"/>
              <a:cs typeface="Calibri"/>
              <a:sym typeface="Calibri"/>
            </a:endParaRPr>
          </a:p>
        </p:txBody>
      </p:sp>
      <p:sp>
        <p:nvSpPr>
          <p:cNvPr id="440" name="Google Shape;440;p12"/>
          <p:cNvSpPr/>
          <p:nvPr/>
        </p:nvSpPr>
        <p:spPr>
          <a:xfrm>
            <a:off x="4306824" y="516636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2"/>
          <p:cNvSpPr/>
          <p:nvPr/>
        </p:nvSpPr>
        <p:spPr>
          <a:xfrm>
            <a:off x="4489704" y="529437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NFR-11</a:t>
            </a:r>
            <a:endParaRPr b="0" i="0" sz="1100" u="none" cap="none" strike="noStrike">
              <a:solidFill>
                <a:schemeClr val="dk1"/>
              </a:solidFill>
              <a:latin typeface="Calibri"/>
              <a:ea typeface="Calibri"/>
              <a:cs typeface="Calibri"/>
              <a:sym typeface="Calibri"/>
            </a:endParaRPr>
          </a:p>
        </p:txBody>
      </p:sp>
      <p:sp>
        <p:nvSpPr>
          <p:cNvPr id="442" name="Google Shape;442;p12"/>
          <p:cNvSpPr/>
          <p:nvPr/>
        </p:nvSpPr>
        <p:spPr>
          <a:xfrm>
            <a:off x="5266944" y="529437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Accounting</a:t>
            </a:r>
            <a:endParaRPr b="0" i="0" sz="1300" u="none" cap="none" strike="noStrike">
              <a:solidFill>
                <a:schemeClr val="dk1"/>
              </a:solidFill>
              <a:latin typeface="Calibri"/>
              <a:ea typeface="Calibri"/>
              <a:cs typeface="Calibri"/>
              <a:sym typeface="Calibri"/>
            </a:endParaRPr>
          </a:p>
        </p:txBody>
      </p:sp>
      <p:sp>
        <p:nvSpPr>
          <p:cNvPr id="443" name="Google Shape;443;p12"/>
          <p:cNvSpPr/>
          <p:nvPr/>
        </p:nvSpPr>
        <p:spPr>
          <a:xfrm>
            <a:off x="4489704" y="560527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Audit log of all account and data access events, retained for 12 months.</a:t>
            </a:r>
            <a:endParaRPr b="0" i="0" sz="1050" u="none" cap="none" strike="noStrike">
              <a:solidFill>
                <a:schemeClr val="dk1"/>
              </a:solidFill>
              <a:latin typeface="Calibri"/>
              <a:ea typeface="Calibri"/>
              <a:cs typeface="Calibri"/>
              <a:sym typeface="Calibri"/>
            </a:endParaRPr>
          </a:p>
        </p:txBody>
      </p:sp>
      <p:sp>
        <p:nvSpPr>
          <p:cNvPr id="444" name="Google Shape;444;p12"/>
          <p:cNvSpPr/>
          <p:nvPr/>
        </p:nvSpPr>
        <p:spPr>
          <a:xfrm>
            <a:off x="8046720" y="5166360"/>
            <a:ext cx="3566160" cy="1088136"/>
          </a:xfrm>
          <a:prstGeom prst="roundRect">
            <a:avLst>
              <a:gd fmla="val 5042" name="adj"/>
            </a:avLst>
          </a:prstGeom>
          <a:solidFill>
            <a:srgbClr val="FFFFFF"/>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2"/>
          <p:cNvSpPr/>
          <p:nvPr/>
        </p:nvSpPr>
        <p:spPr>
          <a:xfrm>
            <a:off x="8229600" y="5294376"/>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NFR-12</a:t>
            </a:r>
            <a:endParaRPr b="0" i="0" sz="1100" u="none" cap="none" strike="noStrike">
              <a:solidFill>
                <a:schemeClr val="dk1"/>
              </a:solidFill>
              <a:latin typeface="Calibri"/>
              <a:ea typeface="Calibri"/>
              <a:cs typeface="Calibri"/>
              <a:sym typeface="Calibri"/>
            </a:endParaRPr>
          </a:p>
        </p:txBody>
      </p:sp>
      <p:sp>
        <p:nvSpPr>
          <p:cNvPr id="446" name="Google Shape;446;p12"/>
          <p:cNvSpPr/>
          <p:nvPr/>
        </p:nvSpPr>
        <p:spPr>
          <a:xfrm>
            <a:off x="9006840" y="5294376"/>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Legislative</a:t>
            </a:r>
            <a:endParaRPr b="0" i="0" sz="1300" u="none" cap="none" strike="noStrike">
              <a:solidFill>
                <a:schemeClr val="dk1"/>
              </a:solidFill>
              <a:latin typeface="Calibri"/>
              <a:ea typeface="Calibri"/>
              <a:cs typeface="Calibri"/>
              <a:sym typeface="Calibri"/>
            </a:endParaRPr>
          </a:p>
        </p:txBody>
      </p:sp>
      <p:sp>
        <p:nvSpPr>
          <p:cNvPr id="447" name="Google Shape;447;p12"/>
          <p:cNvSpPr/>
          <p:nvPr/>
        </p:nvSpPr>
        <p:spPr>
          <a:xfrm>
            <a:off x="8229600" y="5605272"/>
            <a:ext cx="3200400" cy="566928"/>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Complies with the assumed AI Interview Transparency Act of 2025 and deletes all user data within 30 days of request.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13"/>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Use Case Diagram</a:t>
            </a:r>
            <a:endParaRPr b="0" i="0" sz="3000" u="none" cap="none" strike="noStrike">
              <a:solidFill>
                <a:schemeClr val="dk1"/>
              </a:solidFill>
              <a:latin typeface="Calibri"/>
              <a:ea typeface="Calibri"/>
              <a:cs typeface="Calibri"/>
              <a:sym typeface="Calibri"/>
            </a:endParaRPr>
          </a:p>
        </p:txBody>
      </p:sp>
      <p:sp>
        <p:nvSpPr>
          <p:cNvPr id="455" name="Google Shape;455;p13"/>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Two human actors and one system actor across five use cases</a:t>
            </a:r>
            <a:endParaRPr b="0" i="0" sz="1300" u="none" cap="none" strike="noStrike">
              <a:solidFill>
                <a:schemeClr val="dk1"/>
              </a:solidFill>
              <a:latin typeface="Calibri"/>
              <a:ea typeface="Calibri"/>
              <a:cs typeface="Calibri"/>
              <a:sym typeface="Calibri"/>
            </a:endParaRPr>
          </a:p>
        </p:txBody>
      </p:sp>
      <p:sp>
        <p:nvSpPr>
          <p:cNvPr id="456" name="Google Shape;456;p13"/>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
        <p:nvSpPr>
          <p:cNvPr id="457" name="Google Shape;457;p13"/>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pic>
        <p:nvPicPr>
          <p:cNvPr descr="/home/claude/figs/fig-000.png" id="458" name="Google Shape;458;p13"/>
          <p:cNvPicPr preferRelativeResize="0"/>
          <p:nvPr/>
        </p:nvPicPr>
        <p:blipFill rotWithShape="1">
          <a:blip r:embed="rId3">
            <a:alphaModFix/>
          </a:blip>
          <a:srcRect b="0" l="0" r="0" t="0"/>
          <a:stretch/>
        </p:blipFill>
        <p:spPr>
          <a:xfrm>
            <a:off x="777240" y="1444752"/>
            <a:ext cx="4617720" cy="4526280"/>
          </a:xfrm>
          <a:prstGeom prst="rect">
            <a:avLst/>
          </a:prstGeom>
          <a:noFill/>
          <a:ln>
            <a:noFill/>
          </a:ln>
        </p:spPr>
      </p:pic>
      <p:sp>
        <p:nvSpPr>
          <p:cNvPr id="459" name="Google Shape;459;p13"/>
          <p:cNvSpPr/>
          <p:nvPr/>
        </p:nvSpPr>
        <p:spPr>
          <a:xfrm>
            <a:off x="640080" y="5998464"/>
            <a:ext cx="48920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50"/>
              <a:buFont typeface="Calibri"/>
              <a:buNone/>
            </a:pPr>
            <a:r>
              <a:rPr b="0" i="1" lang="en-US" sz="950" u="none" cap="none" strike="noStrike">
                <a:solidFill>
                  <a:srgbClr val="6B7185"/>
                </a:solidFill>
                <a:latin typeface="Calibri"/>
                <a:ea typeface="Calibri"/>
                <a:cs typeface="Calibri"/>
                <a:sym typeface="Calibri"/>
              </a:rPr>
              <a:t>Figure 1. Use case diagram for Interview Lens</a:t>
            </a:r>
            <a:endParaRPr b="0" i="0" sz="950" u="none" cap="none" strike="noStrike">
              <a:solidFill>
                <a:schemeClr val="dk1"/>
              </a:solidFill>
              <a:latin typeface="Calibri"/>
              <a:ea typeface="Calibri"/>
              <a:cs typeface="Calibri"/>
              <a:sym typeface="Calibri"/>
            </a:endParaRPr>
          </a:p>
        </p:txBody>
      </p:sp>
      <p:sp>
        <p:nvSpPr>
          <p:cNvPr id="460" name="Google Shape;460;p13"/>
          <p:cNvSpPr/>
          <p:nvPr/>
        </p:nvSpPr>
        <p:spPr>
          <a:xfrm>
            <a:off x="6053328" y="1481328"/>
            <a:ext cx="55412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000"/>
              <a:buFont typeface="Cambria"/>
              <a:buNone/>
            </a:pPr>
            <a:r>
              <a:rPr b="1" i="0" lang="en-US" sz="2000" u="none" cap="none" strike="noStrike">
                <a:solidFill>
                  <a:srgbClr val="141B34"/>
                </a:solidFill>
                <a:latin typeface="Cambria"/>
                <a:ea typeface="Cambria"/>
                <a:cs typeface="Cambria"/>
                <a:sym typeface="Cambria"/>
              </a:rPr>
              <a:t>Actors</a:t>
            </a:r>
            <a:endParaRPr b="0" i="0" sz="2000" u="none" cap="none" strike="noStrike">
              <a:solidFill>
                <a:schemeClr val="dk1"/>
              </a:solidFill>
              <a:latin typeface="Calibri"/>
              <a:ea typeface="Calibri"/>
              <a:cs typeface="Calibri"/>
              <a:sym typeface="Calibri"/>
            </a:endParaRPr>
          </a:p>
        </p:txBody>
      </p:sp>
      <p:sp>
        <p:nvSpPr>
          <p:cNvPr id="461" name="Google Shape;461;p13"/>
          <p:cNvSpPr/>
          <p:nvPr/>
        </p:nvSpPr>
        <p:spPr>
          <a:xfrm>
            <a:off x="6053328" y="1883664"/>
            <a:ext cx="5541264" cy="1042416"/>
          </a:xfrm>
          <a:prstGeom prst="roundRect">
            <a:avLst>
              <a:gd fmla="val 5263"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6272784" y="2011680"/>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400"/>
              <a:buFont typeface="Calibri"/>
              <a:buNone/>
            </a:pPr>
            <a:r>
              <a:rPr b="1" i="0" lang="en-US" sz="1400" u="none" cap="none" strike="noStrike">
                <a:solidFill>
                  <a:srgbClr val="2A3A78"/>
                </a:solidFill>
                <a:latin typeface="Calibri"/>
                <a:ea typeface="Calibri"/>
                <a:cs typeface="Calibri"/>
                <a:sym typeface="Calibri"/>
              </a:rPr>
              <a:t>Student</a:t>
            </a:r>
            <a:endParaRPr b="0" i="0" sz="1400" u="none" cap="none" strike="noStrike">
              <a:solidFill>
                <a:schemeClr val="dk1"/>
              </a:solidFill>
              <a:latin typeface="Calibri"/>
              <a:ea typeface="Calibri"/>
              <a:cs typeface="Calibri"/>
              <a:sym typeface="Calibri"/>
            </a:endParaRPr>
          </a:p>
        </p:txBody>
      </p:sp>
      <p:sp>
        <p:nvSpPr>
          <p:cNvPr id="463" name="Google Shape;463;p13"/>
          <p:cNvSpPr/>
          <p:nvPr/>
        </p:nvSpPr>
        <p:spPr>
          <a:xfrm>
            <a:off x="6272784" y="2304288"/>
            <a:ext cx="5120640" cy="53035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The primary actor. Registers and logs in, conducts mock interviews, receives feedback reports and reviews progress history.</a:t>
            </a:r>
            <a:endParaRPr b="0" i="0" sz="1150" u="none" cap="none" strike="noStrike">
              <a:solidFill>
                <a:schemeClr val="dk1"/>
              </a:solidFill>
              <a:latin typeface="Calibri"/>
              <a:ea typeface="Calibri"/>
              <a:cs typeface="Calibri"/>
              <a:sym typeface="Calibri"/>
            </a:endParaRPr>
          </a:p>
        </p:txBody>
      </p:sp>
      <p:sp>
        <p:nvSpPr>
          <p:cNvPr id="464" name="Google Shape;464;p13"/>
          <p:cNvSpPr/>
          <p:nvPr/>
        </p:nvSpPr>
        <p:spPr>
          <a:xfrm>
            <a:off x="6053328" y="3035808"/>
            <a:ext cx="5541264" cy="1042416"/>
          </a:xfrm>
          <a:prstGeom prst="roundRect">
            <a:avLst>
              <a:gd fmla="val 5263"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6272784" y="3163824"/>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400"/>
              <a:buFont typeface="Calibri"/>
              <a:buNone/>
            </a:pPr>
            <a:r>
              <a:rPr b="1" i="0" lang="en-US" sz="1400" u="none" cap="none" strike="noStrike">
                <a:solidFill>
                  <a:srgbClr val="2A3A78"/>
                </a:solidFill>
                <a:latin typeface="Calibri"/>
                <a:ea typeface="Calibri"/>
                <a:cs typeface="Calibri"/>
                <a:sym typeface="Calibri"/>
              </a:rPr>
              <a:t>Administrator</a:t>
            </a:r>
            <a:endParaRPr b="0" i="0" sz="1400" u="none" cap="none" strike="noStrike">
              <a:solidFill>
                <a:schemeClr val="dk1"/>
              </a:solidFill>
              <a:latin typeface="Calibri"/>
              <a:ea typeface="Calibri"/>
              <a:cs typeface="Calibri"/>
              <a:sym typeface="Calibri"/>
            </a:endParaRPr>
          </a:p>
        </p:txBody>
      </p:sp>
      <p:sp>
        <p:nvSpPr>
          <p:cNvPr id="466" name="Google Shape;466;p13"/>
          <p:cNvSpPr/>
          <p:nvPr/>
        </p:nvSpPr>
        <p:spPr>
          <a:xfrm>
            <a:off x="6272784" y="3456432"/>
            <a:ext cx="5120640" cy="53035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Manages the question bank. Also registers and logs in, but is separated by role based access control per NFR-5.</a:t>
            </a:r>
            <a:endParaRPr b="0" i="0" sz="1150" u="none" cap="none" strike="noStrike">
              <a:solidFill>
                <a:schemeClr val="dk1"/>
              </a:solidFill>
              <a:latin typeface="Calibri"/>
              <a:ea typeface="Calibri"/>
              <a:cs typeface="Calibri"/>
              <a:sym typeface="Calibri"/>
            </a:endParaRPr>
          </a:p>
        </p:txBody>
      </p:sp>
      <p:sp>
        <p:nvSpPr>
          <p:cNvPr id="467" name="Google Shape;467;p13"/>
          <p:cNvSpPr/>
          <p:nvPr/>
        </p:nvSpPr>
        <p:spPr>
          <a:xfrm>
            <a:off x="6053328" y="4187952"/>
            <a:ext cx="5541264" cy="1042416"/>
          </a:xfrm>
          <a:prstGeom prst="roundRect">
            <a:avLst>
              <a:gd fmla="val 5263"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6272784" y="4315968"/>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400"/>
              <a:buFont typeface="Calibri"/>
              <a:buNone/>
            </a:pPr>
            <a:r>
              <a:rPr b="1" i="0" lang="en-US" sz="1400" u="none" cap="none" strike="noStrike">
                <a:solidFill>
                  <a:srgbClr val="2A3A78"/>
                </a:solidFill>
                <a:latin typeface="Calibri"/>
                <a:ea typeface="Calibri"/>
                <a:cs typeface="Calibri"/>
                <a:sym typeface="Calibri"/>
              </a:rPr>
              <a:t>AI Engine</a:t>
            </a:r>
            <a:endParaRPr b="0" i="0" sz="1400" u="none" cap="none" strike="noStrike">
              <a:solidFill>
                <a:schemeClr val="dk1"/>
              </a:solidFill>
              <a:latin typeface="Calibri"/>
              <a:ea typeface="Calibri"/>
              <a:cs typeface="Calibri"/>
              <a:sym typeface="Calibri"/>
            </a:endParaRPr>
          </a:p>
        </p:txBody>
      </p:sp>
      <p:sp>
        <p:nvSpPr>
          <p:cNvPr id="469" name="Google Shape;469;p13"/>
          <p:cNvSpPr/>
          <p:nvPr/>
        </p:nvSpPr>
        <p:spPr>
          <a:xfrm>
            <a:off x="6272784" y="4608576"/>
            <a:ext cx="5120640" cy="53035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Modelled as a system actor rather than an internal component because it is an external service. It participates in Conduct Mock Interview and Receive AI Feedback Report.</a:t>
            </a:r>
            <a:endParaRPr b="0" i="0" sz="1150" u="none" cap="none" strike="noStrike">
              <a:solidFill>
                <a:schemeClr val="dk1"/>
              </a:solidFill>
              <a:latin typeface="Calibri"/>
              <a:ea typeface="Calibri"/>
              <a:cs typeface="Calibri"/>
              <a:sym typeface="Calibri"/>
            </a:endParaRPr>
          </a:p>
        </p:txBody>
      </p:sp>
      <p:sp>
        <p:nvSpPr>
          <p:cNvPr id="470" name="Google Shape;470;p13"/>
          <p:cNvSpPr/>
          <p:nvPr/>
        </p:nvSpPr>
        <p:spPr>
          <a:xfrm>
            <a:off x="6053328" y="5394960"/>
            <a:ext cx="5541264" cy="841248"/>
          </a:xfrm>
          <a:prstGeom prst="roundRect">
            <a:avLst>
              <a:gd fmla="val 6522"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6272784" y="5504688"/>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00"/>
              <a:buFont typeface="Calibri"/>
              <a:buNone/>
            </a:pPr>
            <a:r>
              <a:rPr b="1" i="0" lang="en-US" sz="1100" u="none" cap="none" strike="noStrike">
                <a:solidFill>
                  <a:srgbClr val="F2A65A"/>
                </a:solidFill>
                <a:latin typeface="Calibri"/>
                <a:ea typeface="Calibri"/>
                <a:cs typeface="Calibri"/>
                <a:sym typeface="Calibri"/>
              </a:rPr>
              <a:t>Design decision</a:t>
            </a:r>
            <a:endParaRPr b="0" i="0" sz="1100" u="none" cap="none" strike="noStrike">
              <a:solidFill>
                <a:schemeClr val="dk1"/>
              </a:solidFill>
              <a:latin typeface="Calibri"/>
              <a:ea typeface="Calibri"/>
              <a:cs typeface="Calibri"/>
              <a:sym typeface="Calibri"/>
            </a:endParaRPr>
          </a:p>
        </p:txBody>
      </p:sp>
      <p:sp>
        <p:nvSpPr>
          <p:cNvPr id="472" name="Google Shape;472;p13"/>
          <p:cNvSpPr/>
          <p:nvPr/>
        </p:nvSpPr>
        <p:spPr>
          <a:xfrm>
            <a:off x="6272784" y="5760720"/>
            <a:ext cx="5120640" cy="420624"/>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Register / Log In is shared by both human actors rather than duplicated, which keeps one authentication path and one place to enforce RBAC.</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14"/>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Sequence Diagram:  Conduct Mock Interview</a:t>
            </a:r>
            <a:endParaRPr b="0" i="0" sz="3000" u="none" cap="none" strike="noStrike">
              <a:solidFill>
                <a:schemeClr val="dk1"/>
              </a:solidFill>
              <a:latin typeface="Calibri"/>
              <a:ea typeface="Calibri"/>
              <a:cs typeface="Calibri"/>
              <a:sym typeface="Calibri"/>
            </a:endParaRPr>
          </a:p>
        </p:txBody>
      </p:sp>
      <p:sp>
        <p:nvSpPr>
          <p:cNvPr id="480" name="Google Shape;480;p14"/>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The representative operation, showing the loop over questions and the adaptive follow up branch</a:t>
            </a:r>
            <a:endParaRPr b="0" i="0" sz="1300" u="none" cap="none" strike="noStrike">
              <a:solidFill>
                <a:schemeClr val="dk1"/>
              </a:solidFill>
              <a:latin typeface="Calibri"/>
              <a:ea typeface="Calibri"/>
              <a:cs typeface="Calibri"/>
              <a:sym typeface="Calibri"/>
            </a:endParaRPr>
          </a:p>
        </p:txBody>
      </p:sp>
      <p:sp>
        <p:nvSpPr>
          <p:cNvPr id="481" name="Google Shape;481;p14"/>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482" name="Google Shape;482;p14"/>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pic>
        <p:nvPicPr>
          <p:cNvPr descr="/home/claude/figs/fig-002.png" id="483" name="Google Shape;483;p14"/>
          <p:cNvPicPr preferRelativeResize="0"/>
          <p:nvPr/>
        </p:nvPicPr>
        <p:blipFill rotWithShape="1">
          <a:blip r:embed="rId3">
            <a:alphaModFix/>
          </a:blip>
          <a:srcRect b="0" l="0" r="0" t="0"/>
          <a:stretch/>
        </p:blipFill>
        <p:spPr>
          <a:xfrm>
            <a:off x="804672" y="1481328"/>
            <a:ext cx="4882896" cy="4498848"/>
          </a:xfrm>
          <a:prstGeom prst="rect">
            <a:avLst/>
          </a:prstGeom>
          <a:noFill/>
          <a:ln>
            <a:noFill/>
          </a:ln>
        </p:spPr>
      </p:pic>
      <p:sp>
        <p:nvSpPr>
          <p:cNvPr id="484" name="Google Shape;484;p14"/>
          <p:cNvSpPr/>
          <p:nvPr/>
        </p:nvSpPr>
        <p:spPr>
          <a:xfrm>
            <a:off x="640080" y="6007608"/>
            <a:ext cx="5212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50"/>
              <a:buFont typeface="Calibri"/>
              <a:buNone/>
            </a:pPr>
            <a:r>
              <a:rPr b="0" i="1" lang="en-US" sz="950" u="none" cap="none" strike="noStrike">
                <a:solidFill>
                  <a:srgbClr val="6B7185"/>
                </a:solidFill>
                <a:latin typeface="Calibri"/>
                <a:ea typeface="Calibri"/>
                <a:cs typeface="Calibri"/>
                <a:sym typeface="Calibri"/>
              </a:rPr>
              <a:t>Figure 3. Sequence diagram for Conduct Mock Interview</a:t>
            </a:r>
            <a:endParaRPr b="0" i="0" sz="950" u="none" cap="none" strike="noStrike">
              <a:solidFill>
                <a:schemeClr val="dk1"/>
              </a:solidFill>
              <a:latin typeface="Calibri"/>
              <a:ea typeface="Calibri"/>
              <a:cs typeface="Calibri"/>
              <a:sym typeface="Calibri"/>
            </a:endParaRPr>
          </a:p>
        </p:txBody>
      </p:sp>
      <p:sp>
        <p:nvSpPr>
          <p:cNvPr id="485" name="Google Shape;485;p14"/>
          <p:cNvSpPr/>
          <p:nvPr/>
        </p:nvSpPr>
        <p:spPr>
          <a:xfrm>
            <a:off x="6309360" y="1481328"/>
            <a:ext cx="52852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000"/>
              <a:buFont typeface="Cambria"/>
              <a:buNone/>
            </a:pPr>
            <a:r>
              <a:rPr b="1" i="0" lang="en-US" sz="2000" u="none" cap="none" strike="noStrike">
                <a:solidFill>
                  <a:srgbClr val="141B34"/>
                </a:solidFill>
                <a:latin typeface="Cambria"/>
                <a:ea typeface="Cambria"/>
                <a:cs typeface="Cambria"/>
                <a:sym typeface="Cambria"/>
              </a:rPr>
              <a:t>Walkthrough</a:t>
            </a:r>
            <a:endParaRPr b="0" i="0" sz="2000" u="none" cap="none" strike="noStrike">
              <a:solidFill>
                <a:schemeClr val="dk1"/>
              </a:solidFill>
              <a:latin typeface="Calibri"/>
              <a:ea typeface="Calibri"/>
              <a:cs typeface="Calibri"/>
              <a:sym typeface="Calibri"/>
            </a:endParaRPr>
          </a:p>
        </p:txBody>
      </p:sp>
      <p:sp>
        <p:nvSpPr>
          <p:cNvPr id="486" name="Google Shape;486;p14"/>
          <p:cNvSpPr/>
          <p:nvPr/>
        </p:nvSpPr>
        <p:spPr>
          <a:xfrm>
            <a:off x="6309360" y="1901952"/>
            <a:ext cx="365760" cy="36576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6309360" y="19019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88" name="Google Shape;488;p14"/>
          <p:cNvSpPr/>
          <p:nvPr/>
        </p:nvSpPr>
        <p:spPr>
          <a:xfrm>
            <a:off x="6821424" y="1847088"/>
            <a:ext cx="4773168" cy="89611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The student starts a session with a role and difficulty. SessionController persists the session and asks AIEngine for the first behavioral question.</a:t>
            </a:r>
            <a:endParaRPr b="0" i="0" sz="1150" u="none" cap="none" strike="noStrike">
              <a:solidFill>
                <a:schemeClr val="dk1"/>
              </a:solidFill>
              <a:latin typeface="Calibri"/>
              <a:ea typeface="Calibri"/>
              <a:cs typeface="Calibri"/>
              <a:sym typeface="Calibri"/>
            </a:endParaRPr>
          </a:p>
        </p:txBody>
      </p:sp>
      <p:sp>
        <p:nvSpPr>
          <p:cNvPr id="489" name="Google Shape;489;p14"/>
          <p:cNvSpPr/>
          <p:nvPr/>
        </p:nvSpPr>
        <p:spPr>
          <a:xfrm>
            <a:off x="6309360" y="2871216"/>
            <a:ext cx="365760" cy="36576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6309360" y="287121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91" name="Google Shape;491;p14"/>
          <p:cNvSpPr/>
          <p:nvPr/>
        </p:nvSpPr>
        <p:spPr>
          <a:xfrm>
            <a:off x="6821424" y="2816352"/>
            <a:ext cx="4773168" cy="89611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loop [until session complete].  The student submits an answer as text or audio. The controller saves the response and sends it to AIEngine for evaluation.</a:t>
            </a:r>
            <a:endParaRPr b="0" i="0" sz="1150" u="none" cap="none" strike="noStrike">
              <a:solidFill>
                <a:schemeClr val="dk1"/>
              </a:solidFill>
              <a:latin typeface="Calibri"/>
              <a:ea typeface="Calibri"/>
              <a:cs typeface="Calibri"/>
              <a:sym typeface="Calibri"/>
            </a:endParaRPr>
          </a:p>
        </p:txBody>
      </p:sp>
      <p:sp>
        <p:nvSpPr>
          <p:cNvPr id="492" name="Google Shape;492;p14"/>
          <p:cNvSpPr/>
          <p:nvPr/>
        </p:nvSpPr>
        <p:spPr>
          <a:xfrm>
            <a:off x="6309360" y="3840480"/>
            <a:ext cx="365760" cy="365760"/>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4"/>
          <p:cNvSpPr/>
          <p:nvPr/>
        </p:nvSpPr>
        <p:spPr>
          <a:xfrm>
            <a:off x="6309360" y="38404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300"/>
              <a:buFont typeface="Calibri"/>
              <a:buNone/>
            </a:pPr>
            <a:r>
              <a:rPr b="1" i="0" lang="en-US" sz="1300" u="none" cap="none" strike="noStrike">
                <a:solidFill>
                  <a:srgbClr val="141B34"/>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94" name="Google Shape;494;p14"/>
          <p:cNvSpPr/>
          <p:nvPr/>
        </p:nvSpPr>
        <p:spPr>
          <a:xfrm>
            <a:off x="6821424" y="3785616"/>
            <a:ext cx="4773168" cy="89611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alt [follow-up needed].  AIEngine either returns a follow up question generated from the answer just given, or advances to the next planned question. This is FR-3 in action.</a:t>
            </a:r>
            <a:endParaRPr b="0" i="0" sz="1150" u="none" cap="none" strike="noStrike">
              <a:solidFill>
                <a:schemeClr val="dk1"/>
              </a:solidFill>
              <a:latin typeface="Calibri"/>
              <a:ea typeface="Calibri"/>
              <a:cs typeface="Calibri"/>
              <a:sym typeface="Calibri"/>
            </a:endParaRPr>
          </a:p>
        </p:txBody>
      </p:sp>
      <p:sp>
        <p:nvSpPr>
          <p:cNvPr id="495" name="Google Shape;495;p14"/>
          <p:cNvSpPr/>
          <p:nvPr/>
        </p:nvSpPr>
        <p:spPr>
          <a:xfrm>
            <a:off x="6309360" y="4809744"/>
            <a:ext cx="365760" cy="36576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6309360" y="480974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497" name="Google Shape;497;p14"/>
          <p:cNvSpPr/>
          <p:nvPr/>
        </p:nvSpPr>
        <p:spPr>
          <a:xfrm>
            <a:off x="6821424" y="4754880"/>
            <a:ext cx="4773168" cy="896112"/>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endSession() closes the loop, the session status is updated to completed, and a summary returns to the UI. The scored report is generated in a separate interaction.</a:t>
            </a:r>
            <a:endParaRPr b="0" i="0" sz="1150" u="none" cap="none" strike="noStrike">
              <a:solidFill>
                <a:schemeClr val="dk1"/>
              </a:solidFill>
              <a:latin typeface="Calibri"/>
              <a:ea typeface="Calibri"/>
              <a:cs typeface="Calibri"/>
              <a:sym typeface="Calibri"/>
            </a:endParaRPr>
          </a:p>
        </p:txBody>
      </p:sp>
      <p:sp>
        <p:nvSpPr>
          <p:cNvPr id="498" name="Google Shape;498;p14"/>
          <p:cNvSpPr/>
          <p:nvPr/>
        </p:nvSpPr>
        <p:spPr>
          <a:xfrm>
            <a:off x="6309360" y="5742432"/>
            <a:ext cx="5285232" cy="530352"/>
          </a:xfrm>
          <a:prstGeom prst="roundRect">
            <a:avLst>
              <a:gd fmla="val 10345"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6528816" y="5742432"/>
            <a:ext cx="4846320" cy="530352"/>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Four more sequence diagrams are in the report: Register / Log In, Receive AI Feedback Report, View Progress History and Manage Question Bank.</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15"/>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5"/>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Class Diagram</a:t>
            </a:r>
            <a:endParaRPr b="0" i="0" sz="3000" u="none" cap="none" strike="noStrike">
              <a:solidFill>
                <a:schemeClr val="dk1"/>
              </a:solidFill>
              <a:latin typeface="Calibri"/>
              <a:ea typeface="Calibri"/>
              <a:cs typeface="Calibri"/>
              <a:sym typeface="Calibri"/>
            </a:endParaRPr>
          </a:p>
        </p:txBody>
      </p:sp>
      <p:sp>
        <p:nvSpPr>
          <p:cNvPr id="507" name="Google Shape;507;p15"/>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Nine classes covering every actor, artifact and relationship in the system</a:t>
            </a:r>
            <a:endParaRPr b="0" i="0" sz="1300" u="none" cap="none" strike="noStrike">
              <a:solidFill>
                <a:schemeClr val="dk1"/>
              </a:solidFill>
              <a:latin typeface="Calibri"/>
              <a:ea typeface="Calibri"/>
              <a:cs typeface="Calibri"/>
              <a:sym typeface="Calibri"/>
            </a:endParaRPr>
          </a:p>
        </p:txBody>
      </p:sp>
      <p:sp>
        <p:nvSpPr>
          <p:cNvPr id="508" name="Google Shape;508;p15"/>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509" name="Google Shape;509;p15"/>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pic>
        <p:nvPicPr>
          <p:cNvPr descr="/home/claude/figs/fig-006.png" id="510" name="Google Shape;510;p15"/>
          <p:cNvPicPr preferRelativeResize="0"/>
          <p:nvPr/>
        </p:nvPicPr>
        <p:blipFill rotWithShape="1">
          <a:blip r:embed="rId3">
            <a:alphaModFix/>
          </a:blip>
          <a:srcRect b="0" l="0" r="0" t="0"/>
          <a:stretch/>
        </p:blipFill>
        <p:spPr>
          <a:xfrm>
            <a:off x="923544" y="1444752"/>
            <a:ext cx="3858768" cy="4553712"/>
          </a:xfrm>
          <a:prstGeom prst="rect">
            <a:avLst/>
          </a:prstGeom>
          <a:noFill/>
          <a:ln>
            <a:noFill/>
          </a:ln>
        </p:spPr>
      </p:pic>
      <p:sp>
        <p:nvSpPr>
          <p:cNvPr id="511" name="Google Shape;511;p15"/>
          <p:cNvSpPr/>
          <p:nvPr/>
        </p:nvSpPr>
        <p:spPr>
          <a:xfrm>
            <a:off x="640080" y="6016752"/>
            <a:ext cx="44348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50"/>
              <a:buFont typeface="Calibri"/>
              <a:buNone/>
            </a:pPr>
            <a:r>
              <a:rPr b="0" i="1" lang="en-US" sz="950" u="none" cap="none" strike="noStrike">
                <a:solidFill>
                  <a:srgbClr val="6B7185"/>
                </a:solidFill>
                <a:latin typeface="Calibri"/>
                <a:ea typeface="Calibri"/>
                <a:cs typeface="Calibri"/>
                <a:sym typeface="Calibri"/>
              </a:rPr>
              <a:t>Figure 7. Class diagram for Interview Lens</a:t>
            </a:r>
            <a:endParaRPr b="0" i="0" sz="950" u="none" cap="none" strike="noStrike">
              <a:solidFill>
                <a:schemeClr val="dk1"/>
              </a:solidFill>
              <a:latin typeface="Calibri"/>
              <a:ea typeface="Calibri"/>
              <a:cs typeface="Calibri"/>
              <a:sym typeface="Calibri"/>
            </a:endParaRPr>
          </a:p>
        </p:txBody>
      </p:sp>
      <p:sp>
        <p:nvSpPr>
          <p:cNvPr id="512" name="Google Shape;512;p15"/>
          <p:cNvSpPr/>
          <p:nvPr/>
        </p:nvSpPr>
        <p:spPr>
          <a:xfrm>
            <a:off x="5394960" y="1463040"/>
            <a:ext cx="61996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000"/>
              <a:buFont typeface="Cambria"/>
              <a:buNone/>
            </a:pPr>
            <a:r>
              <a:rPr b="1" i="0" lang="en-US" sz="2000" u="none" cap="none" strike="noStrike">
                <a:solidFill>
                  <a:srgbClr val="141B34"/>
                </a:solidFill>
                <a:latin typeface="Cambria"/>
                <a:ea typeface="Cambria"/>
                <a:cs typeface="Cambria"/>
                <a:sym typeface="Cambria"/>
              </a:rPr>
              <a:t>Relationships Modelled</a:t>
            </a:r>
            <a:endParaRPr b="0" i="0" sz="2000" u="none" cap="none" strike="noStrike">
              <a:solidFill>
                <a:schemeClr val="dk1"/>
              </a:solidFill>
              <a:latin typeface="Calibri"/>
              <a:ea typeface="Calibri"/>
              <a:cs typeface="Calibri"/>
              <a:sym typeface="Calibri"/>
            </a:endParaRPr>
          </a:p>
        </p:txBody>
      </p:sp>
      <p:sp>
        <p:nvSpPr>
          <p:cNvPr id="513" name="Google Shape;513;p15"/>
          <p:cNvSpPr/>
          <p:nvPr/>
        </p:nvSpPr>
        <p:spPr>
          <a:xfrm>
            <a:off x="5394960" y="1865376"/>
            <a:ext cx="6199632" cy="896112"/>
          </a:xfrm>
          <a:prstGeom prst="roundRect">
            <a:avLst>
              <a:gd fmla="val 612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5"/>
          <p:cNvSpPr/>
          <p:nvPr/>
        </p:nvSpPr>
        <p:spPr>
          <a:xfrm>
            <a:off x="5614416" y="1975104"/>
            <a:ext cx="5760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50"/>
              <a:buFont typeface="Calibri"/>
              <a:buNone/>
            </a:pPr>
            <a:r>
              <a:rPr b="1" i="0" lang="en-US" sz="1350" u="none" cap="none" strike="noStrike">
                <a:solidFill>
                  <a:srgbClr val="2A3A78"/>
                </a:solidFill>
                <a:latin typeface="Calibri"/>
                <a:ea typeface="Calibri"/>
                <a:cs typeface="Calibri"/>
                <a:sym typeface="Calibri"/>
              </a:rPr>
              <a:t>Generalization</a:t>
            </a:r>
            <a:endParaRPr b="0" i="0" sz="1350" u="none" cap="none" strike="noStrike">
              <a:solidFill>
                <a:schemeClr val="dk1"/>
              </a:solidFill>
              <a:latin typeface="Calibri"/>
              <a:ea typeface="Calibri"/>
              <a:cs typeface="Calibri"/>
              <a:sym typeface="Calibri"/>
            </a:endParaRPr>
          </a:p>
        </p:txBody>
      </p:sp>
      <p:sp>
        <p:nvSpPr>
          <p:cNvPr id="515" name="Google Shape;515;p15"/>
          <p:cNvSpPr/>
          <p:nvPr/>
        </p:nvSpPr>
        <p:spPr>
          <a:xfrm>
            <a:off x="5614416" y="2249424"/>
            <a:ext cx="576072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Student and Administrator specialize the abstract User class, so authentication and profile behavior are defined once.</a:t>
            </a:r>
            <a:endParaRPr b="0" i="0" sz="1150" u="none" cap="none" strike="noStrike">
              <a:solidFill>
                <a:schemeClr val="dk1"/>
              </a:solidFill>
              <a:latin typeface="Calibri"/>
              <a:ea typeface="Calibri"/>
              <a:cs typeface="Calibri"/>
              <a:sym typeface="Calibri"/>
            </a:endParaRPr>
          </a:p>
        </p:txBody>
      </p:sp>
      <p:sp>
        <p:nvSpPr>
          <p:cNvPr id="516" name="Google Shape;516;p15"/>
          <p:cNvSpPr/>
          <p:nvPr/>
        </p:nvSpPr>
        <p:spPr>
          <a:xfrm>
            <a:off x="5394960" y="2871216"/>
            <a:ext cx="6199632" cy="896112"/>
          </a:xfrm>
          <a:prstGeom prst="roundRect">
            <a:avLst>
              <a:gd fmla="val 6122" name="adj"/>
            </a:avLst>
          </a:prstGeom>
          <a:solidFill>
            <a:srgbClr val="FFFFFF"/>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5"/>
          <p:cNvSpPr/>
          <p:nvPr/>
        </p:nvSpPr>
        <p:spPr>
          <a:xfrm>
            <a:off x="5614416" y="2980944"/>
            <a:ext cx="5760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50"/>
              <a:buFont typeface="Calibri"/>
              <a:buNone/>
            </a:pPr>
            <a:r>
              <a:rPr b="1" i="0" lang="en-US" sz="1350" u="none" cap="none" strike="noStrike">
                <a:solidFill>
                  <a:srgbClr val="2A3A78"/>
                </a:solidFill>
                <a:latin typeface="Calibri"/>
                <a:ea typeface="Calibri"/>
                <a:cs typeface="Calibri"/>
                <a:sym typeface="Calibri"/>
              </a:rPr>
              <a:t>Aggregation</a:t>
            </a:r>
            <a:endParaRPr b="0" i="0" sz="1350" u="none" cap="none" strike="noStrike">
              <a:solidFill>
                <a:schemeClr val="dk1"/>
              </a:solidFill>
              <a:latin typeface="Calibri"/>
              <a:ea typeface="Calibri"/>
              <a:cs typeface="Calibri"/>
              <a:sym typeface="Calibri"/>
            </a:endParaRPr>
          </a:p>
        </p:txBody>
      </p:sp>
      <p:sp>
        <p:nvSpPr>
          <p:cNvPr id="518" name="Google Shape;518;p15"/>
          <p:cNvSpPr/>
          <p:nvPr/>
        </p:nvSpPr>
        <p:spPr>
          <a:xfrm>
            <a:off x="5614416" y="3255264"/>
            <a:ext cx="576072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InterviewSession aggregates the Questions asked in it, and QuestionBank aggregates the reusable Question pool. Questions outlive any single session.</a:t>
            </a:r>
            <a:endParaRPr b="0" i="0" sz="1150" u="none" cap="none" strike="noStrike">
              <a:solidFill>
                <a:schemeClr val="dk1"/>
              </a:solidFill>
              <a:latin typeface="Calibri"/>
              <a:ea typeface="Calibri"/>
              <a:cs typeface="Calibri"/>
              <a:sym typeface="Calibri"/>
            </a:endParaRPr>
          </a:p>
        </p:txBody>
      </p:sp>
      <p:sp>
        <p:nvSpPr>
          <p:cNvPr id="519" name="Google Shape;519;p15"/>
          <p:cNvSpPr/>
          <p:nvPr/>
        </p:nvSpPr>
        <p:spPr>
          <a:xfrm>
            <a:off x="5394960" y="3877056"/>
            <a:ext cx="6199632" cy="896112"/>
          </a:xfrm>
          <a:prstGeom prst="roundRect">
            <a:avLst>
              <a:gd fmla="val 612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5614416" y="3986784"/>
            <a:ext cx="5760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50"/>
              <a:buFont typeface="Calibri"/>
              <a:buNone/>
            </a:pPr>
            <a:r>
              <a:rPr b="1" i="0" lang="en-US" sz="1350" u="none" cap="none" strike="noStrike">
                <a:solidFill>
                  <a:srgbClr val="2A3A78"/>
                </a:solidFill>
                <a:latin typeface="Calibri"/>
                <a:ea typeface="Calibri"/>
                <a:cs typeface="Calibri"/>
                <a:sym typeface="Calibri"/>
              </a:rPr>
              <a:t>Composition</a:t>
            </a:r>
            <a:endParaRPr b="0" i="0" sz="1350" u="none" cap="none" strike="noStrike">
              <a:solidFill>
                <a:schemeClr val="dk1"/>
              </a:solidFill>
              <a:latin typeface="Calibri"/>
              <a:ea typeface="Calibri"/>
              <a:cs typeface="Calibri"/>
              <a:sym typeface="Calibri"/>
            </a:endParaRPr>
          </a:p>
        </p:txBody>
      </p:sp>
      <p:sp>
        <p:nvSpPr>
          <p:cNvPr id="521" name="Google Shape;521;p15"/>
          <p:cNvSpPr/>
          <p:nvPr/>
        </p:nvSpPr>
        <p:spPr>
          <a:xfrm>
            <a:off x="5614416" y="4261104"/>
            <a:ext cx="576072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InterviewSession composes the Responses recorded in it. A Response has no meaning outside its session and is deleted with it.</a:t>
            </a:r>
            <a:endParaRPr b="0" i="0" sz="1150" u="none" cap="none" strike="noStrike">
              <a:solidFill>
                <a:schemeClr val="dk1"/>
              </a:solidFill>
              <a:latin typeface="Calibri"/>
              <a:ea typeface="Calibri"/>
              <a:cs typeface="Calibri"/>
              <a:sym typeface="Calibri"/>
            </a:endParaRPr>
          </a:p>
        </p:txBody>
      </p:sp>
      <p:sp>
        <p:nvSpPr>
          <p:cNvPr id="522" name="Google Shape;522;p15"/>
          <p:cNvSpPr/>
          <p:nvPr/>
        </p:nvSpPr>
        <p:spPr>
          <a:xfrm>
            <a:off x="5394960" y="4882896"/>
            <a:ext cx="6199632" cy="896112"/>
          </a:xfrm>
          <a:prstGeom prst="roundRect">
            <a:avLst>
              <a:gd fmla="val 6122" name="adj"/>
            </a:avLst>
          </a:prstGeom>
          <a:solidFill>
            <a:srgbClr val="FFFFFF"/>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5614416" y="4992624"/>
            <a:ext cx="5760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50"/>
              <a:buFont typeface="Calibri"/>
              <a:buNone/>
            </a:pPr>
            <a:r>
              <a:rPr b="1" i="0" lang="en-US" sz="1350" u="none" cap="none" strike="noStrike">
                <a:solidFill>
                  <a:srgbClr val="2A3A78"/>
                </a:solidFill>
                <a:latin typeface="Calibri"/>
                <a:ea typeface="Calibri"/>
                <a:cs typeface="Calibri"/>
                <a:sym typeface="Calibri"/>
              </a:rPr>
              <a:t>Association</a:t>
            </a:r>
            <a:endParaRPr b="0" i="0" sz="1350" u="none" cap="none" strike="noStrike">
              <a:solidFill>
                <a:schemeClr val="dk1"/>
              </a:solidFill>
              <a:latin typeface="Calibri"/>
              <a:ea typeface="Calibri"/>
              <a:cs typeface="Calibri"/>
              <a:sym typeface="Calibri"/>
            </a:endParaRPr>
          </a:p>
        </p:txBody>
      </p:sp>
      <p:sp>
        <p:nvSpPr>
          <p:cNvPr id="524" name="Google Shape;524;p15"/>
          <p:cNvSpPr/>
          <p:nvPr/>
        </p:nvSpPr>
        <p:spPr>
          <a:xfrm>
            <a:off x="5614416" y="5266944"/>
            <a:ext cx="576072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AIEngine supports 0..* sessions and generates 0..* FeedbackReports. Each completed session is evaluated by at most one report.</a:t>
            </a:r>
            <a:endParaRPr b="0" i="0" sz="1150" u="none" cap="none" strike="noStrike">
              <a:solidFill>
                <a:schemeClr val="dk1"/>
              </a:solidFill>
              <a:latin typeface="Calibri"/>
              <a:ea typeface="Calibri"/>
              <a:cs typeface="Calibri"/>
              <a:sym typeface="Calibri"/>
            </a:endParaRPr>
          </a:p>
        </p:txBody>
      </p:sp>
      <p:sp>
        <p:nvSpPr>
          <p:cNvPr id="525" name="Google Shape;525;p15"/>
          <p:cNvSpPr/>
          <p:nvPr/>
        </p:nvSpPr>
        <p:spPr>
          <a:xfrm>
            <a:off x="5394960" y="5815584"/>
            <a:ext cx="6199632" cy="420624"/>
          </a:xfrm>
          <a:prstGeom prst="roundRect">
            <a:avLst>
              <a:gd fmla="val 13043"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5"/>
          <p:cNvSpPr/>
          <p:nvPr/>
        </p:nvSpPr>
        <p:spPr>
          <a:xfrm>
            <a:off x="5614416" y="5815584"/>
            <a:ext cx="57607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5F1E"/>
              </a:buClr>
              <a:buSzPts val="1100"/>
              <a:buFont typeface="Calibri"/>
              <a:buNone/>
            </a:pPr>
            <a:r>
              <a:rPr b="0" i="0" lang="en-US" sz="1100" u="none" cap="none" strike="noStrike">
                <a:solidFill>
                  <a:srgbClr val="9A5F1E"/>
                </a:solidFill>
                <a:latin typeface="Calibri"/>
                <a:ea typeface="Calibri"/>
                <a:cs typeface="Calibri"/>
                <a:sym typeface="Calibri"/>
              </a:rPr>
              <a:t>AIEngine holds modelName and promptTemplate, which is where the AI pipeline work lives.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1" name="Shape 531"/>
        <p:cNvGrpSpPr/>
        <p:nvPr/>
      </p:nvGrpSpPr>
      <p:grpSpPr>
        <a:xfrm>
          <a:off x="0" y="0"/>
          <a:ext cx="0" cy="0"/>
          <a:chOff x="0" y="0"/>
          <a:chExt cx="0" cy="0"/>
        </a:xfrm>
      </p:grpSpPr>
      <p:sp>
        <p:nvSpPr>
          <p:cNvPr id="532" name="Google Shape;532;p16"/>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Architectural Design:  Model-View-Controller</a:t>
            </a:r>
            <a:endParaRPr b="0" i="0" sz="3000" u="none" cap="none" strike="noStrike">
              <a:solidFill>
                <a:schemeClr val="dk1"/>
              </a:solidFill>
              <a:latin typeface="Calibri"/>
              <a:ea typeface="Calibri"/>
              <a:cs typeface="Calibri"/>
              <a:sym typeface="Calibri"/>
            </a:endParaRPr>
          </a:p>
        </p:txBody>
      </p:sp>
      <p:sp>
        <p:nvSpPr>
          <p:cNvPr id="534" name="Google Shape;534;p16"/>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Sommerville Figure 6.6 pattern, applied to Interview Lens</a:t>
            </a:r>
            <a:endParaRPr b="0" i="0" sz="1300" u="none" cap="none" strike="noStrike">
              <a:solidFill>
                <a:schemeClr val="dk1"/>
              </a:solidFill>
              <a:latin typeface="Calibri"/>
              <a:ea typeface="Calibri"/>
              <a:cs typeface="Calibri"/>
              <a:sym typeface="Calibri"/>
            </a:endParaRPr>
          </a:p>
        </p:txBody>
      </p:sp>
      <p:sp>
        <p:nvSpPr>
          <p:cNvPr id="535" name="Google Shape;535;p16"/>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
        <p:nvSpPr>
          <p:cNvPr id="536" name="Google Shape;536;p16"/>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pic>
        <p:nvPicPr>
          <p:cNvPr descr="/home/claude/figs/fig-007.png" id="537" name="Google Shape;537;p16"/>
          <p:cNvPicPr preferRelativeResize="0"/>
          <p:nvPr/>
        </p:nvPicPr>
        <p:blipFill rotWithShape="1">
          <a:blip r:embed="rId3">
            <a:alphaModFix/>
          </a:blip>
          <a:srcRect b="0" l="0" r="0" t="0"/>
          <a:stretch/>
        </p:blipFill>
        <p:spPr>
          <a:xfrm>
            <a:off x="1143000" y="1417320"/>
            <a:ext cx="3429000" cy="4617720"/>
          </a:xfrm>
          <a:prstGeom prst="rect">
            <a:avLst/>
          </a:prstGeom>
          <a:noFill/>
          <a:ln>
            <a:noFill/>
          </a:ln>
        </p:spPr>
      </p:pic>
      <p:sp>
        <p:nvSpPr>
          <p:cNvPr id="538" name="Google Shape;538;p16"/>
          <p:cNvSpPr/>
          <p:nvPr/>
        </p:nvSpPr>
        <p:spPr>
          <a:xfrm>
            <a:off x="640080" y="6071616"/>
            <a:ext cx="44348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950"/>
              <a:buFont typeface="Calibri"/>
              <a:buNone/>
            </a:pPr>
            <a:r>
              <a:rPr b="0" i="1" lang="en-US" sz="950" u="none" cap="none" strike="noStrike">
                <a:solidFill>
                  <a:srgbClr val="6B7185"/>
                </a:solidFill>
                <a:latin typeface="Calibri"/>
                <a:ea typeface="Calibri"/>
                <a:cs typeface="Calibri"/>
                <a:sym typeface="Calibri"/>
              </a:rPr>
              <a:t>Figure 8. MVC architecture of Interview Lens</a:t>
            </a:r>
            <a:endParaRPr b="0" i="0" sz="950" u="none" cap="none" strike="noStrike">
              <a:solidFill>
                <a:schemeClr val="dk1"/>
              </a:solidFill>
              <a:latin typeface="Calibri"/>
              <a:ea typeface="Calibri"/>
              <a:cs typeface="Calibri"/>
              <a:sym typeface="Calibri"/>
            </a:endParaRPr>
          </a:p>
        </p:txBody>
      </p:sp>
      <p:sp>
        <p:nvSpPr>
          <p:cNvPr id="539" name="Google Shape;539;p16"/>
          <p:cNvSpPr/>
          <p:nvPr/>
        </p:nvSpPr>
        <p:spPr>
          <a:xfrm>
            <a:off x="5029200" y="1463040"/>
            <a:ext cx="656539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2000"/>
              <a:buFont typeface="Cambria"/>
              <a:buNone/>
            </a:pPr>
            <a:r>
              <a:rPr b="1" i="0" lang="en-US" sz="2000" u="none" cap="none" strike="noStrike">
                <a:solidFill>
                  <a:srgbClr val="141B34"/>
                </a:solidFill>
                <a:latin typeface="Cambria"/>
                <a:ea typeface="Cambria"/>
                <a:cs typeface="Cambria"/>
                <a:sym typeface="Cambria"/>
              </a:rPr>
              <a:t>Why MVC</a:t>
            </a:r>
            <a:endParaRPr b="0" i="0" sz="2000" u="none" cap="none" strike="noStrike">
              <a:solidFill>
                <a:schemeClr val="dk1"/>
              </a:solidFill>
              <a:latin typeface="Calibri"/>
              <a:ea typeface="Calibri"/>
              <a:cs typeface="Calibri"/>
              <a:sym typeface="Calibri"/>
            </a:endParaRPr>
          </a:p>
        </p:txBody>
      </p:sp>
      <p:sp>
        <p:nvSpPr>
          <p:cNvPr id="540" name="Google Shape;540;p16"/>
          <p:cNvSpPr/>
          <p:nvPr/>
        </p:nvSpPr>
        <p:spPr>
          <a:xfrm>
            <a:off x="5029200" y="1828800"/>
            <a:ext cx="6565392" cy="9144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2B2F42"/>
              </a:buClr>
              <a:buSzPts val="1250"/>
              <a:buFont typeface="Calibri"/>
              <a:buNone/>
            </a:pPr>
            <a:r>
              <a:rPr b="0" i="0" lang="en-US" sz="1250" u="none" cap="none" strike="noStrike">
                <a:solidFill>
                  <a:srgbClr val="2B2F42"/>
                </a:solidFill>
                <a:latin typeface="Calibri"/>
                <a:ea typeface="Calibri"/>
                <a:cs typeface="Calibri"/>
                <a:sym typeface="Calibri"/>
              </a:rPr>
              <a:t>The same underlying data, sessions, responses and feedback, is presented three different ways: a live interview screen, a feedback report and a progress dashboard. Presentation is also the part we expect to change most as we iterate on UI/UX. MVC isolates those views from the logic that produces them.</a:t>
            </a:r>
            <a:endParaRPr b="0" i="0" sz="1250" u="none" cap="none" strike="noStrike">
              <a:solidFill>
                <a:schemeClr val="dk1"/>
              </a:solidFill>
              <a:latin typeface="Calibri"/>
              <a:ea typeface="Calibri"/>
              <a:cs typeface="Calibri"/>
              <a:sym typeface="Calibri"/>
            </a:endParaRPr>
          </a:p>
        </p:txBody>
      </p:sp>
      <p:sp>
        <p:nvSpPr>
          <p:cNvPr id="541" name="Google Shape;541;p16"/>
          <p:cNvSpPr/>
          <p:nvPr/>
        </p:nvSpPr>
        <p:spPr>
          <a:xfrm>
            <a:off x="5029200" y="2834640"/>
            <a:ext cx="6565392" cy="694944"/>
          </a:xfrm>
          <a:prstGeom prst="roundRect">
            <a:avLst>
              <a:gd fmla="val 7895"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5230368" y="3008376"/>
            <a:ext cx="1051560" cy="347472"/>
          </a:xfrm>
          <a:prstGeom prst="roundRect">
            <a:avLst>
              <a:gd fmla="val 13158"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5230368" y="3008376"/>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View</a:t>
            </a:r>
            <a:endParaRPr b="0" i="0" sz="1250" u="none" cap="none" strike="noStrike">
              <a:solidFill>
                <a:schemeClr val="dk1"/>
              </a:solidFill>
              <a:latin typeface="Calibri"/>
              <a:ea typeface="Calibri"/>
              <a:cs typeface="Calibri"/>
              <a:sym typeface="Calibri"/>
            </a:endParaRPr>
          </a:p>
        </p:txBody>
      </p:sp>
      <p:sp>
        <p:nvSpPr>
          <p:cNvPr id="544" name="Google Shape;544;p16"/>
          <p:cNvSpPr/>
          <p:nvPr/>
        </p:nvSpPr>
        <p:spPr>
          <a:xfrm>
            <a:off x="6419088" y="2834640"/>
            <a:ext cx="4937760" cy="694944"/>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React components, session and report pages, form management.</a:t>
            </a:r>
            <a:endParaRPr b="0" i="0" sz="1200" u="none" cap="none" strike="noStrike">
              <a:solidFill>
                <a:schemeClr val="dk1"/>
              </a:solidFill>
              <a:latin typeface="Calibri"/>
              <a:ea typeface="Calibri"/>
              <a:cs typeface="Calibri"/>
              <a:sym typeface="Calibri"/>
            </a:endParaRPr>
          </a:p>
        </p:txBody>
      </p:sp>
      <p:sp>
        <p:nvSpPr>
          <p:cNvPr id="545" name="Google Shape;545;p16"/>
          <p:cNvSpPr/>
          <p:nvPr/>
        </p:nvSpPr>
        <p:spPr>
          <a:xfrm>
            <a:off x="5029200" y="3621024"/>
            <a:ext cx="6565392" cy="694944"/>
          </a:xfrm>
          <a:prstGeom prst="roundRect">
            <a:avLst>
              <a:gd fmla="val 7895"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5230368" y="3794760"/>
            <a:ext cx="1051560" cy="347472"/>
          </a:xfrm>
          <a:prstGeom prst="roundRect">
            <a:avLst>
              <a:gd fmla="val 13158" name="adj"/>
            </a:avLst>
          </a:prstGeom>
          <a:solidFill>
            <a:srgbClr val="5C6BA8"/>
          </a:solidFill>
          <a:ln cap="flat" cmpd="sng" w="12700">
            <a:solidFill>
              <a:srgbClr val="5C6B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5230368" y="3794760"/>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Controller</a:t>
            </a:r>
            <a:endParaRPr b="0" i="0" sz="1250" u="none" cap="none" strike="noStrike">
              <a:solidFill>
                <a:schemeClr val="dk1"/>
              </a:solidFill>
              <a:latin typeface="Calibri"/>
              <a:ea typeface="Calibri"/>
              <a:cs typeface="Calibri"/>
              <a:sym typeface="Calibri"/>
            </a:endParaRPr>
          </a:p>
        </p:txBody>
      </p:sp>
      <p:sp>
        <p:nvSpPr>
          <p:cNvPr id="548" name="Google Shape;548;p16"/>
          <p:cNvSpPr/>
          <p:nvPr/>
        </p:nvSpPr>
        <p:spPr>
          <a:xfrm>
            <a:off x="6419088" y="3621024"/>
            <a:ext cx="4937760" cy="694944"/>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2B2F42"/>
              </a:buClr>
              <a:buSzPts val="1200"/>
              <a:buFont typeface="Calibri"/>
              <a:buNone/>
            </a:pPr>
            <a:r>
              <a:rPr b="0" i="0" lang="en-US" sz="1200" u="none" cap="none" strike="noStrike">
                <a:solidFill>
                  <a:srgbClr val="2B2F42"/>
                </a:solidFill>
                <a:latin typeface="Calibri"/>
                <a:ea typeface="Calibri"/>
                <a:cs typeface="Calibri"/>
                <a:sym typeface="Calibri"/>
              </a:rPr>
              <a:t>HTTP request processing, input validation, session, feedback and auth logic.</a:t>
            </a:r>
            <a:endParaRPr b="0" i="0" sz="1200" u="none" cap="none" strike="noStrike">
              <a:solidFill>
                <a:schemeClr val="dk1"/>
              </a:solidFill>
              <a:latin typeface="Calibri"/>
              <a:ea typeface="Calibri"/>
              <a:cs typeface="Calibri"/>
              <a:sym typeface="Calibri"/>
            </a:endParaRPr>
          </a:p>
        </p:txBody>
      </p:sp>
      <p:sp>
        <p:nvSpPr>
          <p:cNvPr id="549" name="Google Shape;549;p16"/>
          <p:cNvSpPr/>
          <p:nvPr/>
        </p:nvSpPr>
        <p:spPr>
          <a:xfrm>
            <a:off x="5029200" y="4407408"/>
            <a:ext cx="6565392" cy="694944"/>
          </a:xfrm>
          <a:prstGeom prst="roundRect">
            <a:avLst>
              <a:gd fmla="val 7895"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5230368" y="4581144"/>
            <a:ext cx="1051560" cy="347472"/>
          </a:xfrm>
          <a:prstGeom prst="roundRect">
            <a:avLst>
              <a:gd fmla="val 13158"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5230368" y="4581144"/>
            <a:ext cx="1051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Model</a:t>
            </a:r>
            <a:endParaRPr b="0" i="0" sz="1250" u="none" cap="none" strike="noStrike">
              <a:solidFill>
                <a:schemeClr val="dk1"/>
              </a:solidFill>
              <a:latin typeface="Calibri"/>
              <a:ea typeface="Calibri"/>
              <a:cs typeface="Calibri"/>
              <a:sym typeface="Calibri"/>
            </a:endParaRPr>
          </a:p>
        </p:txBody>
      </p:sp>
      <p:sp>
        <p:nvSpPr>
          <p:cNvPr id="552" name="Google Shape;552;p16"/>
          <p:cNvSpPr/>
          <p:nvPr/>
        </p:nvSpPr>
        <p:spPr>
          <a:xfrm>
            <a:off x="6419088" y="4407408"/>
            <a:ext cx="4937760" cy="694944"/>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C9D0E8"/>
              </a:buClr>
              <a:buSzPts val="1200"/>
              <a:buFont typeface="Calibri"/>
              <a:buNone/>
            </a:pPr>
            <a:r>
              <a:rPr b="0" i="0" lang="en-US" sz="1200" u="none" cap="none" strike="noStrike">
                <a:solidFill>
                  <a:srgbClr val="C9D0E8"/>
                </a:solidFill>
                <a:latin typeface="Calibri"/>
                <a:ea typeface="Calibri"/>
                <a:cs typeface="Calibri"/>
                <a:sym typeface="Calibri"/>
              </a:rPr>
              <a:t>Domain classes, AI Engine calls, and the PostgreSQL database.</a:t>
            </a:r>
            <a:endParaRPr b="0" i="0" sz="1200" u="none" cap="none" strike="noStrike">
              <a:solidFill>
                <a:schemeClr val="dk1"/>
              </a:solidFill>
              <a:latin typeface="Calibri"/>
              <a:ea typeface="Calibri"/>
              <a:cs typeface="Calibri"/>
              <a:sym typeface="Calibri"/>
            </a:endParaRPr>
          </a:p>
        </p:txBody>
      </p:sp>
      <p:sp>
        <p:nvSpPr>
          <p:cNvPr id="553" name="Google Shape;553;p16"/>
          <p:cNvSpPr/>
          <p:nvPr/>
        </p:nvSpPr>
        <p:spPr>
          <a:xfrm>
            <a:off x="5029200" y="5193792"/>
            <a:ext cx="6565392" cy="950976"/>
          </a:xfrm>
          <a:prstGeom prst="roundRect">
            <a:avLst>
              <a:gd fmla="val 5769"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5248656" y="5303520"/>
            <a:ext cx="6126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5F1E"/>
              </a:buClr>
              <a:buSzPts val="1300"/>
              <a:buFont typeface="Calibri"/>
              <a:buNone/>
            </a:pPr>
            <a:r>
              <a:rPr b="1" i="0" lang="en-US" sz="1300" u="none" cap="none" strike="noStrike">
                <a:solidFill>
                  <a:srgbClr val="9A5F1E"/>
                </a:solidFill>
                <a:latin typeface="Calibri"/>
                <a:ea typeface="Calibri"/>
                <a:cs typeface="Calibri"/>
                <a:sym typeface="Calibri"/>
              </a:rPr>
              <a:t>It also maps onto how we split the work</a:t>
            </a:r>
            <a:endParaRPr b="0" i="0" sz="1300" u="none" cap="none" strike="noStrike">
              <a:solidFill>
                <a:schemeClr val="dk1"/>
              </a:solidFill>
              <a:latin typeface="Calibri"/>
              <a:ea typeface="Calibri"/>
              <a:cs typeface="Calibri"/>
              <a:sym typeface="Calibri"/>
            </a:endParaRPr>
          </a:p>
        </p:txBody>
      </p:sp>
      <p:sp>
        <p:nvSpPr>
          <p:cNvPr id="555" name="Google Shape;555;p16"/>
          <p:cNvSpPr/>
          <p:nvPr/>
        </p:nvSpPr>
        <p:spPr>
          <a:xfrm>
            <a:off x="5248656" y="5577840"/>
            <a:ext cx="6126480" cy="493776"/>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Frontend work stays in the View, endpoint work in the Controller, and database plus AI pipeline work in the Model. That lets all five of us work in parallel with very few merge conflicts.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17"/>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7"/>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Comparison with Similar Designs</a:t>
            </a:r>
            <a:endParaRPr b="0" i="0" sz="3000" u="none" cap="none" strike="noStrike">
              <a:solidFill>
                <a:schemeClr val="dk1"/>
              </a:solidFill>
              <a:latin typeface="Calibri"/>
              <a:ea typeface="Calibri"/>
              <a:cs typeface="Calibri"/>
              <a:sym typeface="Calibri"/>
            </a:endParaRPr>
          </a:p>
        </p:txBody>
      </p:sp>
      <p:sp>
        <p:nvSpPr>
          <p:cNvPr id="563" name="Google Shape;563;p17"/>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Design decisions and assumptions measured against existing interview practice tools</a:t>
            </a:r>
            <a:endParaRPr b="0" i="0" sz="1300" u="none" cap="none" strike="noStrike">
              <a:solidFill>
                <a:schemeClr val="dk1"/>
              </a:solidFill>
              <a:latin typeface="Calibri"/>
              <a:ea typeface="Calibri"/>
              <a:cs typeface="Calibri"/>
              <a:sym typeface="Calibri"/>
            </a:endParaRPr>
          </a:p>
        </p:txBody>
      </p:sp>
      <p:sp>
        <p:nvSpPr>
          <p:cNvPr id="564" name="Google Shape;564;p17"/>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
        <p:nvSpPr>
          <p:cNvPr id="565" name="Google Shape;565;p17"/>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566" name="Google Shape;566;p17"/>
          <p:cNvSpPr/>
          <p:nvPr/>
        </p:nvSpPr>
        <p:spPr>
          <a:xfrm>
            <a:off x="566928" y="1463040"/>
            <a:ext cx="6949440" cy="841248"/>
          </a:xfrm>
          <a:prstGeom prst="roundRect">
            <a:avLst>
              <a:gd fmla="val 652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7"/>
          <p:cNvSpPr/>
          <p:nvPr/>
        </p:nvSpPr>
        <p:spPr>
          <a:xfrm>
            <a:off x="786384" y="1554480"/>
            <a:ext cx="6492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00"/>
              <a:buFont typeface="Calibri"/>
              <a:buNone/>
            </a:pPr>
            <a:r>
              <a:rPr b="1" i="0" lang="en-US" sz="1300" u="none" cap="none" strike="noStrike">
                <a:solidFill>
                  <a:srgbClr val="2A3A78"/>
                </a:solidFill>
                <a:latin typeface="Calibri"/>
                <a:ea typeface="Calibri"/>
                <a:cs typeface="Calibri"/>
                <a:sym typeface="Calibri"/>
              </a:rPr>
              <a:t>Google Interview Warmup [2]</a:t>
            </a:r>
            <a:endParaRPr b="0" i="0" sz="1300" u="none" cap="none" strike="noStrike">
              <a:solidFill>
                <a:schemeClr val="dk1"/>
              </a:solidFill>
              <a:latin typeface="Calibri"/>
              <a:ea typeface="Calibri"/>
              <a:cs typeface="Calibri"/>
              <a:sym typeface="Calibri"/>
            </a:endParaRPr>
          </a:p>
        </p:txBody>
      </p:sp>
      <p:sp>
        <p:nvSpPr>
          <p:cNvPr id="568" name="Google Shape;568;p17"/>
          <p:cNvSpPr/>
          <p:nvPr/>
        </p:nvSpPr>
        <p:spPr>
          <a:xfrm>
            <a:off x="786384" y="1810512"/>
            <a:ext cx="6492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Free, browser based, five questions with transcript insights and highlighted job related terms.</a:t>
            </a:r>
            <a:endParaRPr b="0" i="0" sz="1050" u="none" cap="none" strike="noStrike">
              <a:solidFill>
                <a:schemeClr val="dk1"/>
              </a:solidFill>
              <a:latin typeface="Calibri"/>
              <a:ea typeface="Calibri"/>
              <a:cs typeface="Calibri"/>
              <a:sym typeface="Calibri"/>
            </a:endParaRPr>
          </a:p>
        </p:txBody>
      </p:sp>
      <p:sp>
        <p:nvSpPr>
          <p:cNvPr id="569" name="Google Shape;569;p17"/>
          <p:cNvSpPr/>
          <p:nvPr/>
        </p:nvSpPr>
        <p:spPr>
          <a:xfrm>
            <a:off x="786384" y="2011680"/>
            <a:ext cx="6492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402F"/>
              </a:buClr>
              <a:buSzPts val="1050"/>
              <a:buFont typeface="Calibri"/>
              <a:buNone/>
            </a:pPr>
            <a:r>
              <a:rPr b="0" i="1" lang="en-US" sz="1050" u="none" cap="none" strike="noStrike">
                <a:solidFill>
                  <a:srgbClr val="B3402F"/>
                </a:solidFill>
                <a:latin typeface="Calibri"/>
                <a:ea typeface="Calibri"/>
                <a:cs typeface="Calibri"/>
                <a:sym typeface="Calibri"/>
              </a:rPr>
              <a:t>Gap:  No numeric scoring, no adaptive follow ups, no account, and no history across sessions.</a:t>
            </a:r>
            <a:endParaRPr b="0" i="0" sz="1050" u="none" cap="none" strike="noStrike">
              <a:solidFill>
                <a:schemeClr val="dk1"/>
              </a:solidFill>
              <a:latin typeface="Calibri"/>
              <a:ea typeface="Calibri"/>
              <a:cs typeface="Calibri"/>
              <a:sym typeface="Calibri"/>
            </a:endParaRPr>
          </a:p>
        </p:txBody>
      </p:sp>
      <p:sp>
        <p:nvSpPr>
          <p:cNvPr id="570" name="Google Shape;570;p17"/>
          <p:cNvSpPr/>
          <p:nvPr/>
        </p:nvSpPr>
        <p:spPr>
          <a:xfrm>
            <a:off x="566928" y="2395728"/>
            <a:ext cx="6949440" cy="841248"/>
          </a:xfrm>
          <a:prstGeom prst="roundRect">
            <a:avLst>
              <a:gd fmla="val 6522" name="adj"/>
            </a:avLst>
          </a:prstGeom>
          <a:solidFill>
            <a:srgbClr val="FFFFFF"/>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786384" y="2487168"/>
            <a:ext cx="6492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00"/>
              <a:buFont typeface="Calibri"/>
              <a:buNone/>
            </a:pPr>
            <a:r>
              <a:rPr b="1" i="0" lang="en-US" sz="1300" u="none" cap="none" strike="noStrike">
                <a:solidFill>
                  <a:srgbClr val="2A3A78"/>
                </a:solidFill>
                <a:latin typeface="Calibri"/>
                <a:ea typeface="Calibri"/>
                <a:cs typeface="Calibri"/>
                <a:sym typeface="Calibri"/>
              </a:rPr>
              <a:t>Pramp / Exponent [3]</a:t>
            </a:r>
            <a:endParaRPr b="0" i="0" sz="1300" u="none" cap="none" strike="noStrike">
              <a:solidFill>
                <a:schemeClr val="dk1"/>
              </a:solidFill>
              <a:latin typeface="Calibri"/>
              <a:ea typeface="Calibri"/>
              <a:cs typeface="Calibri"/>
              <a:sym typeface="Calibri"/>
            </a:endParaRPr>
          </a:p>
        </p:txBody>
      </p:sp>
      <p:sp>
        <p:nvSpPr>
          <p:cNvPr id="572" name="Google Shape;572;p17"/>
          <p:cNvSpPr/>
          <p:nvPr/>
        </p:nvSpPr>
        <p:spPr>
          <a:xfrm>
            <a:off x="786384" y="2743200"/>
            <a:ext cx="6492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Peer to peer live mock interviews with real human feedback at no cost.</a:t>
            </a:r>
            <a:endParaRPr b="0" i="0" sz="1050" u="none" cap="none" strike="noStrike">
              <a:solidFill>
                <a:schemeClr val="dk1"/>
              </a:solidFill>
              <a:latin typeface="Calibri"/>
              <a:ea typeface="Calibri"/>
              <a:cs typeface="Calibri"/>
              <a:sym typeface="Calibri"/>
            </a:endParaRPr>
          </a:p>
        </p:txBody>
      </p:sp>
      <p:sp>
        <p:nvSpPr>
          <p:cNvPr id="573" name="Google Shape;573;p17"/>
          <p:cNvSpPr/>
          <p:nvPr/>
        </p:nvSpPr>
        <p:spPr>
          <a:xfrm>
            <a:off x="786384" y="2944368"/>
            <a:ext cx="6492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402F"/>
              </a:buClr>
              <a:buSzPts val="1050"/>
              <a:buFont typeface="Calibri"/>
              <a:buNone/>
            </a:pPr>
            <a:r>
              <a:rPr b="0" i="1" lang="en-US" sz="1050" u="none" cap="none" strike="noStrike">
                <a:solidFill>
                  <a:srgbClr val="B3402F"/>
                </a:solidFill>
                <a:latin typeface="Calibri"/>
                <a:ea typeface="Calibri"/>
                <a:cs typeface="Calibri"/>
                <a:sym typeface="Calibri"/>
              </a:rPr>
              <a:t>Gap:  Needs a matched peer who may not show, feedback quality varies with their skill, and the focus is largely technical.</a:t>
            </a:r>
            <a:endParaRPr b="0" i="0" sz="1050" u="none" cap="none" strike="noStrike">
              <a:solidFill>
                <a:schemeClr val="dk1"/>
              </a:solidFill>
              <a:latin typeface="Calibri"/>
              <a:ea typeface="Calibri"/>
              <a:cs typeface="Calibri"/>
              <a:sym typeface="Calibri"/>
            </a:endParaRPr>
          </a:p>
        </p:txBody>
      </p:sp>
      <p:sp>
        <p:nvSpPr>
          <p:cNvPr id="574" name="Google Shape;574;p17"/>
          <p:cNvSpPr/>
          <p:nvPr/>
        </p:nvSpPr>
        <p:spPr>
          <a:xfrm>
            <a:off x="566928" y="3328416"/>
            <a:ext cx="6949440" cy="841248"/>
          </a:xfrm>
          <a:prstGeom prst="roundRect">
            <a:avLst>
              <a:gd fmla="val 652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7"/>
          <p:cNvSpPr/>
          <p:nvPr/>
        </p:nvSpPr>
        <p:spPr>
          <a:xfrm>
            <a:off x="786384" y="3419856"/>
            <a:ext cx="6492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00"/>
              <a:buFont typeface="Calibri"/>
              <a:buNone/>
            </a:pPr>
            <a:r>
              <a:rPr b="1" i="0" lang="en-US" sz="1300" u="none" cap="none" strike="noStrike">
                <a:solidFill>
                  <a:srgbClr val="2A3A78"/>
                </a:solidFill>
                <a:latin typeface="Calibri"/>
                <a:ea typeface="Calibri"/>
                <a:cs typeface="Calibri"/>
                <a:sym typeface="Calibri"/>
              </a:rPr>
              <a:t>interviewing.io [4]</a:t>
            </a:r>
            <a:endParaRPr b="0" i="0" sz="1300" u="none" cap="none" strike="noStrike">
              <a:solidFill>
                <a:schemeClr val="dk1"/>
              </a:solidFill>
              <a:latin typeface="Calibri"/>
              <a:ea typeface="Calibri"/>
              <a:cs typeface="Calibri"/>
              <a:sym typeface="Calibri"/>
            </a:endParaRPr>
          </a:p>
        </p:txBody>
      </p:sp>
      <p:sp>
        <p:nvSpPr>
          <p:cNvPr id="576" name="Google Shape;576;p17"/>
          <p:cNvSpPr/>
          <p:nvPr/>
        </p:nvSpPr>
        <p:spPr>
          <a:xfrm>
            <a:off x="786384" y="3675888"/>
            <a:ext cx="6492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Anonymous mock interviews with engineers from large technology companies.</a:t>
            </a:r>
            <a:endParaRPr b="0" i="0" sz="1050" u="none" cap="none" strike="noStrike">
              <a:solidFill>
                <a:schemeClr val="dk1"/>
              </a:solidFill>
              <a:latin typeface="Calibri"/>
              <a:ea typeface="Calibri"/>
              <a:cs typeface="Calibri"/>
              <a:sym typeface="Calibri"/>
            </a:endParaRPr>
          </a:p>
        </p:txBody>
      </p:sp>
      <p:sp>
        <p:nvSpPr>
          <p:cNvPr id="577" name="Google Shape;577;p17"/>
          <p:cNvSpPr/>
          <p:nvPr/>
        </p:nvSpPr>
        <p:spPr>
          <a:xfrm>
            <a:off x="786384" y="3877056"/>
            <a:ext cx="6492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402F"/>
              </a:buClr>
              <a:buSzPts val="1050"/>
              <a:buFont typeface="Calibri"/>
              <a:buNone/>
            </a:pPr>
            <a:r>
              <a:rPr b="0" i="1" lang="en-US" sz="1050" u="none" cap="none" strike="noStrike">
                <a:solidFill>
                  <a:srgbClr val="B3402F"/>
                </a:solidFill>
                <a:latin typeface="Calibri"/>
                <a:ea typeface="Calibri"/>
                <a:cs typeface="Calibri"/>
                <a:sym typeface="Calibri"/>
              </a:rPr>
              <a:t>Gap:  Paid, technical interview focused, and limited behavioral coverage. Not viable for repeated weekly practice on a student budget.</a:t>
            </a:r>
            <a:endParaRPr b="0" i="0" sz="1050" u="none" cap="none" strike="noStrike">
              <a:solidFill>
                <a:schemeClr val="dk1"/>
              </a:solidFill>
              <a:latin typeface="Calibri"/>
              <a:ea typeface="Calibri"/>
              <a:cs typeface="Calibri"/>
              <a:sym typeface="Calibri"/>
            </a:endParaRPr>
          </a:p>
        </p:txBody>
      </p:sp>
      <p:sp>
        <p:nvSpPr>
          <p:cNvPr id="578" name="Google Shape;578;p17"/>
          <p:cNvSpPr/>
          <p:nvPr/>
        </p:nvSpPr>
        <p:spPr>
          <a:xfrm>
            <a:off x="566928" y="4261104"/>
            <a:ext cx="6949440" cy="841248"/>
          </a:xfrm>
          <a:prstGeom prst="roundRect">
            <a:avLst>
              <a:gd fmla="val 6522" name="adj"/>
            </a:avLst>
          </a:prstGeom>
          <a:solidFill>
            <a:srgbClr val="FFFFFF"/>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7"/>
          <p:cNvSpPr/>
          <p:nvPr/>
        </p:nvSpPr>
        <p:spPr>
          <a:xfrm>
            <a:off x="786384" y="4352544"/>
            <a:ext cx="6492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300"/>
              <a:buFont typeface="Calibri"/>
              <a:buNone/>
            </a:pPr>
            <a:r>
              <a:rPr b="1" i="0" lang="en-US" sz="1300" u="none" cap="none" strike="noStrike">
                <a:solidFill>
                  <a:srgbClr val="2A3A78"/>
                </a:solidFill>
                <a:latin typeface="Calibri"/>
                <a:ea typeface="Calibri"/>
                <a:cs typeface="Calibri"/>
                <a:sym typeface="Calibri"/>
              </a:rPr>
              <a:t>Big Interview [5]</a:t>
            </a:r>
            <a:endParaRPr b="0" i="0" sz="1300" u="none" cap="none" strike="noStrike">
              <a:solidFill>
                <a:schemeClr val="dk1"/>
              </a:solidFill>
              <a:latin typeface="Calibri"/>
              <a:ea typeface="Calibri"/>
              <a:cs typeface="Calibri"/>
              <a:sym typeface="Calibri"/>
            </a:endParaRPr>
          </a:p>
        </p:txBody>
      </p:sp>
      <p:sp>
        <p:nvSpPr>
          <p:cNvPr id="580" name="Google Shape;580;p17"/>
          <p:cNvSpPr/>
          <p:nvPr/>
        </p:nvSpPr>
        <p:spPr>
          <a:xfrm>
            <a:off x="786384" y="4608576"/>
            <a:ext cx="64922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University licensed video practice with rubric based self and peer review.</a:t>
            </a:r>
            <a:endParaRPr b="0" i="0" sz="1050" u="none" cap="none" strike="noStrike">
              <a:solidFill>
                <a:schemeClr val="dk1"/>
              </a:solidFill>
              <a:latin typeface="Calibri"/>
              <a:ea typeface="Calibri"/>
              <a:cs typeface="Calibri"/>
              <a:sym typeface="Calibri"/>
            </a:endParaRPr>
          </a:p>
        </p:txBody>
      </p:sp>
      <p:sp>
        <p:nvSpPr>
          <p:cNvPr id="581" name="Google Shape;581;p17"/>
          <p:cNvSpPr/>
          <p:nvPr/>
        </p:nvSpPr>
        <p:spPr>
          <a:xfrm>
            <a:off x="786384" y="4809744"/>
            <a:ext cx="6492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402F"/>
              </a:buClr>
              <a:buSzPts val="1050"/>
              <a:buFont typeface="Calibri"/>
              <a:buNone/>
            </a:pPr>
            <a:r>
              <a:rPr b="0" i="1" lang="en-US" sz="1050" u="none" cap="none" strike="noStrike">
                <a:solidFill>
                  <a:srgbClr val="B3402F"/>
                </a:solidFill>
                <a:latin typeface="Calibri"/>
                <a:ea typeface="Calibri"/>
                <a:cs typeface="Calibri"/>
                <a:sym typeface="Calibri"/>
              </a:rPr>
              <a:t>Gap:  Largely a pre recorded curriculum. AI feedback is limited and access depends on an institutional licence.</a:t>
            </a:r>
            <a:endParaRPr b="0" i="0" sz="1050" u="none" cap="none" strike="noStrike">
              <a:solidFill>
                <a:schemeClr val="dk1"/>
              </a:solidFill>
              <a:latin typeface="Calibri"/>
              <a:ea typeface="Calibri"/>
              <a:cs typeface="Calibri"/>
              <a:sym typeface="Calibri"/>
            </a:endParaRPr>
          </a:p>
        </p:txBody>
      </p:sp>
      <p:sp>
        <p:nvSpPr>
          <p:cNvPr id="582" name="Google Shape;582;p17"/>
          <p:cNvSpPr/>
          <p:nvPr/>
        </p:nvSpPr>
        <p:spPr>
          <a:xfrm>
            <a:off x="7772400" y="1463040"/>
            <a:ext cx="3822192" cy="4553712"/>
          </a:xfrm>
          <a:prstGeom prst="roundRect">
            <a:avLst>
              <a:gd fmla="val 1435"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7"/>
          <p:cNvSpPr/>
          <p:nvPr/>
        </p:nvSpPr>
        <p:spPr>
          <a:xfrm>
            <a:off x="8010144" y="1645920"/>
            <a:ext cx="3346704" cy="566928"/>
          </a:xfrm>
          <a:prstGeom prst="rect">
            <a:avLst/>
          </a:prstGeom>
          <a:noFill/>
          <a:ln>
            <a:noFill/>
          </a:ln>
        </p:spPr>
        <p:txBody>
          <a:bodyPr anchorCtr="0" anchor="ctr" bIns="0" lIns="0" spcFirstLastPara="1" rIns="0" wrap="square" tIns="0">
            <a:noAutofit/>
          </a:bodyPr>
          <a:lstStyle/>
          <a:p>
            <a:pPr indent="0" lvl="0" marL="0" marR="0" rtl="0" algn="l">
              <a:lnSpc>
                <a:spcPct val="115789"/>
              </a:lnSpc>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Where Interview Lens Differs</a:t>
            </a:r>
            <a:endParaRPr b="0" i="0" sz="1900" u="none" cap="none" strike="noStrike">
              <a:solidFill>
                <a:schemeClr val="dk1"/>
              </a:solidFill>
              <a:latin typeface="Calibri"/>
              <a:ea typeface="Calibri"/>
              <a:cs typeface="Calibri"/>
              <a:sym typeface="Calibri"/>
            </a:endParaRPr>
          </a:p>
        </p:txBody>
      </p:sp>
      <p:sp>
        <p:nvSpPr>
          <p:cNvPr id="584" name="Google Shape;584;p17"/>
          <p:cNvSpPr/>
          <p:nvPr/>
        </p:nvSpPr>
        <p:spPr>
          <a:xfrm>
            <a:off x="8010144" y="2286000"/>
            <a:ext cx="3346704" cy="3566160"/>
          </a:xfrm>
          <a:prstGeom prst="rect">
            <a:avLst/>
          </a:prstGeom>
          <a:noFill/>
          <a:ln>
            <a:noFill/>
          </a:ln>
        </p:spPr>
        <p:txBody>
          <a:bodyPr anchorCtr="0" anchor="ctr" bIns="0" lIns="0" spcFirstLastPara="1" rIns="0" wrap="square" tIns="0">
            <a:noAutofit/>
          </a:bodyPr>
          <a:lstStyle/>
          <a:p>
            <a:pPr indent="-342900" lvl="0" marL="342900" marR="0" rtl="0" algn="l">
              <a:lnSpc>
                <a:spcPct val="127272"/>
              </a:lnSpc>
              <a:spcBef>
                <a:spcPts val="0"/>
              </a:spcBef>
              <a:spcAft>
                <a:spcPts val="0"/>
              </a:spcAft>
              <a:buClr>
                <a:srgbClr val="D7DDF0"/>
              </a:buClr>
              <a:buSzPts val="1100"/>
              <a:buFont typeface="Calibri"/>
              <a:buChar char="▪"/>
            </a:pPr>
            <a:r>
              <a:rPr b="0" i="0" lang="en-US" sz="1100" u="none" cap="none" strike="noStrike">
                <a:solidFill>
                  <a:srgbClr val="D7DDF0"/>
                </a:solidFill>
                <a:latin typeface="Calibri"/>
                <a:ea typeface="Calibri"/>
                <a:cs typeface="Calibri"/>
                <a:sym typeface="Calibri"/>
              </a:rPr>
              <a:t>Adaptive follow ups generated from the answer just given, rather than a static question list.</a:t>
            </a:r>
            <a:endParaRPr b="0" i="0" sz="1100" u="none" cap="none" strike="noStrike">
              <a:solidFill>
                <a:schemeClr val="dk1"/>
              </a:solidFill>
              <a:latin typeface="Calibri"/>
              <a:ea typeface="Calibri"/>
              <a:cs typeface="Calibri"/>
              <a:sym typeface="Calibri"/>
            </a:endParaRPr>
          </a:p>
          <a:p>
            <a:pPr indent="-342900" lvl="0" marL="342900" marR="0" rtl="0" algn="l">
              <a:lnSpc>
                <a:spcPct val="127272"/>
              </a:lnSpc>
              <a:spcBef>
                <a:spcPts val="900"/>
              </a:spcBef>
              <a:spcAft>
                <a:spcPts val="0"/>
              </a:spcAft>
              <a:buClr>
                <a:srgbClr val="D7DDF0"/>
              </a:buClr>
              <a:buSzPts val="1100"/>
              <a:buFont typeface="Calibri"/>
              <a:buChar char="▪"/>
            </a:pPr>
            <a:r>
              <a:rPr b="0" i="0" lang="en-US" sz="1100" u="none" cap="none" strike="noStrike">
                <a:solidFill>
                  <a:srgbClr val="D7DDF0"/>
                </a:solidFill>
                <a:latin typeface="Calibri"/>
                <a:ea typeface="Calibri"/>
                <a:cs typeface="Calibri"/>
                <a:sym typeface="Calibri"/>
              </a:rPr>
              <a:t>An explicit, fixed rubric: STAR structure, clarity and confidence, producing a comparable 0 to 100 score every session.</a:t>
            </a:r>
            <a:endParaRPr b="0" i="0" sz="1100" u="none" cap="none" strike="noStrike">
              <a:solidFill>
                <a:schemeClr val="dk1"/>
              </a:solidFill>
              <a:latin typeface="Calibri"/>
              <a:ea typeface="Calibri"/>
              <a:cs typeface="Calibri"/>
              <a:sym typeface="Calibri"/>
            </a:endParaRPr>
          </a:p>
          <a:p>
            <a:pPr indent="-342900" lvl="0" marL="342900" marR="0" rtl="0" algn="l">
              <a:lnSpc>
                <a:spcPct val="127272"/>
              </a:lnSpc>
              <a:spcBef>
                <a:spcPts val="900"/>
              </a:spcBef>
              <a:spcAft>
                <a:spcPts val="0"/>
              </a:spcAft>
              <a:buClr>
                <a:srgbClr val="D7DDF0"/>
              </a:buClr>
              <a:buSzPts val="1100"/>
              <a:buFont typeface="Calibri"/>
              <a:buChar char="▪"/>
            </a:pPr>
            <a:r>
              <a:rPr b="0" i="0" lang="en-US" sz="1100" u="none" cap="none" strike="noStrike">
                <a:solidFill>
                  <a:srgbClr val="D7DDF0"/>
                </a:solidFill>
                <a:latin typeface="Calibri"/>
                <a:ea typeface="Calibri"/>
                <a:cs typeface="Calibri"/>
                <a:sym typeface="Calibri"/>
              </a:rPr>
              <a:t>A longitudinal progress dashboard, so improvement is measured rather than assumed.</a:t>
            </a:r>
            <a:endParaRPr b="0" i="0" sz="1100" u="none" cap="none" strike="noStrike">
              <a:solidFill>
                <a:schemeClr val="dk1"/>
              </a:solidFill>
              <a:latin typeface="Calibri"/>
              <a:ea typeface="Calibri"/>
              <a:cs typeface="Calibri"/>
              <a:sym typeface="Calibri"/>
            </a:endParaRPr>
          </a:p>
          <a:p>
            <a:pPr indent="-342900" lvl="0" marL="342900" marR="0" rtl="0" algn="l">
              <a:lnSpc>
                <a:spcPct val="127272"/>
              </a:lnSpc>
              <a:spcBef>
                <a:spcPts val="900"/>
              </a:spcBef>
              <a:spcAft>
                <a:spcPts val="0"/>
              </a:spcAft>
              <a:buClr>
                <a:srgbClr val="D7DDF0"/>
              </a:buClr>
              <a:buSzPts val="1100"/>
              <a:buFont typeface="Calibri"/>
              <a:buChar char="▪"/>
            </a:pPr>
            <a:r>
              <a:rPr b="0" i="0" lang="en-US" sz="1100" u="none" cap="none" strike="noStrike">
                <a:solidFill>
                  <a:srgbClr val="D7DDF0"/>
                </a:solidFill>
                <a:latin typeface="Calibri"/>
                <a:ea typeface="Calibri"/>
                <a:cs typeface="Calibri"/>
                <a:sym typeface="Calibri"/>
              </a:rPr>
              <a:t>Text or voice input with transcription, so students can practise speaking, not just typing.</a:t>
            </a:r>
            <a:endParaRPr b="0" i="0" sz="1100" u="none" cap="none" strike="noStrike">
              <a:solidFill>
                <a:schemeClr val="dk1"/>
              </a:solidFill>
              <a:latin typeface="Calibri"/>
              <a:ea typeface="Calibri"/>
              <a:cs typeface="Calibri"/>
              <a:sym typeface="Calibri"/>
            </a:endParaRPr>
          </a:p>
          <a:p>
            <a:pPr indent="-342900" lvl="0" marL="342900" marR="0" rtl="0" algn="l">
              <a:lnSpc>
                <a:spcPct val="127272"/>
              </a:lnSpc>
              <a:spcBef>
                <a:spcPts val="900"/>
              </a:spcBef>
              <a:spcAft>
                <a:spcPts val="0"/>
              </a:spcAft>
              <a:buClr>
                <a:srgbClr val="D7DDF0"/>
              </a:buClr>
              <a:buSzPts val="1100"/>
              <a:buFont typeface="Calibri"/>
              <a:buChar char="▪"/>
            </a:pPr>
            <a:r>
              <a:rPr b="0" i="0" lang="en-US" sz="1100" u="none" cap="none" strike="noStrike">
                <a:solidFill>
                  <a:srgbClr val="D7DDF0"/>
                </a:solidFill>
                <a:latin typeface="Calibri"/>
                <a:ea typeface="Calibri"/>
                <a:cs typeface="Calibri"/>
                <a:sym typeface="Calibri"/>
              </a:rPr>
              <a:t>FERPA aligned handling and mandatory AI disclosure, which is what makes campus adoption realistic.</a:t>
            </a:r>
            <a:endParaRPr b="0" i="0" sz="1100" u="none" cap="none" strike="noStrike">
              <a:solidFill>
                <a:schemeClr val="dk1"/>
              </a:solidFill>
              <a:latin typeface="Calibri"/>
              <a:ea typeface="Calibri"/>
              <a:cs typeface="Calibri"/>
              <a:sym typeface="Calibri"/>
            </a:endParaRPr>
          </a:p>
          <a:p>
            <a:pPr indent="-342900" lvl="0" marL="342900" marR="0" rtl="0" algn="l">
              <a:lnSpc>
                <a:spcPct val="127272"/>
              </a:lnSpc>
              <a:spcBef>
                <a:spcPts val="900"/>
              </a:spcBef>
              <a:spcAft>
                <a:spcPts val="0"/>
              </a:spcAft>
              <a:buClr>
                <a:srgbClr val="D7DDF0"/>
              </a:buClr>
              <a:buSzPts val="1100"/>
              <a:buFont typeface="Calibri"/>
              <a:buChar char="▪"/>
            </a:pPr>
            <a:r>
              <a:rPr b="0" i="0" lang="en-US" sz="1100" u="none" cap="none" strike="noStrike">
                <a:solidFill>
                  <a:srgbClr val="D7DDF0"/>
                </a:solidFill>
                <a:latin typeface="Calibri"/>
                <a:ea typeface="Calibri"/>
                <a:cs typeface="Calibri"/>
                <a:sym typeface="Calibri"/>
              </a:rPr>
              <a:t>Free to the student and deployable per campus, with no scheduling and no matched peer required.</a:t>
            </a:r>
            <a:endParaRPr b="0" i="0" sz="1100" u="none" cap="none" strike="noStrike">
              <a:solidFill>
                <a:schemeClr val="dk1"/>
              </a:solidFill>
              <a:latin typeface="Calibri"/>
              <a:ea typeface="Calibri"/>
              <a:cs typeface="Calibri"/>
              <a:sym typeface="Calibri"/>
            </a:endParaRPr>
          </a:p>
        </p:txBody>
      </p:sp>
      <p:sp>
        <p:nvSpPr>
          <p:cNvPr id="585" name="Google Shape;585;p17"/>
          <p:cNvSpPr/>
          <p:nvPr/>
        </p:nvSpPr>
        <p:spPr>
          <a:xfrm>
            <a:off x="566928" y="5230368"/>
            <a:ext cx="6949440" cy="786384"/>
          </a:xfrm>
          <a:prstGeom prst="roundRect">
            <a:avLst>
              <a:gd fmla="val 6977"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786384" y="5230368"/>
            <a:ext cx="6492240" cy="786384"/>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Assumption behind the positioning:  no existing tool combines adaptive questioning, a fixed measurable rubric, and educational records handling in one free product. That combination, not any single feature, is our design decision.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18"/>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8"/>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Test Plan:  Unit Under Test</a:t>
            </a:r>
            <a:endParaRPr b="0" i="0" sz="3000" u="none" cap="none" strike="noStrike">
              <a:solidFill>
                <a:schemeClr val="dk1"/>
              </a:solidFill>
              <a:latin typeface="Calibri"/>
              <a:ea typeface="Calibri"/>
              <a:cs typeface="Calibri"/>
              <a:sym typeface="Calibri"/>
            </a:endParaRPr>
          </a:p>
        </p:txBody>
      </p:sp>
      <p:sp>
        <p:nvSpPr>
          <p:cNvPr id="594" name="Google Shape;594;p18"/>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Testing computeOverallScore(), the deterministic core of FR-5</a:t>
            </a:r>
            <a:endParaRPr b="0" i="0" sz="1300" u="none" cap="none" strike="noStrike">
              <a:solidFill>
                <a:schemeClr val="dk1"/>
              </a:solidFill>
              <a:latin typeface="Calibri"/>
              <a:ea typeface="Calibri"/>
              <a:cs typeface="Calibri"/>
              <a:sym typeface="Calibri"/>
            </a:endParaRPr>
          </a:p>
        </p:txBody>
      </p:sp>
      <p:sp>
        <p:nvSpPr>
          <p:cNvPr id="595" name="Google Shape;595;p18"/>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sp>
        <p:nvSpPr>
          <p:cNvPr id="596" name="Google Shape;596;p18"/>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597" name="Google Shape;597;p18"/>
          <p:cNvSpPr/>
          <p:nvPr/>
        </p:nvSpPr>
        <p:spPr>
          <a:xfrm>
            <a:off x="566928" y="1444752"/>
            <a:ext cx="5943600" cy="4572000"/>
          </a:xfrm>
          <a:prstGeom prst="roundRect">
            <a:avLst>
              <a:gd fmla="val 1200" name="adj"/>
            </a:avLst>
          </a:prstGeom>
          <a:solidFill>
            <a:srgbClr val="1B2340"/>
          </a:solidFill>
          <a:ln cap="flat" cmpd="sng" w="12700">
            <a:solidFill>
              <a:srgbClr val="1B23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8"/>
          <p:cNvSpPr/>
          <p:nvPr/>
        </p:nvSpPr>
        <p:spPr>
          <a:xfrm>
            <a:off x="786384" y="15544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150"/>
              <a:buFont typeface="Courier New"/>
              <a:buNone/>
            </a:pPr>
            <a:r>
              <a:rPr b="1" i="0" lang="en-US" sz="1150" u="none" cap="none" strike="noStrike">
                <a:solidFill>
                  <a:srgbClr val="F2A65A"/>
                </a:solidFill>
                <a:latin typeface="Courier New"/>
                <a:ea typeface="Courier New"/>
                <a:cs typeface="Courier New"/>
                <a:sym typeface="Courier New"/>
              </a:rPr>
              <a:t>SessionScorer.ts</a:t>
            </a:r>
            <a:endParaRPr b="0" i="0" sz="1150" u="none" cap="none" strike="noStrike">
              <a:solidFill>
                <a:schemeClr val="dk1"/>
              </a:solidFill>
              <a:latin typeface="Calibri"/>
              <a:ea typeface="Calibri"/>
              <a:cs typeface="Calibri"/>
              <a:sym typeface="Calibri"/>
            </a:endParaRPr>
          </a:p>
        </p:txBody>
      </p:sp>
      <p:sp>
        <p:nvSpPr>
          <p:cNvPr id="599" name="Google Shape;599;p18"/>
          <p:cNvSpPr/>
          <p:nvPr/>
        </p:nvSpPr>
        <p:spPr>
          <a:xfrm>
            <a:off x="786384" y="1865376"/>
            <a:ext cx="5486400" cy="402336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export interface AnswerScore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star: number;        // 0 - 10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clarity: number;     // 0 - 10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confidence: number;  // 0 - 10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const W = { star: 0.5, clarity: 0.3, confidence: 0.2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export function computeOverallScore(</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scores: AnswerScore[]</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number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if (scores.length === 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throw new Error('Session has no answers');</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const total = scores.reduce((sum, s) =&gt;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const parts = [s.star, s.clarity, s.confidence];</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if (parts.some(v =&gt; v &lt; 0 || v &gt; 10))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throw new RangeError('Score out of range 0-10');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return sum + s.star * W.star</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 s.clarity * W.clarity</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 s.confidence * W.confidence;</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 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  return Math.round((total / scores.length) * 10);</a:t>
            </a:r>
            <a:endParaRPr b="0" i="0" sz="950" u="none" cap="none" strike="noStrike">
              <a:solidFill>
                <a:schemeClr val="dk1"/>
              </a:solidFill>
              <a:latin typeface="Calibri"/>
              <a:ea typeface="Calibri"/>
              <a:cs typeface="Calibri"/>
              <a:sym typeface="Calibri"/>
            </a:endParaRPr>
          </a:p>
          <a:p>
            <a:pPr indent="0" lvl="0" marL="0" marR="0" rtl="0" algn="l">
              <a:lnSpc>
                <a:spcPct val="131578"/>
              </a:lnSpc>
              <a:spcBef>
                <a:spcPts val="0"/>
              </a:spcBef>
              <a:spcAft>
                <a:spcPts val="0"/>
              </a:spcAft>
              <a:buClr>
                <a:srgbClr val="D7DDF0"/>
              </a:buClr>
              <a:buSzPts val="950"/>
              <a:buFont typeface="Courier New"/>
              <a:buNone/>
            </a:pPr>
            <a:r>
              <a:rPr b="0" i="0" lang="en-US" sz="950" u="none" cap="none" strike="noStrike">
                <a:solidFill>
                  <a:srgbClr val="D7DDF0"/>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600" name="Google Shape;600;p18"/>
          <p:cNvSpPr/>
          <p:nvPr/>
        </p:nvSpPr>
        <p:spPr>
          <a:xfrm>
            <a:off x="6766560" y="1444752"/>
            <a:ext cx="4828032" cy="1060704"/>
          </a:xfrm>
          <a:prstGeom prst="roundRect">
            <a:avLst>
              <a:gd fmla="val 5172"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8"/>
          <p:cNvSpPr/>
          <p:nvPr/>
        </p:nvSpPr>
        <p:spPr>
          <a:xfrm>
            <a:off x="6986016" y="1536192"/>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5F1E"/>
              </a:buClr>
              <a:buSzPts val="1250"/>
              <a:buFont typeface="Calibri"/>
              <a:buNone/>
            </a:pPr>
            <a:r>
              <a:rPr b="1" i="0" lang="en-US" sz="1250" u="none" cap="none" strike="noStrike">
                <a:solidFill>
                  <a:srgbClr val="9A5F1E"/>
                </a:solidFill>
                <a:latin typeface="Calibri"/>
                <a:ea typeface="Calibri"/>
                <a:cs typeface="Calibri"/>
                <a:sym typeface="Calibri"/>
              </a:rPr>
              <a:t>Why this unit</a:t>
            </a:r>
            <a:endParaRPr b="0" i="0" sz="1250" u="none" cap="none" strike="noStrike">
              <a:solidFill>
                <a:schemeClr val="dk1"/>
              </a:solidFill>
              <a:latin typeface="Calibri"/>
              <a:ea typeface="Calibri"/>
              <a:cs typeface="Calibri"/>
              <a:sym typeface="Calibri"/>
            </a:endParaRPr>
          </a:p>
        </p:txBody>
      </p:sp>
      <p:sp>
        <p:nvSpPr>
          <p:cNvPr id="602" name="Google Shape;602;p18"/>
          <p:cNvSpPr/>
          <p:nvPr/>
        </p:nvSpPr>
        <p:spPr>
          <a:xfrm>
            <a:off x="6986016" y="1792224"/>
            <a:ext cx="4389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000"/>
              <a:buFont typeface="Calibri"/>
              <a:buNone/>
            </a:pPr>
            <a:r>
              <a:rPr b="0" i="0" lang="en-US" sz="1000" u="none" cap="none" strike="noStrike">
                <a:solidFill>
                  <a:srgbClr val="2B2F42"/>
                </a:solidFill>
                <a:latin typeface="Calibri"/>
                <a:ea typeface="Calibri"/>
                <a:cs typeface="Calibri"/>
                <a:sym typeface="Calibri"/>
              </a:rPr>
              <a:t>computeOverallScore() is the deterministic half of FR-5. The LLM call that produces the per answer scores is non deterministic and is mocked, but the weighting and aggregation that turn those scores into the 0 to 100 session score must be exactly right every time. If this unit is wrong, every progress trend in FR-6 is wrong too.</a:t>
            </a:r>
            <a:endParaRPr b="0" i="0" sz="1000" u="none" cap="none" strike="noStrike">
              <a:solidFill>
                <a:schemeClr val="dk1"/>
              </a:solidFill>
              <a:latin typeface="Calibri"/>
              <a:ea typeface="Calibri"/>
              <a:cs typeface="Calibri"/>
              <a:sym typeface="Calibri"/>
            </a:endParaRPr>
          </a:p>
        </p:txBody>
      </p:sp>
      <p:sp>
        <p:nvSpPr>
          <p:cNvPr id="603" name="Google Shape;603;p18"/>
          <p:cNvSpPr/>
          <p:nvPr/>
        </p:nvSpPr>
        <p:spPr>
          <a:xfrm>
            <a:off x="6766560" y="2615184"/>
            <a:ext cx="4828032"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6986016" y="2706624"/>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250"/>
              <a:buFont typeface="Calibri"/>
              <a:buNone/>
            </a:pPr>
            <a:r>
              <a:rPr b="1" i="0" lang="en-US" sz="1250" u="none" cap="none" strike="noStrike">
                <a:solidFill>
                  <a:srgbClr val="2A3A78"/>
                </a:solidFill>
                <a:latin typeface="Calibri"/>
                <a:ea typeface="Calibri"/>
                <a:cs typeface="Calibri"/>
                <a:sym typeface="Calibri"/>
              </a:rPr>
              <a:t>Scope and approach</a:t>
            </a:r>
            <a:endParaRPr b="0" i="0" sz="1250" u="none" cap="none" strike="noStrike">
              <a:solidFill>
                <a:schemeClr val="dk1"/>
              </a:solidFill>
              <a:latin typeface="Calibri"/>
              <a:ea typeface="Calibri"/>
              <a:cs typeface="Calibri"/>
              <a:sym typeface="Calibri"/>
            </a:endParaRPr>
          </a:p>
        </p:txBody>
      </p:sp>
      <p:sp>
        <p:nvSpPr>
          <p:cNvPr id="605" name="Google Shape;605;p18"/>
          <p:cNvSpPr/>
          <p:nvPr/>
        </p:nvSpPr>
        <p:spPr>
          <a:xfrm>
            <a:off x="6986016" y="2962656"/>
            <a:ext cx="4389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000"/>
              <a:buFont typeface="Calibri"/>
              <a:buNone/>
            </a:pPr>
            <a:r>
              <a:rPr b="0" i="0" lang="en-US" sz="1000" u="none" cap="none" strike="noStrike">
                <a:solidFill>
                  <a:srgbClr val="2B2F42"/>
                </a:solidFill>
                <a:latin typeface="Calibri"/>
                <a:ea typeface="Calibri"/>
                <a:cs typeface="Calibri"/>
                <a:sym typeface="Calibri"/>
              </a:rPr>
              <a:t>Unit level, white box, using equivalence partitioning and boundary value analysis. Valid partition: all components in 0 to 10. Invalid partitions: an empty session, and any component outside 0 to 10.</a:t>
            </a:r>
            <a:endParaRPr b="0" i="0" sz="1000" u="none" cap="none" strike="noStrike">
              <a:solidFill>
                <a:schemeClr val="dk1"/>
              </a:solidFill>
              <a:latin typeface="Calibri"/>
              <a:ea typeface="Calibri"/>
              <a:cs typeface="Calibri"/>
              <a:sym typeface="Calibri"/>
            </a:endParaRPr>
          </a:p>
        </p:txBody>
      </p:sp>
      <p:sp>
        <p:nvSpPr>
          <p:cNvPr id="606" name="Google Shape;606;p18"/>
          <p:cNvSpPr/>
          <p:nvPr/>
        </p:nvSpPr>
        <p:spPr>
          <a:xfrm>
            <a:off x="6766560" y="3785616"/>
            <a:ext cx="4828032"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8"/>
          <p:cNvSpPr/>
          <p:nvPr/>
        </p:nvSpPr>
        <p:spPr>
          <a:xfrm>
            <a:off x="6986016" y="3877056"/>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250"/>
              <a:buFont typeface="Calibri"/>
              <a:buNone/>
            </a:pPr>
            <a:r>
              <a:rPr b="1" i="0" lang="en-US" sz="1250" u="none" cap="none" strike="noStrike">
                <a:solidFill>
                  <a:srgbClr val="2A3A78"/>
                </a:solidFill>
                <a:latin typeface="Calibri"/>
                <a:ea typeface="Calibri"/>
                <a:cs typeface="Calibri"/>
                <a:sym typeface="Calibri"/>
              </a:rPr>
              <a:t>Tooling and environment</a:t>
            </a:r>
            <a:endParaRPr b="0" i="0" sz="1250" u="none" cap="none" strike="noStrike">
              <a:solidFill>
                <a:schemeClr val="dk1"/>
              </a:solidFill>
              <a:latin typeface="Calibri"/>
              <a:ea typeface="Calibri"/>
              <a:cs typeface="Calibri"/>
              <a:sym typeface="Calibri"/>
            </a:endParaRPr>
          </a:p>
        </p:txBody>
      </p:sp>
      <p:sp>
        <p:nvSpPr>
          <p:cNvPr id="608" name="Google Shape;608;p18"/>
          <p:cNvSpPr/>
          <p:nvPr/>
        </p:nvSpPr>
        <p:spPr>
          <a:xfrm>
            <a:off x="6986016" y="4133088"/>
            <a:ext cx="4389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000"/>
              <a:buFont typeface="Calibri"/>
              <a:buNone/>
            </a:pPr>
            <a:r>
              <a:rPr b="0" i="0" lang="en-US" sz="1000" u="none" cap="none" strike="noStrike">
                <a:solidFill>
                  <a:srgbClr val="2B2F42"/>
                </a:solidFill>
                <a:latin typeface="Calibri"/>
                <a:ea typeface="Calibri"/>
                <a:cs typeface="Calibri"/>
                <a:sym typeface="Calibri"/>
              </a:rPr>
              <a:t>TypeScript with Jest, run locally and on every pull request through GitHub Actions. The pipeline fails below 70 percent line coverage, satisfying NFR-8. The AI engine is stubbed so the test is deterministic.</a:t>
            </a:r>
            <a:endParaRPr b="0" i="0" sz="1000" u="none" cap="none" strike="noStrike">
              <a:solidFill>
                <a:schemeClr val="dk1"/>
              </a:solidFill>
              <a:latin typeface="Calibri"/>
              <a:ea typeface="Calibri"/>
              <a:cs typeface="Calibri"/>
              <a:sym typeface="Calibri"/>
            </a:endParaRPr>
          </a:p>
        </p:txBody>
      </p:sp>
      <p:sp>
        <p:nvSpPr>
          <p:cNvPr id="609" name="Google Shape;609;p18"/>
          <p:cNvSpPr/>
          <p:nvPr/>
        </p:nvSpPr>
        <p:spPr>
          <a:xfrm>
            <a:off x="6766560" y="4956048"/>
            <a:ext cx="4828032" cy="1060704"/>
          </a:xfrm>
          <a:prstGeom prst="roundRect">
            <a:avLst>
              <a:gd fmla="val 5172" name="adj"/>
            </a:avLst>
          </a:prstGeom>
          <a:solidFill>
            <a:srgbClr val="F0F2F8"/>
          </a:solidFill>
          <a:ln cap="flat" cmpd="sng" w="12700">
            <a:solidFill>
              <a:srgbClr val="DD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8"/>
          <p:cNvSpPr/>
          <p:nvPr/>
        </p:nvSpPr>
        <p:spPr>
          <a:xfrm>
            <a:off x="6986016" y="5047488"/>
            <a:ext cx="4389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250"/>
              <a:buFont typeface="Calibri"/>
              <a:buNone/>
            </a:pPr>
            <a:r>
              <a:rPr b="1" i="0" lang="en-US" sz="1250" u="none" cap="none" strike="noStrike">
                <a:solidFill>
                  <a:srgbClr val="2A3A78"/>
                </a:solidFill>
                <a:latin typeface="Calibri"/>
                <a:ea typeface="Calibri"/>
                <a:cs typeface="Calibri"/>
                <a:sym typeface="Calibri"/>
              </a:rPr>
              <a:t>Pass criteria</a:t>
            </a:r>
            <a:endParaRPr b="0" i="0" sz="1250" u="none" cap="none" strike="noStrike">
              <a:solidFill>
                <a:schemeClr val="dk1"/>
              </a:solidFill>
              <a:latin typeface="Calibri"/>
              <a:ea typeface="Calibri"/>
              <a:cs typeface="Calibri"/>
              <a:sym typeface="Calibri"/>
            </a:endParaRPr>
          </a:p>
        </p:txBody>
      </p:sp>
      <p:sp>
        <p:nvSpPr>
          <p:cNvPr id="611" name="Google Shape;611;p18"/>
          <p:cNvSpPr/>
          <p:nvPr/>
        </p:nvSpPr>
        <p:spPr>
          <a:xfrm>
            <a:off x="6986016" y="5303520"/>
            <a:ext cx="4389120" cy="65836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B2F42"/>
              </a:buClr>
              <a:buSzPts val="1000"/>
              <a:buFont typeface="Calibri"/>
              <a:buNone/>
            </a:pPr>
            <a:r>
              <a:rPr b="0" i="0" lang="en-US" sz="1000" u="none" cap="none" strike="noStrike">
                <a:solidFill>
                  <a:srgbClr val="2B2F42"/>
                </a:solidFill>
                <a:latin typeface="Calibri"/>
                <a:ea typeface="Calibri"/>
                <a:cs typeface="Calibri"/>
                <a:sym typeface="Calibri"/>
              </a:rPr>
              <a:t>All defined test cases pass, line coverage of the module is at or above 70 percent, and no unhandled exception escapes the function for any input in the defined partitions.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19"/>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Test Case Execution:  True and False Cases</a:t>
            </a:r>
            <a:endParaRPr b="0" i="0" sz="3000" u="none" cap="none" strike="noStrike">
              <a:solidFill>
                <a:schemeClr val="dk1"/>
              </a:solidFill>
              <a:latin typeface="Calibri"/>
              <a:ea typeface="Calibri"/>
              <a:cs typeface="Calibri"/>
              <a:sym typeface="Calibri"/>
            </a:endParaRPr>
          </a:p>
        </p:txBody>
      </p:sp>
      <p:sp>
        <p:nvSpPr>
          <p:cNvPr id="619" name="Google Shape;619;p19"/>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Jest results for computeOverallScore(), 4 test cases, 1 defect found and fixed</a:t>
            </a:r>
            <a:endParaRPr b="0" i="0" sz="1300" u="none" cap="none" strike="noStrike">
              <a:solidFill>
                <a:schemeClr val="dk1"/>
              </a:solidFill>
              <a:latin typeface="Calibri"/>
              <a:ea typeface="Calibri"/>
              <a:cs typeface="Calibri"/>
              <a:sym typeface="Calibri"/>
            </a:endParaRPr>
          </a:p>
        </p:txBody>
      </p:sp>
      <p:sp>
        <p:nvSpPr>
          <p:cNvPr id="620" name="Google Shape;620;p19"/>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
        <p:nvSpPr>
          <p:cNvPr id="621" name="Google Shape;621;p19"/>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622" name="Google Shape;622;p19"/>
          <p:cNvSpPr/>
          <p:nvPr/>
        </p:nvSpPr>
        <p:spPr>
          <a:xfrm>
            <a:off x="566928" y="1463040"/>
            <a:ext cx="7223760" cy="365760"/>
          </a:xfrm>
          <a:prstGeom prst="rect">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676656" y="1463040"/>
            <a:ext cx="6035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950"/>
              <a:buFont typeface="Calibri"/>
              <a:buNone/>
            </a:pPr>
            <a:r>
              <a:rPr b="1" i="0" lang="en-US" sz="950" u="none" cap="none" strike="noStrike">
                <a:solidFill>
                  <a:srgbClr val="F2A65A"/>
                </a:solidFill>
                <a:latin typeface="Calibri"/>
                <a:ea typeface="Calibri"/>
                <a:cs typeface="Calibri"/>
                <a:sym typeface="Calibri"/>
              </a:rPr>
              <a:t>ID</a:t>
            </a:r>
            <a:endParaRPr b="0" i="0" sz="950" u="none" cap="none" strike="noStrike">
              <a:solidFill>
                <a:schemeClr val="dk1"/>
              </a:solidFill>
              <a:latin typeface="Calibri"/>
              <a:ea typeface="Calibri"/>
              <a:cs typeface="Calibri"/>
              <a:sym typeface="Calibri"/>
            </a:endParaRPr>
          </a:p>
        </p:txBody>
      </p:sp>
      <p:sp>
        <p:nvSpPr>
          <p:cNvPr id="624" name="Google Shape;624;p19"/>
          <p:cNvSpPr/>
          <p:nvPr/>
        </p:nvSpPr>
        <p:spPr>
          <a:xfrm>
            <a:off x="1499616" y="1463040"/>
            <a:ext cx="25237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950"/>
              <a:buFont typeface="Calibri"/>
              <a:buNone/>
            </a:pPr>
            <a:r>
              <a:rPr b="1" i="0" lang="en-US" sz="950" u="none" cap="none" strike="noStrike">
                <a:solidFill>
                  <a:srgbClr val="F2A65A"/>
                </a:solidFill>
                <a:latin typeface="Calibri"/>
                <a:ea typeface="Calibri"/>
                <a:cs typeface="Calibri"/>
                <a:sym typeface="Calibri"/>
              </a:rPr>
              <a:t>INPUT / CONDITION</a:t>
            </a:r>
            <a:endParaRPr b="0" i="0" sz="950" u="none" cap="none" strike="noStrike">
              <a:solidFill>
                <a:schemeClr val="dk1"/>
              </a:solidFill>
              <a:latin typeface="Calibri"/>
              <a:ea typeface="Calibri"/>
              <a:cs typeface="Calibri"/>
              <a:sym typeface="Calibri"/>
            </a:endParaRPr>
          </a:p>
        </p:txBody>
      </p:sp>
      <p:sp>
        <p:nvSpPr>
          <p:cNvPr id="625" name="Google Shape;625;p19"/>
          <p:cNvSpPr/>
          <p:nvPr/>
        </p:nvSpPr>
        <p:spPr>
          <a:xfrm>
            <a:off x="4242816" y="1463040"/>
            <a:ext cx="124358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950"/>
              <a:buFont typeface="Calibri"/>
              <a:buNone/>
            </a:pPr>
            <a:r>
              <a:rPr b="1" i="0" lang="en-US" sz="950" u="none" cap="none" strike="noStrike">
                <a:solidFill>
                  <a:srgbClr val="F2A65A"/>
                </a:solidFill>
                <a:latin typeface="Calibri"/>
                <a:ea typeface="Calibri"/>
                <a:cs typeface="Calibri"/>
                <a:sym typeface="Calibri"/>
              </a:rPr>
              <a:t>EXPECTED</a:t>
            </a:r>
            <a:endParaRPr b="0" i="0" sz="950" u="none" cap="none" strike="noStrike">
              <a:solidFill>
                <a:schemeClr val="dk1"/>
              </a:solidFill>
              <a:latin typeface="Calibri"/>
              <a:ea typeface="Calibri"/>
              <a:cs typeface="Calibri"/>
              <a:sym typeface="Calibri"/>
            </a:endParaRPr>
          </a:p>
        </p:txBody>
      </p:sp>
      <p:sp>
        <p:nvSpPr>
          <p:cNvPr id="626" name="Google Shape;626;p19"/>
          <p:cNvSpPr/>
          <p:nvPr/>
        </p:nvSpPr>
        <p:spPr>
          <a:xfrm>
            <a:off x="5705856" y="1463040"/>
            <a:ext cx="1152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950"/>
              <a:buFont typeface="Calibri"/>
              <a:buNone/>
            </a:pPr>
            <a:r>
              <a:rPr b="1" i="0" lang="en-US" sz="950" u="none" cap="none" strike="noStrike">
                <a:solidFill>
                  <a:srgbClr val="F2A65A"/>
                </a:solidFill>
                <a:latin typeface="Calibri"/>
                <a:ea typeface="Calibri"/>
                <a:cs typeface="Calibri"/>
                <a:sym typeface="Calibri"/>
              </a:rPr>
              <a:t>ACTUAL</a:t>
            </a:r>
            <a:endParaRPr b="0" i="0" sz="950" u="none" cap="none" strike="noStrike">
              <a:solidFill>
                <a:schemeClr val="dk1"/>
              </a:solidFill>
              <a:latin typeface="Calibri"/>
              <a:ea typeface="Calibri"/>
              <a:cs typeface="Calibri"/>
              <a:sym typeface="Calibri"/>
            </a:endParaRPr>
          </a:p>
        </p:txBody>
      </p:sp>
      <p:sp>
        <p:nvSpPr>
          <p:cNvPr id="627" name="Google Shape;627;p19"/>
          <p:cNvSpPr/>
          <p:nvPr/>
        </p:nvSpPr>
        <p:spPr>
          <a:xfrm>
            <a:off x="7077456" y="1463040"/>
            <a:ext cx="6035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A65A"/>
              </a:buClr>
              <a:buSzPts val="950"/>
              <a:buFont typeface="Calibri"/>
              <a:buNone/>
            </a:pPr>
            <a:r>
              <a:rPr b="1" i="0" lang="en-US" sz="950" u="none" cap="none" strike="noStrike">
                <a:solidFill>
                  <a:srgbClr val="F2A65A"/>
                </a:solidFill>
                <a:latin typeface="Calibri"/>
                <a:ea typeface="Calibri"/>
                <a:cs typeface="Calibri"/>
                <a:sym typeface="Calibri"/>
              </a:rPr>
              <a:t>RESULT</a:t>
            </a:r>
            <a:endParaRPr b="0" i="0" sz="950" u="none" cap="none" strike="noStrike">
              <a:solidFill>
                <a:schemeClr val="dk1"/>
              </a:solidFill>
              <a:latin typeface="Calibri"/>
              <a:ea typeface="Calibri"/>
              <a:cs typeface="Calibri"/>
              <a:sym typeface="Calibri"/>
            </a:endParaRPr>
          </a:p>
        </p:txBody>
      </p:sp>
      <p:sp>
        <p:nvSpPr>
          <p:cNvPr id="628" name="Google Shape;628;p19"/>
          <p:cNvSpPr/>
          <p:nvPr/>
        </p:nvSpPr>
        <p:spPr>
          <a:xfrm>
            <a:off x="566928" y="1828800"/>
            <a:ext cx="7223760" cy="713232"/>
          </a:xfrm>
          <a:prstGeom prst="rect">
            <a:avLst/>
          </a:prstGeom>
          <a:solidFill>
            <a:srgbClr val="FFFFFF"/>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676656" y="1828800"/>
            <a:ext cx="60350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00"/>
              <a:buFont typeface="Calibri"/>
              <a:buNone/>
            </a:pPr>
            <a:r>
              <a:rPr b="1" i="0" lang="en-US" sz="1200" u="none" cap="none" strike="noStrike">
                <a:solidFill>
                  <a:srgbClr val="141B34"/>
                </a:solidFill>
                <a:latin typeface="Calibri"/>
                <a:ea typeface="Calibri"/>
                <a:cs typeface="Calibri"/>
                <a:sym typeface="Calibri"/>
              </a:rPr>
              <a:t>TC-01</a:t>
            </a:r>
            <a:endParaRPr b="0" i="0" sz="1200" u="none" cap="none" strike="noStrike">
              <a:solidFill>
                <a:schemeClr val="dk1"/>
              </a:solidFill>
              <a:latin typeface="Calibri"/>
              <a:ea typeface="Calibri"/>
              <a:cs typeface="Calibri"/>
              <a:sym typeface="Calibri"/>
            </a:endParaRPr>
          </a:p>
        </p:txBody>
      </p:sp>
      <p:sp>
        <p:nvSpPr>
          <p:cNvPr id="630" name="Google Shape;630;p19"/>
          <p:cNvSpPr/>
          <p:nvPr/>
        </p:nvSpPr>
        <p:spPr>
          <a:xfrm>
            <a:off x="1499616" y="1828800"/>
            <a:ext cx="2523744" cy="713232"/>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Valid 5 answer session,</a:t>
            </a:r>
            <a:endParaRPr b="0" i="0" sz="1050" u="none" cap="none" strike="noStrike">
              <a:solidFill>
                <a:schemeClr val="dk1"/>
              </a:solidFill>
              <a:latin typeface="Calibri"/>
              <a:ea typeface="Calibri"/>
              <a:cs typeface="Calibri"/>
              <a:sym typeface="Calibri"/>
            </a:endParaRPr>
          </a:p>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star 8 / clarity 7 / confidence 6</a:t>
            </a:r>
            <a:endParaRPr b="0" i="0" sz="1050" u="none" cap="none" strike="noStrike">
              <a:solidFill>
                <a:schemeClr val="dk1"/>
              </a:solidFill>
              <a:latin typeface="Calibri"/>
              <a:ea typeface="Calibri"/>
              <a:cs typeface="Calibri"/>
              <a:sym typeface="Calibri"/>
            </a:endParaRPr>
          </a:p>
        </p:txBody>
      </p:sp>
      <p:sp>
        <p:nvSpPr>
          <p:cNvPr id="631" name="Google Shape;631;p19"/>
          <p:cNvSpPr/>
          <p:nvPr/>
        </p:nvSpPr>
        <p:spPr>
          <a:xfrm>
            <a:off x="4242816" y="1828800"/>
            <a:ext cx="124358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73</a:t>
            </a:r>
            <a:endParaRPr b="0" i="0" sz="1000" u="none" cap="none" strike="noStrike">
              <a:solidFill>
                <a:schemeClr val="dk1"/>
              </a:solidFill>
              <a:latin typeface="Calibri"/>
              <a:ea typeface="Calibri"/>
              <a:cs typeface="Calibri"/>
              <a:sym typeface="Calibri"/>
            </a:endParaRPr>
          </a:p>
        </p:txBody>
      </p:sp>
      <p:sp>
        <p:nvSpPr>
          <p:cNvPr id="632" name="Google Shape;632;p19"/>
          <p:cNvSpPr/>
          <p:nvPr/>
        </p:nvSpPr>
        <p:spPr>
          <a:xfrm>
            <a:off x="5705856" y="1828800"/>
            <a:ext cx="11521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73</a:t>
            </a:r>
            <a:endParaRPr b="0" i="0" sz="1000" u="none" cap="none" strike="noStrike">
              <a:solidFill>
                <a:schemeClr val="dk1"/>
              </a:solidFill>
              <a:latin typeface="Calibri"/>
              <a:ea typeface="Calibri"/>
              <a:cs typeface="Calibri"/>
              <a:sym typeface="Calibri"/>
            </a:endParaRPr>
          </a:p>
        </p:txBody>
      </p:sp>
      <p:sp>
        <p:nvSpPr>
          <p:cNvPr id="633" name="Google Shape;633;p19"/>
          <p:cNvSpPr/>
          <p:nvPr/>
        </p:nvSpPr>
        <p:spPr>
          <a:xfrm>
            <a:off x="7022592" y="2029968"/>
            <a:ext cx="713232" cy="310896"/>
          </a:xfrm>
          <a:prstGeom prst="roundRect">
            <a:avLst>
              <a:gd fmla="val 14706" name="adj"/>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9"/>
          <p:cNvSpPr/>
          <p:nvPr/>
        </p:nvSpPr>
        <p:spPr>
          <a:xfrm>
            <a:off x="7022592" y="2029968"/>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PASS</a:t>
            </a:r>
            <a:endParaRPr b="0" i="0" sz="1050" u="none" cap="none" strike="noStrike">
              <a:solidFill>
                <a:schemeClr val="dk1"/>
              </a:solidFill>
              <a:latin typeface="Calibri"/>
              <a:ea typeface="Calibri"/>
              <a:cs typeface="Calibri"/>
              <a:sym typeface="Calibri"/>
            </a:endParaRPr>
          </a:p>
        </p:txBody>
      </p:sp>
      <p:sp>
        <p:nvSpPr>
          <p:cNvPr id="635" name="Google Shape;635;p19"/>
          <p:cNvSpPr/>
          <p:nvPr/>
        </p:nvSpPr>
        <p:spPr>
          <a:xfrm>
            <a:off x="566928" y="2542032"/>
            <a:ext cx="7223760" cy="713232"/>
          </a:xfrm>
          <a:prstGeom prst="rect">
            <a:avLst/>
          </a:prstGeom>
          <a:solidFill>
            <a:srgbClr val="F0F2F8"/>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9"/>
          <p:cNvSpPr/>
          <p:nvPr/>
        </p:nvSpPr>
        <p:spPr>
          <a:xfrm>
            <a:off x="676656" y="2542032"/>
            <a:ext cx="60350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00"/>
              <a:buFont typeface="Calibri"/>
              <a:buNone/>
            </a:pPr>
            <a:r>
              <a:rPr b="1" i="0" lang="en-US" sz="1200" u="none" cap="none" strike="noStrike">
                <a:solidFill>
                  <a:srgbClr val="141B34"/>
                </a:solidFill>
                <a:latin typeface="Calibri"/>
                <a:ea typeface="Calibri"/>
                <a:cs typeface="Calibri"/>
                <a:sym typeface="Calibri"/>
              </a:rPr>
              <a:t>TC-02</a:t>
            </a:r>
            <a:endParaRPr b="0" i="0" sz="1200" u="none" cap="none" strike="noStrike">
              <a:solidFill>
                <a:schemeClr val="dk1"/>
              </a:solidFill>
              <a:latin typeface="Calibri"/>
              <a:ea typeface="Calibri"/>
              <a:cs typeface="Calibri"/>
              <a:sym typeface="Calibri"/>
            </a:endParaRPr>
          </a:p>
        </p:txBody>
      </p:sp>
      <p:sp>
        <p:nvSpPr>
          <p:cNvPr id="637" name="Google Shape;637;p19"/>
          <p:cNvSpPr/>
          <p:nvPr/>
        </p:nvSpPr>
        <p:spPr>
          <a:xfrm>
            <a:off x="1499616" y="2542032"/>
            <a:ext cx="2523744" cy="713232"/>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Perfect session,</a:t>
            </a:r>
            <a:endParaRPr b="0" i="0" sz="1050" u="none" cap="none" strike="noStrike">
              <a:solidFill>
                <a:schemeClr val="dk1"/>
              </a:solidFill>
              <a:latin typeface="Calibri"/>
              <a:ea typeface="Calibri"/>
              <a:cs typeface="Calibri"/>
              <a:sym typeface="Calibri"/>
            </a:endParaRPr>
          </a:p>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all components at 10</a:t>
            </a:r>
            <a:endParaRPr b="0" i="0" sz="1050" u="none" cap="none" strike="noStrike">
              <a:solidFill>
                <a:schemeClr val="dk1"/>
              </a:solidFill>
              <a:latin typeface="Calibri"/>
              <a:ea typeface="Calibri"/>
              <a:cs typeface="Calibri"/>
              <a:sym typeface="Calibri"/>
            </a:endParaRPr>
          </a:p>
        </p:txBody>
      </p:sp>
      <p:sp>
        <p:nvSpPr>
          <p:cNvPr id="638" name="Google Shape;638;p19"/>
          <p:cNvSpPr/>
          <p:nvPr/>
        </p:nvSpPr>
        <p:spPr>
          <a:xfrm>
            <a:off x="4242816" y="2542032"/>
            <a:ext cx="124358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100</a:t>
            </a:r>
            <a:endParaRPr b="0" i="0" sz="1000" u="none" cap="none" strike="noStrike">
              <a:solidFill>
                <a:schemeClr val="dk1"/>
              </a:solidFill>
              <a:latin typeface="Calibri"/>
              <a:ea typeface="Calibri"/>
              <a:cs typeface="Calibri"/>
              <a:sym typeface="Calibri"/>
            </a:endParaRPr>
          </a:p>
        </p:txBody>
      </p:sp>
      <p:sp>
        <p:nvSpPr>
          <p:cNvPr id="639" name="Google Shape;639;p19"/>
          <p:cNvSpPr/>
          <p:nvPr/>
        </p:nvSpPr>
        <p:spPr>
          <a:xfrm>
            <a:off x="5705856" y="2542032"/>
            <a:ext cx="11521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100</a:t>
            </a:r>
            <a:endParaRPr b="0" i="0" sz="1000" u="none" cap="none" strike="noStrike">
              <a:solidFill>
                <a:schemeClr val="dk1"/>
              </a:solidFill>
              <a:latin typeface="Calibri"/>
              <a:ea typeface="Calibri"/>
              <a:cs typeface="Calibri"/>
              <a:sym typeface="Calibri"/>
            </a:endParaRPr>
          </a:p>
        </p:txBody>
      </p:sp>
      <p:sp>
        <p:nvSpPr>
          <p:cNvPr id="640" name="Google Shape;640;p19"/>
          <p:cNvSpPr/>
          <p:nvPr/>
        </p:nvSpPr>
        <p:spPr>
          <a:xfrm>
            <a:off x="7022592" y="2743200"/>
            <a:ext cx="713232" cy="310896"/>
          </a:xfrm>
          <a:prstGeom prst="roundRect">
            <a:avLst>
              <a:gd fmla="val 14706" name="adj"/>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7022592" y="2743200"/>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PASS</a:t>
            </a:r>
            <a:endParaRPr b="0" i="0" sz="1050" u="none" cap="none" strike="noStrike">
              <a:solidFill>
                <a:schemeClr val="dk1"/>
              </a:solidFill>
              <a:latin typeface="Calibri"/>
              <a:ea typeface="Calibri"/>
              <a:cs typeface="Calibri"/>
              <a:sym typeface="Calibri"/>
            </a:endParaRPr>
          </a:p>
        </p:txBody>
      </p:sp>
      <p:sp>
        <p:nvSpPr>
          <p:cNvPr id="642" name="Google Shape;642;p19"/>
          <p:cNvSpPr/>
          <p:nvPr/>
        </p:nvSpPr>
        <p:spPr>
          <a:xfrm>
            <a:off x="566928" y="3255264"/>
            <a:ext cx="7223760" cy="713232"/>
          </a:xfrm>
          <a:prstGeom prst="rect">
            <a:avLst/>
          </a:prstGeom>
          <a:solidFill>
            <a:srgbClr val="FFFFFF"/>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a:off x="676656" y="3255264"/>
            <a:ext cx="60350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00"/>
              <a:buFont typeface="Calibri"/>
              <a:buNone/>
            </a:pPr>
            <a:r>
              <a:rPr b="1" i="0" lang="en-US" sz="1200" u="none" cap="none" strike="noStrike">
                <a:solidFill>
                  <a:srgbClr val="141B34"/>
                </a:solidFill>
                <a:latin typeface="Calibri"/>
                <a:ea typeface="Calibri"/>
                <a:cs typeface="Calibri"/>
                <a:sym typeface="Calibri"/>
              </a:rPr>
              <a:t>TC-03</a:t>
            </a:r>
            <a:endParaRPr b="0" i="0" sz="1200" u="none" cap="none" strike="noStrike">
              <a:solidFill>
                <a:schemeClr val="dk1"/>
              </a:solidFill>
              <a:latin typeface="Calibri"/>
              <a:ea typeface="Calibri"/>
              <a:cs typeface="Calibri"/>
              <a:sym typeface="Calibri"/>
            </a:endParaRPr>
          </a:p>
        </p:txBody>
      </p:sp>
      <p:sp>
        <p:nvSpPr>
          <p:cNvPr id="644" name="Google Shape;644;p19"/>
          <p:cNvSpPr/>
          <p:nvPr/>
        </p:nvSpPr>
        <p:spPr>
          <a:xfrm>
            <a:off x="1499616" y="3255264"/>
            <a:ext cx="2523744" cy="713232"/>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Empty session,</a:t>
            </a:r>
            <a:endParaRPr b="0" i="0" sz="1050" u="none" cap="none" strike="noStrike">
              <a:solidFill>
                <a:schemeClr val="dk1"/>
              </a:solidFill>
              <a:latin typeface="Calibri"/>
              <a:ea typeface="Calibri"/>
              <a:cs typeface="Calibri"/>
              <a:sym typeface="Calibri"/>
            </a:endParaRPr>
          </a:p>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zero answers submitted</a:t>
            </a:r>
            <a:endParaRPr b="0" i="0" sz="1050" u="none" cap="none" strike="noStrike">
              <a:solidFill>
                <a:schemeClr val="dk1"/>
              </a:solidFill>
              <a:latin typeface="Calibri"/>
              <a:ea typeface="Calibri"/>
              <a:cs typeface="Calibri"/>
              <a:sym typeface="Calibri"/>
            </a:endParaRPr>
          </a:p>
        </p:txBody>
      </p:sp>
      <p:sp>
        <p:nvSpPr>
          <p:cNvPr id="645" name="Google Shape;645;p19"/>
          <p:cNvSpPr/>
          <p:nvPr/>
        </p:nvSpPr>
        <p:spPr>
          <a:xfrm>
            <a:off x="4242816" y="3255264"/>
            <a:ext cx="124358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throws Error</a:t>
            </a:r>
            <a:endParaRPr b="0" i="0" sz="1000" u="none" cap="none" strike="noStrike">
              <a:solidFill>
                <a:schemeClr val="dk1"/>
              </a:solidFill>
              <a:latin typeface="Calibri"/>
              <a:ea typeface="Calibri"/>
              <a:cs typeface="Calibri"/>
              <a:sym typeface="Calibri"/>
            </a:endParaRPr>
          </a:p>
        </p:txBody>
      </p:sp>
      <p:sp>
        <p:nvSpPr>
          <p:cNvPr id="646" name="Google Shape;646;p19"/>
          <p:cNvSpPr/>
          <p:nvPr/>
        </p:nvSpPr>
        <p:spPr>
          <a:xfrm>
            <a:off x="5705856" y="3255264"/>
            <a:ext cx="11521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throws Error</a:t>
            </a:r>
            <a:endParaRPr b="0" i="0" sz="1000" u="none" cap="none" strike="noStrike">
              <a:solidFill>
                <a:schemeClr val="dk1"/>
              </a:solidFill>
              <a:latin typeface="Calibri"/>
              <a:ea typeface="Calibri"/>
              <a:cs typeface="Calibri"/>
              <a:sym typeface="Calibri"/>
            </a:endParaRPr>
          </a:p>
        </p:txBody>
      </p:sp>
      <p:sp>
        <p:nvSpPr>
          <p:cNvPr id="647" name="Google Shape;647;p19"/>
          <p:cNvSpPr/>
          <p:nvPr/>
        </p:nvSpPr>
        <p:spPr>
          <a:xfrm>
            <a:off x="7022592" y="3456432"/>
            <a:ext cx="713232" cy="310896"/>
          </a:xfrm>
          <a:prstGeom prst="roundRect">
            <a:avLst>
              <a:gd fmla="val 14706" name="adj"/>
            </a:avLst>
          </a:prstGeom>
          <a:solidFill>
            <a:srgbClr val="2E7D5B"/>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7022592" y="3456432"/>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PASS</a:t>
            </a:r>
            <a:endParaRPr b="0" i="0" sz="1050" u="none" cap="none" strike="noStrike">
              <a:solidFill>
                <a:schemeClr val="dk1"/>
              </a:solidFill>
              <a:latin typeface="Calibri"/>
              <a:ea typeface="Calibri"/>
              <a:cs typeface="Calibri"/>
              <a:sym typeface="Calibri"/>
            </a:endParaRPr>
          </a:p>
        </p:txBody>
      </p:sp>
      <p:sp>
        <p:nvSpPr>
          <p:cNvPr id="649" name="Google Shape;649;p19"/>
          <p:cNvSpPr/>
          <p:nvPr/>
        </p:nvSpPr>
        <p:spPr>
          <a:xfrm>
            <a:off x="566928" y="3968496"/>
            <a:ext cx="7223760" cy="713232"/>
          </a:xfrm>
          <a:prstGeom prst="rect">
            <a:avLst/>
          </a:prstGeom>
          <a:solidFill>
            <a:srgbClr val="FBEDEA"/>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676656" y="3968496"/>
            <a:ext cx="60350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200"/>
              <a:buFont typeface="Calibri"/>
              <a:buNone/>
            </a:pPr>
            <a:r>
              <a:rPr b="1" i="0" lang="en-US" sz="1200" u="none" cap="none" strike="noStrike">
                <a:solidFill>
                  <a:srgbClr val="141B34"/>
                </a:solidFill>
                <a:latin typeface="Calibri"/>
                <a:ea typeface="Calibri"/>
                <a:cs typeface="Calibri"/>
                <a:sym typeface="Calibri"/>
              </a:rPr>
              <a:t>TC-04</a:t>
            </a:r>
            <a:endParaRPr b="0" i="0" sz="1200" u="none" cap="none" strike="noStrike">
              <a:solidFill>
                <a:schemeClr val="dk1"/>
              </a:solidFill>
              <a:latin typeface="Calibri"/>
              <a:ea typeface="Calibri"/>
              <a:cs typeface="Calibri"/>
              <a:sym typeface="Calibri"/>
            </a:endParaRPr>
          </a:p>
        </p:txBody>
      </p:sp>
      <p:sp>
        <p:nvSpPr>
          <p:cNvPr id="651" name="Google Shape;651;p19"/>
          <p:cNvSpPr/>
          <p:nvPr/>
        </p:nvSpPr>
        <p:spPr>
          <a:xfrm>
            <a:off x="1499616" y="3968496"/>
            <a:ext cx="2523744" cy="713232"/>
          </a:xfrm>
          <a:prstGeom prst="rect">
            <a:avLst/>
          </a:prstGeom>
          <a:noFill/>
          <a:ln>
            <a:noFill/>
          </a:ln>
        </p:spPr>
        <p:txBody>
          <a:bodyPr anchorCtr="0" anchor="ctr" bIns="0" lIns="0" spcFirstLastPara="1" rIns="0" wrap="square" tIns="0">
            <a:noAutofit/>
          </a:bodyPr>
          <a:lstStyle/>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Malformed AI payload,</a:t>
            </a:r>
            <a:endParaRPr b="0" i="0" sz="1050" u="none" cap="none" strike="noStrike">
              <a:solidFill>
                <a:schemeClr val="dk1"/>
              </a:solidFill>
              <a:latin typeface="Calibri"/>
              <a:ea typeface="Calibri"/>
              <a:cs typeface="Calibri"/>
              <a:sym typeface="Calibri"/>
            </a:endParaRPr>
          </a:p>
          <a:p>
            <a:pPr indent="0" lvl="0" marL="0" marR="0" rtl="0" algn="l">
              <a:lnSpc>
                <a:spcPct val="123809"/>
              </a:lnSpc>
              <a:spcBef>
                <a:spcPts val="0"/>
              </a:spcBef>
              <a:spcAft>
                <a:spcPts val="0"/>
              </a:spcAft>
              <a:buClr>
                <a:srgbClr val="2B2F42"/>
              </a:buClr>
              <a:buSzPts val="1050"/>
              <a:buFont typeface="Calibri"/>
              <a:buNone/>
            </a:pPr>
            <a:r>
              <a:rPr b="0" i="0" lang="en-US" sz="1050" u="none" cap="none" strike="noStrike">
                <a:solidFill>
                  <a:srgbClr val="2B2F42"/>
                </a:solidFill>
                <a:latin typeface="Calibri"/>
                <a:ea typeface="Calibri"/>
                <a:cs typeface="Calibri"/>
                <a:sym typeface="Calibri"/>
              </a:rPr>
              <a:t>star = 12, above the valid range</a:t>
            </a:r>
            <a:endParaRPr b="0" i="0" sz="1050" u="none" cap="none" strike="noStrike">
              <a:solidFill>
                <a:schemeClr val="dk1"/>
              </a:solidFill>
              <a:latin typeface="Calibri"/>
              <a:ea typeface="Calibri"/>
              <a:cs typeface="Calibri"/>
              <a:sym typeface="Calibri"/>
            </a:endParaRPr>
          </a:p>
        </p:txBody>
      </p:sp>
      <p:sp>
        <p:nvSpPr>
          <p:cNvPr id="652" name="Google Shape;652;p19"/>
          <p:cNvSpPr/>
          <p:nvPr/>
        </p:nvSpPr>
        <p:spPr>
          <a:xfrm>
            <a:off x="4242816" y="3968496"/>
            <a:ext cx="124358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1000"/>
              <a:buFont typeface="Courier New"/>
              <a:buNone/>
            </a:pPr>
            <a:r>
              <a:rPr b="0" i="0" lang="en-US" sz="1000" u="none" cap="none" strike="noStrike">
                <a:solidFill>
                  <a:srgbClr val="2B2F42"/>
                </a:solidFill>
                <a:latin typeface="Courier New"/>
                <a:ea typeface="Courier New"/>
                <a:cs typeface="Courier New"/>
                <a:sym typeface="Courier New"/>
              </a:rPr>
              <a:t>throws RangeError</a:t>
            </a:r>
            <a:endParaRPr b="0" i="0" sz="1000" u="none" cap="none" strike="noStrike">
              <a:solidFill>
                <a:schemeClr val="dk1"/>
              </a:solidFill>
              <a:latin typeface="Calibri"/>
              <a:ea typeface="Calibri"/>
              <a:cs typeface="Calibri"/>
              <a:sym typeface="Calibri"/>
            </a:endParaRPr>
          </a:p>
        </p:txBody>
      </p:sp>
      <p:sp>
        <p:nvSpPr>
          <p:cNvPr id="653" name="Google Shape;653;p19"/>
          <p:cNvSpPr/>
          <p:nvPr/>
        </p:nvSpPr>
        <p:spPr>
          <a:xfrm>
            <a:off x="5705856" y="3968496"/>
            <a:ext cx="1152144"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402F"/>
              </a:buClr>
              <a:buSzPts val="1000"/>
              <a:buFont typeface="Courier New"/>
              <a:buNone/>
            </a:pPr>
            <a:r>
              <a:rPr b="1" i="0" lang="en-US" sz="1000" u="none" cap="none" strike="noStrike">
                <a:solidFill>
                  <a:srgbClr val="B3402F"/>
                </a:solidFill>
                <a:latin typeface="Courier New"/>
                <a:ea typeface="Courier New"/>
                <a:cs typeface="Courier New"/>
                <a:sym typeface="Courier New"/>
              </a:rPr>
              <a:t>returned 96</a:t>
            </a:r>
            <a:endParaRPr b="0" i="0" sz="1000" u="none" cap="none" strike="noStrike">
              <a:solidFill>
                <a:schemeClr val="dk1"/>
              </a:solidFill>
              <a:latin typeface="Calibri"/>
              <a:ea typeface="Calibri"/>
              <a:cs typeface="Calibri"/>
              <a:sym typeface="Calibri"/>
            </a:endParaRPr>
          </a:p>
        </p:txBody>
      </p:sp>
      <p:sp>
        <p:nvSpPr>
          <p:cNvPr id="654" name="Google Shape;654;p19"/>
          <p:cNvSpPr/>
          <p:nvPr/>
        </p:nvSpPr>
        <p:spPr>
          <a:xfrm>
            <a:off x="7022592" y="4169664"/>
            <a:ext cx="713232" cy="310896"/>
          </a:xfrm>
          <a:prstGeom prst="roundRect">
            <a:avLst>
              <a:gd fmla="val 14706" name="adj"/>
            </a:avLst>
          </a:prstGeom>
          <a:solidFill>
            <a:srgbClr val="B3402F"/>
          </a:solidFill>
          <a:ln cap="flat" cmpd="sng" w="12700">
            <a:solidFill>
              <a:srgbClr val="B340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7022592" y="4169664"/>
            <a:ext cx="7132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FAIL</a:t>
            </a:r>
            <a:endParaRPr b="0" i="0" sz="1050" u="none" cap="none" strike="noStrike">
              <a:solidFill>
                <a:schemeClr val="dk1"/>
              </a:solidFill>
              <a:latin typeface="Calibri"/>
              <a:ea typeface="Calibri"/>
              <a:cs typeface="Calibri"/>
              <a:sym typeface="Calibri"/>
            </a:endParaRPr>
          </a:p>
        </p:txBody>
      </p:sp>
      <p:sp>
        <p:nvSpPr>
          <p:cNvPr id="656" name="Google Shape;656;p19"/>
          <p:cNvSpPr/>
          <p:nvPr/>
        </p:nvSpPr>
        <p:spPr>
          <a:xfrm>
            <a:off x="566928" y="4754880"/>
            <a:ext cx="7223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1050"/>
              <a:buFont typeface="Courier New"/>
              <a:buNone/>
            </a:pPr>
            <a:r>
              <a:rPr b="1" i="0" lang="en-US" sz="1050" u="none" cap="none" strike="noStrike">
                <a:solidFill>
                  <a:srgbClr val="2A3A78"/>
                </a:solidFill>
                <a:latin typeface="Courier New"/>
                <a:ea typeface="Courier New"/>
                <a:cs typeface="Courier New"/>
                <a:sym typeface="Courier New"/>
              </a:rPr>
              <a:t>TC-01 verification:  (8 x 0.5) + (7 x 0.3) + (6 x 0.2)  =  7.3   -&gt;   7.3 x 10  =  73</a:t>
            </a:r>
            <a:endParaRPr b="0" i="0" sz="1050" u="none" cap="none" strike="noStrike">
              <a:solidFill>
                <a:schemeClr val="dk1"/>
              </a:solidFill>
              <a:latin typeface="Calibri"/>
              <a:ea typeface="Calibri"/>
              <a:cs typeface="Calibri"/>
              <a:sym typeface="Calibri"/>
            </a:endParaRPr>
          </a:p>
        </p:txBody>
      </p:sp>
      <p:sp>
        <p:nvSpPr>
          <p:cNvPr id="657" name="Google Shape;657;p19"/>
          <p:cNvSpPr/>
          <p:nvPr/>
        </p:nvSpPr>
        <p:spPr>
          <a:xfrm>
            <a:off x="8046720" y="1463040"/>
            <a:ext cx="3547872" cy="3621024"/>
          </a:xfrm>
          <a:prstGeom prst="roundRect">
            <a:avLst>
              <a:gd fmla="val 1546" name="adj"/>
            </a:avLst>
          </a:prstGeom>
          <a:solidFill>
            <a:srgbClr val="13182B"/>
          </a:solidFill>
          <a:ln cap="flat" cmpd="sng" w="12700">
            <a:solidFill>
              <a:srgbClr val="1318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8229600" y="15544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950"/>
              <a:buFont typeface="Courier New"/>
              <a:buNone/>
            </a:pPr>
            <a:r>
              <a:rPr b="1" i="0" lang="en-US" sz="950" u="none" cap="none" strike="noStrike">
                <a:solidFill>
                  <a:srgbClr val="F2A65A"/>
                </a:solidFill>
                <a:latin typeface="Courier New"/>
                <a:ea typeface="Courier New"/>
                <a:cs typeface="Courier New"/>
                <a:sym typeface="Courier New"/>
              </a:rPr>
              <a:t>jest  SessionScorer.test.ts</a:t>
            </a:r>
            <a:endParaRPr b="0" i="0" sz="950" u="none" cap="none" strike="noStrike">
              <a:solidFill>
                <a:schemeClr val="dk1"/>
              </a:solidFill>
              <a:latin typeface="Calibri"/>
              <a:ea typeface="Calibri"/>
              <a:cs typeface="Calibri"/>
              <a:sym typeface="Calibri"/>
            </a:endParaRPr>
          </a:p>
        </p:txBody>
      </p:sp>
      <p:sp>
        <p:nvSpPr>
          <p:cNvPr id="659" name="Google Shape;659;p19"/>
          <p:cNvSpPr/>
          <p:nvPr/>
        </p:nvSpPr>
        <p:spPr>
          <a:xfrm>
            <a:off x="8229600" y="1865376"/>
            <a:ext cx="3200400" cy="3108960"/>
          </a:xfrm>
          <a:prstGeom prst="rect">
            <a:avLst/>
          </a:prstGeom>
          <a:noFill/>
          <a:ln>
            <a:noFill/>
          </a:ln>
        </p:spPr>
        <p:txBody>
          <a:bodyPr anchorCtr="0" anchor="ctr" bIns="0" lIns="0" spcFirstLastPara="1" rIns="0" wrap="square" tIns="0">
            <a:noAutofit/>
          </a:bodyPr>
          <a:lstStyle/>
          <a:p>
            <a:pPr indent="0" lvl="0" marL="0" marR="0" rtl="0" algn="l">
              <a:lnSpc>
                <a:spcPct val="144444"/>
              </a:lnSpc>
              <a:spcBef>
                <a:spcPts val="0"/>
              </a:spcBef>
              <a:spcAft>
                <a:spcPts val="0"/>
              </a:spcAft>
              <a:buClr>
                <a:srgbClr val="4FC08D"/>
              </a:buClr>
              <a:buSzPts val="900"/>
              <a:buFont typeface="Courier New"/>
              <a:buNone/>
            </a:pPr>
            <a:r>
              <a:rPr b="0" i="0" lang="en-US" sz="900" u="none" cap="none" strike="noStrike">
                <a:solidFill>
                  <a:srgbClr val="4FC08D"/>
                </a:solidFill>
                <a:latin typeface="Courier New"/>
                <a:ea typeface="Courier New"/>
                <a:cs typeface="Courier New"/>
                <a:sym typeface="Courier New"/>
              </a:rPr>
              <a:t>PASS</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  computeOverallScore</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FC08D"/>
              </a:buClr>
              <a:buSzPts val="900"/>
              <a:buFont typeface="Courier New"/>
              <a:buNone/>
            </a:pPr>
            <a:r>
              <a:rPr b="0" i="0" lang="en-US" sz="900" u="none" cap="none" strike="noStrike">
                <a:solidFill>
                  <a:srgbClr val="4FC08D"/>
                </a:solidFill>
                <a:latin typeface="Courier New"/>
                <a:ea typeface="Courier New"/>
                <a:cs typeface="Courier New"/>
                <a:sym typeface="Courier New"/>
              </a:rPr>
              <a:t>    v TC-01 valid 5 answer session</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FC08D"/>
              </a:buClr>
              <a:buSzPts val="900"/>
              <a:buFont typeface="Courier New"/>
              <a:buNone/>
            </a:pPr>
            <a:r>
              <a:rPr b="0" i="0" lang="en-US" sz="900" u="none" cap="none" strike="noStrike">
                <a:solidFill>
                  <a:srgbClr val="4FC08D"/>
                </a:solidFill>
                <a:latin typeface="Courier New"/>
                <a:ea typeface="Courier New"/>
                <a:cs typeface="Courier New"/>
                <a:sym typeface="Courier New"/>
              </a:rPr>
              <a:t>    v TC-02 perfect session -&gt; 100</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4FC08D"/>
              </a:buClr>
              <a:buSzPts val="900"/>
              <a:buFont typeface="Courier New"/>
              <a:buNone/>
            </a:pPr>
            <a:r>
              <a:rPr b="0" i="0" lang="en-US" sz="900" u="none" cap="none" strike="noStrike">
                <a:solidFill>
                  <a:srgbClr val="4FC08D"/>
                </a:solidFill>
                <a:latin typeface="Courier New"/>
                <a:ea typeface="Courier New"/>
                <a:cs typeface="Courier New"/>
                <a:sym typeface="Courier New"/>
              </a:rPr>
              <a:t>    v TC-03 empty session throws</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E5796A"/>
              </a:buClr>
              <a:buSzPts val="900"/>
              <a:buFont typeface="Courier New"/>
              <a:buNone/>
            </a:pPr>
            <a:r>
              <a:rPr b="0" i="0" lang="en-US" sz="900" u="none" cap="none" strike="noStrike">
                <a:solidFill>
                  <a:srgbClr val="E5796A"/>
                </a:solidFill>
                <a:latin typeface="Courier New"/>
                <a:ea typeface="Courier New"/>
                <a:cs typeface="Courier New"/>
                <a:sym typeface="Courier New"/>
              </a:rPr>
              <a:t>    x TC-04 rejects out of range</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E5796A"/>
              </a:buClr>
              <a:buSzPts val="900"/>
              <a:buFont typeface="Courier New"/>
              <a:buNone/>
            </a:pPr>
            <a:r>
              <a:rPr b="0" i="0" lang="en-US" sz="900" u="none" cap="none" strike="noStrike">
                <a:solidFill>
                  <a:srgbClr val="E5796A"/>
                </a:solidFill>
                <a:latin typeface="Courier New"/>
                <a:ea typeface="Courier New"/>
                <a:cs typeface="Courier New"/>
                <a:sym typeface="Courier New"/>
              </a:rPr>
              <a:t>  * TC-04 rejects out of range</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    Expected: RangeError</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    Received: 96</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 </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Tests:   1 failed, 3 passed, 4 total</a:t>
            </a:r>
            <a:endParaRPr b="0" i="0" sz="900" u="none" cap="none" strike="noStrike">
              <a:solidFill>
                <a:schemeClr val="dk1"/>
              </a:solidFill>
              <a:latin typeface="Calibri"/>
              <a:ea typeface="Calibri"/>
              <a:cs typeface="Calibri"/>
              <a:sym typeface="Calibri"/>
            </a:endParaRPr>
          </a:p>
          <a:p>
            <a:pPr indent="0" lvl="0" marL="0" marR="0" rtl="0" algn="l">
              <a:lnSpc>
                <a:spcPct val="144444"/>
              </a:lnSpc>
              <a:spcBef>
                <a:spcPts val="0"/>
              </a:spcBef>
              <a:spcAft>
                <a:spcPts val="0"/>
              </a:spcAft>
              <a:buClr>
                <a:srgbClr val="C7CEE0"/>
              </a:buClr>
              <a:buSzPts val="900"/>
              <a:buFont typeface="Courier New"/>
              <a:buNone/>
            </a:pPr>
            <a:r>
              <a:rPr b="0" i="0" lang="en-US" sz="900" u="none" cap="none" strike="noStrike">
                <a:solidFill>
                  <a:srgbClr val="C7CEE0"/>
                </a:solidFill>
                <a:latin typeface="Courier New"/>
                <a:ea typeface="Courier New"/>
                <a:cs typeface="Courier New"/>
                <a:sym typeface="Courier New"/>
              </a:rPr>
              <a:t>Coverage: 78.4% lines</a:t>
            </a:r>
            <a:endParaRPr b="0" i="0" sz="900" u="none" cap="none" strike="noStrike">
              <a:solidFill>
                <a:schemeClr val="dk1"/>
              </a:solidFill>
              <a:latin typeface="Calibri"/>
              <a:ea typeface="Calibri"/>
              <a:cs typeface="Calibri"/>
              <a:sym typeface="Calibri"/>
            </a:endParaRPr>
          </a:p>
        </p:txBody>
      </p:sp>
      <p:sp>
        <p:nvSpPr>
          <p:cNvPr id="660" name="Google Shape;660;p19"/>
          <p:cNvSpPr/>
          <p:nvPr/>
        </p:nvSpPr>
        <p:spPr>
          <a:xfrm>
            <a:off x="566928" y="5175504"/>
            <a:ext cx="11027664" cy="896112"/>
          </a:xfrm>
          <a:prstGeom prst="roundRect">
            <a:avLst>
              <a:gd fmla="val 6122"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822960" y="5266944"/>
            <a:ext cx="10515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5F1E"/>
              </a:buClr>
              <a:buSzPts val="1250"/>
              <a:buFont typeface="Calibri"/>
              <a:buNone/>
            </a:pPr>
            <a:r>
              <a:rPr b="1" i="0" lang="en-US" sz="1250" u="none" cap="none" strike="noStrike">
                <a:solidFill>
                  <a:srgbClr val="9A5F1E"/>
                </a:solidFill>
                <a:latin typeface="Calibri"/>
                <a:ea typeface="Calibri"/>
                <a:cs typeface="Calibri"/>
                <a:sym typeface="Calibri"/>
              </a:rPr>
              <a:t>DEF-01  |  The failing case found a real defect</a:t>
            </a:r>
            <a:endParaRPr b="0" i="0" sz="1250" u="none" cap="none" strike="noStrike">
              <a:solidFill>
                <a:schemeClr val="dk1"/>
              </a:solidFill>
              <a:latin typeface="Calibri"/>
              <a:ea typeface="Calibri"/>
              <a:cs typeface="Calibri"/>
              <a:sym typeface="Calibri"/>
            </a:endParaRPr>
          </a:p>
        </p:txBody>
      </p:sp>
      <p:sp>
        <p:nvSpPr>
          <p:cNvPr id="662" name="Google Shape;662;p19"/>
          <p:cNvSpPr/>
          <p:nvPr/>
        </p:nvSpPr>
        <p:spPr>
          <a:xfrm>
            <a:off x="822960" y="5522976"/>
            <a:ext cx="10515600" cy="493776"/>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2B2F42"/>
              </a:buClr>
              <a:buSzPts val="1100"/>
              <a:buFont typeface="Calibri"/>
              <a:buNone/>
            </a:pPr>
            <a:r>
              <a:rPr b="0" i="0" lang="en-US" sz="1100" u="none" cap="none" strike="noStrike">
                <a:solidFill>
                  <a:srgbClr val="2B2F42"/>
                </a:solidFill>
                <a:latin typeface="Calibri"/>
                <a:ea typeface="Calibri"/>
                <a:cs typeface="Calibri"/>
                <a:sym typeface="Calibri"/>
              </a:rPr>
              <a:t>The first implementation weighted the components without validating their range, so a malformed AI response with star = 12 silently produced a session score of 96 instead of being rejected. A guard clause was added, the test was re-run, and all four cases now pass at 78.4 percent line coverage. This is exactly why we test the deterministic layer separately from the model.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7" name="Shape 667"/>
        <p:cNvGrpSpPr/>
        <p:nvPr/>
      </p:nvGrpSpPr>
      <p:grpSpPr>
        <a:xfrm>
          <a:off x="0" y="0"/>
          <a:ext cx="0" cy="0"/>
          <a:chOff x="0" y="0"/>
          <a:chExt cx="0" cy="0"/>
        </a:xfrm>
      </p:grpSpPr>
      <p:sp>
        <p:nvSpPr>
          <p:cNvPr id="668" name="Google Shape;668;p20"/>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Prototype of the Proposed Application</a:t>
            </a:r>
            <a:endParaRPr b="0" i="0" sz="3000" u="none" cap="none" strike="noStrike">
              <a:solidFill>
                <a:schemeClr val="dk1"/>
              </a:solidFill>
              <a:latin typeface="Calibri"/>
              <a:ea typeface="Calibri"/>
              <a:cs typeface="Calibri"/>
              <a:sym typeface="Calibri"/>
            </a:endParaRPr>
          </a:p>
        </p:txBody>
      </p:sp>
      <p:sp>
        <p:nvSpPr>
          <p:cNvPr id="670" name="Google Shape;670;p20"/>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Interactive Figma prototype, three core screens shown</a:t>
            </a:r>
            <a:endParaRPr b="0" i="0" sz="1300" u="none" cap="none" strike="noStrike">
              <a:solidFill>
                <a:schemeClr val="dk1"/>
              </a:solidFill>
              <a:latin typeface="Calibri"/>
              <a:ea typeface="Calibri"/>
              <a:cs typeface="Calibri"/>
              <a:sym typeface="Calibri"/>
            </a:endParaRPr>
          </a:p>
        </p:txBody>
      </p:sp>
      <p:sp>
        <p:nvSpPr>
          <p:cNvPr id="671" name="Google Shape;671;p20"/>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18</a:t>
            </a:r>
            <a:endParaRPr b="0" i="0" sz="1000" u="none" cap="none" strike="noStrike">
              <a:solidFill>
                <a:schemeClr val="dk1"/>
              </a:solidFill>
              <a:latin typeface="Calibri"/>
              <a:ea typeface="Calibri"/>
              <a:cs typeface="Calibri"/>
              <a:sym typeface="Calibri"/>
            </a:endParaRPr>
          </a:p>
        </p:txBody>
      </p:sp>
      <p:sp>
        <p:nvSpPr>
          <p:cNvPr id="672" name="Google Shape;672;p20"/>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673" name="Google Shape;673;p20"/>
          <p:cNvSpPr/>
          <p:nvPr/>
        </p:nvSpPr>
        <p:spPr>
          <a:xfrm>
            <a:off x="566928" y="1426464"/>
            <a:ext cx="3566160" cy="4553712"/>
          </a:xfrm>
          <a:prstGeom prst="roundRect">
            <a:avLst>
              <a:gd fmla="val 1538"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877824" y="1627632"/>
            <a:ext cx="2944368" cy="3017520"/>
          </a:xfrm>
          <a:prstGeom prst="roundRect">
            <a:avLst>
              <a:gd fmla="val 1242" name="adj"/>
            </a:avLst>
          </a:prstGeom>
          <a:solidFill>
            <a:srgbClr val="FFFFFF"/>
          </a:solidFill>
          <a:ln cap="flat" cmpd="sng" w="12700">
            <a:solidFill>
              <a:srgbClr val="C3CA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877824" y="1627632"/>
            <a:ext cx="2944368" cy="219456"/>
          </a:xfrm>
          <a:prstGeom prst="rect">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969264" y="1627632"/>
            <a:ext cx="27614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Interview Lens</a:t>
            </a:r>
            <a:endParaRPr b="0" i="0" sz="750" u="none" cap="none" strike="noStrike">
              <a:solidFill>
                <a:schemeClr val="dk1"/>
              </a:solidFill>
              <a:latin typeface="Calibri"/>
              <a:ea typeface="Calibri"/>
              <a:cs typeface="Calibri"/>
              <a:sym typeface="Calibri"/>
            </a:endParaRPr>
          </a:p>
        </p:txBody>
      </p:sp>
      <p:sp>
        <p:nvSpPr>
          <p:cNvPr id="677" name="Google Shape;677;p20"/>
          <p:cNvSpPr/>
          <p:nvPr/>
        </p:nvSpPr>
        <p:spPr>
          <a:xfrm>
            <a:off x="1024128" y="195681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1100"/>
              <a:buFont typeface="Calibri"/>
              <a:buNone/>
            </a:pPr>
            <a:r>
              <a:rPr b="1" i="0" lang="en-US" sz="1100" u="none" cap="none" strike="noStrike">
                <a:solidFill>
                  <a:srgbClr val="141B34"/>
                </a:solidFill>
                <a:latin typeface="Calibri"/>
                <a:ea typeface="Calibri"/>
                <a:cs typeface="Calibri"/>
                <a:sym typeface="Calibri"/>
              </a:rPr>
              <a:t>Start a new session</a:t>
            </a:r>
            <a:endParaRPr b="0" i="0" sz="1100" u="none" cap="none" strike="noStrike">
              <a:solidFill>
                <a:schemeClr val="dk1"/>
              </a:solidFill>
              <a:latin typeface="Calibri"/>
              <a:ea typeface="Calibri"/>
              <a:cs typeface="Calibri"/>
              <a:sym typeface="Calibri"/>
            </a:endParaRPr>
          </a:p>
        </p:txBody>
      </p:sp>
      <p:sp>
        <p:nvSpPr>
          <p:cNvPr id="678" name="Google Shape;678;p20"/>
          <p:cNvSpPr/>
          <p:nvPr/>
        </p:nvSpPr>
        <p:spPr>
          <a:xfrm>
            <a:off x="1024128" y="2286000"/>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750"/>
              <a:buFont typeface="Calibri"/>
              <a:buNone/>
            </a:pPr>
            <a:r>
              <a:rPr b="0" i="0" lang="en-US" sz="750" u="none" cap="none" strike="noStrike">
                <a:solidFill>
                  <a:srgbClr val="6B7185"/>
                </a:solidFill>
                <a:latin typeface="Calibri"/>
                <a:ea typeface="Calibri"/>
                <a:cs typeface="Calibri"/>
                <a:sym typeface="Calibri"/>
              </a:rPr>
              <a:t>Target role</a:t>
            </a:r>
            <a:endParaRPr b="0" i="0" sz="750" u="none" cap="none" strike="noStrike">
              <a:solidFill>
                <a:schemeClr val="dk1"/>
              </a:solidFill>
              <a:latin typeface="Calibri"/>
              <a:ea typeface="Calibri"/>
              <a:cs typeface="Calibri"/>
              <a:sym typeface="Calibri"/>
            </a:endParaRPr>
          </a:p>
        </p:txBody>
      </p:sp>
      <p:sp>
        <p:nvSpPr>
          <p:cNvPr id="679" name="Google Shape;679;p20"/>
          <p:cNvSpPr/>
          <p:nvPr/>
        </p:nvSpPr>
        <p:spPr>
          <a:xfrm>
            <a:off x="1024128" y="2468880"/>
            <a:ext cx="2651760" cy="310896"/>
          </a:xfrm>
          <a:prstGeom prst="roundRect">
            <a:avLst>
              <a:gd fmla="val 11765" name="adj"/>
            </a:avLst>
          </a:prstGeom>
          <a:solidFill>
            <a:srgbClr val="F4F6FB"/>
          </a:solidFill>
          <a:ln cap="flat" cmpd="sng" w="12700">
            <a:solidFill>
              <a:srgbClr val="C3CA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
          <p:cNvSpPr/>
          <p:nvPr/>
        </p:nvSpPr>
        <p:spPr>
          <a:xfrm>
            <a:off x="1115568" y="2468880"/>
            <a:ext cx="2468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850"/>
              <a:buFont typeface="Calibri"/>
              <a:buNone/>
            </a:pPr>
            <a:r>
              <a:rPr b="0" i="0" lang="en-US" sz="850" u="none" cap="none" strike="noStrike">
                <a:solidFill>
                  <a:srgbClr val="2B2F42"/>
                </a:solidFill>
                <a:latin typeface="Calibri"/>
                <a:ea typeface="Calibri"/>
                <a:cs typeface="Calibri"/>
                <a:sym typeface="Calibri"/>
              </a:rPr>
              <a:t>Software Engineer Intern</a:t>
            </a:r>
            <a:endParaRPr b="0" i="0" sz="850" u="none" cap="none" strike="noStrike">
              <a:solidFill>
                <a:schemeClr val="dk1"/>
              </a:solidFill>
              <a:latin typeface="Calibri"/>
              <a:ea typeface="Calibri"/>
              <a:cs typeface="Calibri"/>
              <a:sym typeface="Calibri"/>
            </a:endParaRPr>
          </a:p>
        </p:txBody>
      </p:sp>
      <p:sp>
        <p:nvSpPr>
          <p:cNvPr id="681" name="Google Shape;681;p20"/>
          <p:cNvSpPr/>
          <p:nvPr/>
        </p:nvSpPr>
        <p:spPr>
          <a:xfrm>
            <a:off x="1024128" y="2889504"/>
            <a:ext cx="2651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750"/>
              <a:buFont typeface="Calibri"/>
              <a:buNone/>
            </a:pPr>
            <a:r>
              <a:rPr b="0" i="0" lang="en-US" sz="750" u="none" cap="none" strike="noStrike">
                <a:solidFill>
                  <a:srgbClr val="6B7185"/>
                </a:solidFill>
                <a:latin typeface="Calibri"/>
                <a:ea typeface="Calibri"/>
                <a:cs typeface="Calibri"/>
                <a:sym typeface="Calibri"/>
              </a:rPr>
              <a:t>Difficulty</a:t>
            </a:r>
            <a:endParaRPr b="0" i="0" sz="750" u="none" cap="none" strike="noStrike">
              <a:solidFill>
                <a:schemeClr val="dk1"/>
              </a:solidFill>
              <a:latin typeface="Calibri"/>
              <a:ea typeface="Calibri"/>
              <a:cs typeface="Calibri"/>
              <a:sym typeface="Calibri"/>
            </a:endParaRPr>
          </a:p>
        </p:txBody>
      </p:sp>
      <p:sp>
        <p:nvSpPr>
          <p:cNvPr id="682" name="Google Shape;682;p20"/>
          <p:cNvSpPr/>
          <p:nvPr/>
        </p:nvSpPr>
        <p:spPr>
          <a:xfrm>
            <a:off x="1024128" y="3072384"/>
            <a:ext cx="2651760" cy="310896"/>
          </a:xfrm>
          <a:prstGeom prst="roundRect">
            <a:avLst>
              <a:gd fmla="val 11765" name="adj"/>
            </a:avLst>
          </a:prstGeom>
          <a:solidFill>
            <a:srgbClr val="F4F6FB"/>
          </a:solidFill>
          <a:ln cap="flat" cmpd="sng" w="12700">
            <a:solidFill>
              <a:srgbClr val="C3CA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1115568" y="3072384"/>
            <a:ext cx="2468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850"/>
              <a:buFont typeface="Calibri"/>
              <a:buNone/>
            </a:pPr>
            <a:r>
              <a:rPr b="0" i="0" lang="en-US" sz="850" u="none" cap="none" strike="noStrike">
                <a:solidFill>
                  <a:srgbClr val="2B2F42"/>
                </a:solidFill>
                <a:latin typeface="Calibri"/>
                <a:ea typeface="Calibri"/>
                <a:cs typeface="Calibri"/>
                <a:sym typeface="Calibri"/>
              </a:rPr>
              <a:t>Intermediate</a:t>
            </a:r>
            <a:endParaRPr b="0" i="0" sz="850" u="none" cap="none" strike="noStrike">
              <a:solidFill>
                <a:schemeClr val="dk1"/>
              </a:solidFill>
              <a:latin typeface="Calibri"/>
              <a:ea typeface="Calibri"/>
              <a:cs typeface="Calibri"/>
              <a:sym typeface="Calibri"/>
            </a:endParaRPr>
          </a:p>
        </p:txBody>
      </p:sp>
      <p:sp>
        <p:nvSpPr>
          <p:cNvPr id="684" name="Google Shape;684;p20"/>
          <p:cNvSpPr/>
          <p:nvPr/>
        </p:nvSpPr>
        <p:spPr>
          <a:xfrm>
            <a:off x="1024128" y="3602736"/>
            <a:ext cx="2651760" cy="365760"/>
          </a:xfrm>
          <a:prstGeom prst="roundRect">
            <a:avLst>
              <a:gd fmla="val 12500"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1024128" y="3602736"/>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Begin interview</a:t>
            </a:r>
            <a:endParaRPr b="0" i="0" sz="950" u="none" cap="none" strike="noStrike">
              <a:solidFill>
                <a:schemeClr val="dk1"/>
              </a:solidFill>
              <a:latin typeface="Calibri"/>
              <a:ea typeface="Calibri"/>
              <a:cs typeface="Calibri"/>
              <a:sym typeface="Calibri"/>
            </a:endParaRPr>
          </a:p>
        </p:txBody>
      </p:sp>
      <p:sp>
        <p:nvSpPr>
          <p:cNvPr id="686" name="Google Shape;686;p20"/>
          <p:cNvSpPr/>
          <p:nvPr/>
        </p:nvSpPr>
        <p:spPr>
          <a:xfrm>
            <a:off x="1024128" y="4023360"/>
            <a:ext cx="2651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185"/>
              </a:buClr>
              <a:buSzPts val="750"/>
              <a:buFont typeface="Calibri"/>
              <a:buNone/>
            </a:pPr>
            <a:r>
              <a:rPr b="0" i="0" lang="en-US" sz="750" u="none" cap="none" strike="noStrike">
                <a:solidFill>
                  <a:srgbClr val="6B7185"/>
                </a:solidFill>
                <a:latin typeface="Calibri"/>
                <a:ea typeface="Calibri"/>
                <a:cs typeface="Calibri"/>
                <a:sym typeface="Calibri"/>
              </a:rPr>
              <a:t>5 questions  .  about 12 minutes</a:t>
            </a:r>
            <a:endParaRPr b="0" i="0" sz="750" u="none" cap="none" strike="noStrike">
              <a:solidFill>
                <a:schemeClr val="dk1"/>
              </a:solidFill>
              <a:latin typeface="Calibri"/>
              <a:ea typeface="Calibri"/>
              <a:cs typeface="Calibri"/>
              <a:sym typeface="Calibri"/>
            </a:endParaRPr>
          </a:p>
        </p:txBody>
      </p:sp>
      <p:sp>
        <p:nvSpPr>
          <p:cNvPr id="687" name="Google Shape;687;p20"/>
          <p:cNvSpPr/>
          <p:nvPr/>
        </p:nvSpPr>
        <p:spPr>
          <a:xfrm>
            <a:off x="566928" y="4754880"/>
            <a:ext cx="3566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600"/>
              <a:buFont typeface="Cambria"/>
              <a:buNone/>
            </a:pPr>
            <a:r>
              <a:rPr b="1" i="0" lang="en-US" sz="1600" u="none" cap="none" strike="noStrike">
                <a:solidFill>
                  <a:srgbClr val="141B34"/>
                </a:solidFill>
                <a:latin typeface="Cambria"/>
                <a:ea typeface="Cambria"/>
                <a:cs typeface="Cambria"/>
                <a:sym typeface="Cambria"/>
              </a:rPr>
              <a:t>1.  Session Setup</a:t>
            </a:r>
            <a:endParaRPr b="0" i="0" sz="1600" u="none" cap="none" strike="noStrike">
              <a:solidFill>
                <a:schemeClr val="dk1"/>
              </a:solidFill>
              <a:latin typeface="Calibri"/>
              <a:ea typeface="Calibri"/>
              <a:cs typeface="Calibri"/>
              <a:sym typeface="Calibri"/>
            </a:endParaRPr>
          </a:p>
        </p:txBody>
      </p:sp>
      <p:sp>
        <p:nvSpPr>
          <p:cNvPr id="688" name="Google Shape;688;p20"/>
          <p:cNvSpPr/>
          <p:nvPr/>
        </p:nvSpPr>
        <p:spPr>
          <a:xfrm>
            <a:off x="749808" y="5047488"/>
            <a:ext cx="320040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The student picks a target role and difficulty, then starts. Two fields and one button, which is what keeps NFR-1 under three minutes.</a:t>
            </a:r>
            <a:endParaRPr b="0" i="0" sz="1050" u="none" cap="none" strike="noStrike">
              <a:solidFill>
                <a:schemeClr val="dk1"/>
              </a:solidFill>
              <a:latin typeface="Calibri"/>
              <a:ea typeface="Calibri"/>
              <a:cs typeface="Calibri"/>
              <a:sym typeface="Calibri"/>
            </a:endParaRPr>
          </a:p>
        </p:txBody>
      </p:sp>
      <p:sp>
        <p:nvSpPr>
          <p:cNvPr id="689" name="Google Shape;689;p20"/>
          <p:cNvSpPr/>
          <p:nvPr/>
        </p:nvSpPr>
        <p:spPr>
          <a:xfrm>
            <a:off x="4306824" y="1426464"/>
            <a:ext cx="3566160" cy="4553712"/>
          </a:xfrm>
          <a:prstGeom prst="roundRect">
            <a:avLst>
              <a:gd fmla="val 1538"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4617720" y="1627632"/>
            <a:ext cx="2944368" cy="3017520"/>
          </a:xfrm>
          <a:prstGeom prst="roundRect">
            <a:avLst>
              <a:gd fmla="val 1242" name="adj"/>
            </a:avLst>
          </a:prstGeom>
          <a:solidFill>
            <a:srgbClr val="FFFFFF"/>
          </a:solidFill>
          <a:ln cap="flat" cmpd="sng" w="12700">
            <a:solidFill>
              <a:srgbClr val="C3CA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4617720" y="1627632"/>
            <a:ext cx="2944368" cy="219456"/>
          </a:xfrm>
          <a:prstGeom prst="rect">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4709160" y="1627632"/>
            <a:ext cx="27614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Interview Lens</a:t>
            </a:r>
            <a:endParaRPr b="0" i="0" sz="750" u="none" cap="none" strike="noStrike">
              <a:solidFill>
                <a:schemeClr val="dk1"/>
              </a:solidFill>
              <a:latin typeface="Calibri"/>
              <a:ea typeface="Calibri"/>
              <a:cs typeface="Calibri"/>
              <a:sym typeface="Calibri"/>
            </a:endParaRPr>
          </a:p>
        </p:txBody>
      </p:sp>
      <p:sp>
        <p:nvSpPr>
          <p:cNvPr id="693" name="Google Shape;693;p20"/>
          <p:cNvSpPr/>
          <p:nvPr/>
        </p:nvSpPr>
        <p:spPr>
          <a:xfrm>
            <a:off x="4764024" y="1956816"/>
            <a:ext cx="868680" cy="237744"/>
          </a:xfrm>
          <a:prstGeom prst="roundRect">
            <a:avLst>
              <a:gd fmla="val 15385" name="adj"/>
            </a:avLst>
          </a:prstGeom>
          <a:solidFill>
            <a:srgbClr val="E7EBF7"/>
          </a:solidFill>
          <a:ln cap="flat" cmpd="sng" w="12700">
            <a:solidFill>
              <a:srgbClr val="E7EB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4764024" y="1956816"/>
            <a:ext cx="86868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3A78"/>
              </a:buClr>
              <a:buSzPts val="750"/>
              <a:buFont typeface="Calibri"/>
              <a:buNone/>
            </a:pPr>
            <a:r>
              <a:rPr b="1" i="0" lang="en-US" sz="750" u="none" cap="none" strike="noStrike">
                <a:solidFill>
                  <a:srgbClr val="2A3A78"/>
                </a:solidFill>
                <a:latin typeface="Calibri"/>
                <a:ea typeface="Calibri"/>
                <a:cs typeface="Calibri"/>
                <a:sym typeface="Calibri"/>
              </a:rPr>
              <a:t>Q 3 of 5</a:t>
            </a:r>
            <a:endParaRPr b="0" i="0" sz="750" u="none" cap="none" strike="noStrike">
              <a:solidFill>
                <a:schemeClr val="dk1"/>
              </a:solidFill>
              <a:latin typeface="Calibri"/>
              <a:ea typeface="Calibri"/>
              <a:cs typeface="Calibri"/>
              <a:sym typeface="Calibri"/>
            </a:endParaRPr>
          </a:p>
        </p:txBody>
      </p:sp>
      <p:sp>
        <p:nvSpPr>
          <p:cNvPr id="695" name="Google Shape;695;p20"/>
          <p:cNvSpPr/>
          <p:nvPr/>
        </p:nvSpPr>
        <p:spPr>
          <a:xfrm>
            <a:off x="4764024" y="2267712"/>
            <a:ext cx="2651760" cy="512064"/>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141B34"/>
              </a:buClr>
              <a:buSzPts val="950"/>
              <a:buFont typeface="Calibri"/>
              <a:buNone/>
            </a:pPr>
            <a:r>
              <a:rPr b="1" i="0" lang="en-US" sz="950" u="none" cap="none" strike="noStrike">
                <a:solidFill>
                  <a:srgbClr val="141B34"/>
                </a:solidFill>
                <a:latin typeface="Calibri"/>
                <a:ea typeface="Calibri"/>
                <a:cs typeface="Calibri"/>
                <a:sym typeface="Calibri"/>
              </a:rPr>
              <a:t>Tell me about a time you disagreed with a teammate. What did you do?</a:t>
            </a:r>
            <a:endParaRPr b="0" i="0" sz="950" u="none" cap="none" strike="noStrike">
              <a:solidFill>
                <a:schemeClr val="dk1"/>
              </a:solidFill>
              <a:latin typeface="Calibri"/>
              <a:ea typeface="Calibri"/>
              <a:cs typeface="Calibri"/>
              <a:sym typeface="Calibri"/>
            </a:endParaRPr>
          </a:p>
        </p:txBody>
      </p:sp>
      <p:sp>
        <p:nvSpPr>
          <p:cNvPr id="696" name="Google Shape;696;p20"/>
          <p:cNvSpPr/>
          <p:nvPr/>
        </p:nvSpPr>
        <p:spPr>
          <a:xfrm>
            <a:off x="4764024" y="2834640"/>
            <a:ext cx="2651760" cy="969264"/>
          </a:xfrm>
          <a:prstGeom prst="roundRect">
            <a:avLst>
              <a:gd fmla="val 3774" name="adj"/>
            </a:avLst>
          </a:prstGeom>
          <a:solidFill>
            <a:srgbClr val="F4F6FB"/>
          </a:solidFill>
          <a:ln cap="flat" cmpd="sng" w="12700">
            <a:solidFill>
              <a:srgbClr val="C3CA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4855464" y="2907792"/>
            <a:ext cx="2468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800"/>
              <a:buFont typeface="Calibri"/>
              <a:buNone/>
            </a:pPr>
            <a:r>
              <a:rPr b="0" i="0" lang="en-US" sz="800" u="none" cap="none" strike="noStrike">
                <a:solidFill>
                  <a:srgbClr val="6B7185"/>
                </a:solidFill>
                <a:latin typeface="Calibri"/>
                <a:ea typeface="Calibri"/>
                <a:cs typeface="Calibri"/>
                <a:sym typeface="Calibri"/>
              </a:rPr>
              <a:t>Type your answer, or record it</a:t>
            </a:r>
            <a:endParaRPr b="0" i="0" sz="800" u="none" cap="none" strike="noStrike">
              <a:solidFill>
                <a:schemeClr val="dk1"/>
              </a:solidFill>
              <a:latin typeface="Calibri"/>
              <a:ea typeface="Calibri"/>
              <a:cs typeface="Calibri"/>
              <a:sym typeface="Calibri"/>
            </a:endParaRPr>
          </a:p>
        </p:txBody>
      </p:sp>
      <p:sp>
        <p:nvSpPr>
          <p:cNvPr id="698" name="Google Shape;698;p20"/>
          <p:cNvSpPr/>
          <p:nvPr/>
        </p:nvSpPr>
        <p:spPr>
          <a:xfrm>
            <a:off x="4764024" y="3895344"/>
            <a:ext cx="329184" cy="329184"/>
          </a:xfrm>
          <a:prstGeom prst="ellipse">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5184648" y="3895344"/>
            <a:ext cx="2231136" cy="329184"/>
          </a:xfrm>
          <a:prstGeom prst="roundRect">
            <a:avLst>
              <a:gd fmla="val 13889"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5184648" y="3895344"/>
            <a:ext cx="2231136"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Submit answer</a:t>
            </a:r>
            <a:endParaRPr b="0" i="0" sz="900" u="none" cap="none" strike="noStrike">
              <a:solidFill>
                <a:schemeClr val="dk1"/>
              </a:solidFill>
              <a:latin typeface="Calibri"/>
              <a:ea typeface="Calibri"/>
              <a:cs typeface="Calibri"/>
              <a:sym typeface="Calibri"/>
            </a:endParaRPr>
          </a:p>
        </p:txBody>
      </p:sp>
      <p:sp>
        <p:nvSpPr>
          <p:cNvPr id="701" name="Google Shape;701;p20"/>
          <p:cNvSpPr/>
          <p:nvPr/>
        </p:nvSpPr>
        <p:spPr>
          <a:xfrm>
            <a:off x="4764024" y="4279392"/>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750"/>
              <a:buFont typeface="Calibri"/>
              <a:buNone/>
            </a:pPr>
            <a:r>
              <a:rPr b="0" i="0" lang="en-US" sz="750" u="none" cap="none" strike="noStrike">
                <a:solidFill>
                  <a:srgbClr val="2E7D5B"/>
                </a:solidFill>
                <a:latin typeface="Calibri"/>
                <a:ea typeface="Calibri"/>
                <a:cs typeface="Calibri"/>
                <a:sym typeface="Calibri"/>
              </a:rPr>
              <a:t>Autosaved</a:t>
            </a:r>
            <a:endParaRPr b="0" i="0" sz="750" u="none" cap="none" strike="noStrike">
              <a:solidFill>
                <a:schemeClr val="dk1"/>
              </a:solidFill>
              <a:latin typeface="Calibri"/>
              <a:ea typeface="Calibri"/>
              <a:cs typeface="Calibri"/>
              <a:sym typeface="Calibri"/>
            </a:endParaRPr>
          </a:p>
        </p:txBody>
      </p:sp>
      <p:sp>
        <p:nvSpPr>
          <p:cNvPr id="702" name="Google Shape;702;p20"/>
          <p:cNvSpPr/>
          <p:nvPr/>
        </p:nvSpPr>
        <p:spPr>
          <a:xfrm>
            <a:off x="4306824" y="4754880"/>
            <a:ext cx="3566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600"/>
              <a:buFont typeface="Cambria"/>
              <a:buNone/>
            </a:pPr>
            <a:r>
              <a:rPr b="1" i="0" lang="en-US" sz="1600" u="none" cap="none" strike="noStrike">
                <a:solidFill>
                  <a:srgbClr val="141B34"/>
                </a:solidFill>
                <a:latin typeface="Cambria"/>
                <a:ea typeface="Cambria"/>
                <a:cs typeface="Cambria"/>
                <a:sym typeface="Cambria"/>
              </a:rPr>
              <a:t>2.  Live Interview</a:t>
            </a:r>
            <a:endParaRPr b="0" i="0" sz="1600" u="none" cap="none" strike="noStrike">
              <a:solidFill>
                <a:schemeClr val="dk1"/>
              </a:solidFill>
              <a:latin typeface="Calibri"/>
              <a:ea typeface="Calibri"/>
              <a:cs typeface="Calibri"/>
              <a:sym typeface="Calibri"/>
            </a:endParaRPr>
          </a:p>
        </p:txBody>
      </p:sp>
      <p:sp>
        <p:nvSpPr>
          <p:cNvPr id="703" name="Google Shape;703;p20"/>
          <p:cNvSpPr/>
          <p:nvPr/>
        </p:nvSpPr>
        <p:spPr>
          <a:xfrm>
            <a:off x="4489704" y="5047488"/>
            <a:ext cx="320040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One question at a time with a text box and a record button. A progress pill shows position in the session and answers autosave on submit per NFR-4.</a:t>
            </a:r>
            <a:endParaRPr b="0" i="0" sz="1050" u="none" cap="none" strike="noStrike">
              <a:solidFill>
                <a:schemeClr val="dk1"/>
              </a:solidFill>
              <a:latin typeface="Calibri"/>
              <a:ea typeface="Calibri"/>
              <a:cs typeface="Calibri"/>
              <a:sym typeface="Calibri"/>
            </a:endParaRPr>
          </a:p>
        </p:txBody>
      </p:sp>
      <p:sp>
        <p:nvSpPr>
          <p:cNvPr id="704" name="Google Shape;704;p20"/>
          <p:cNvSpPr/>
          <p:nvPr/>
        </p:nvSpPr>
        <p:spPr>
          <a:xfrm>
            <a:off x="8046720" y="1426464"/>
            <a:ext cx="3566160" cy="4553712"/>
          </a:xfrm>
          <a:prstGeom prst="roundRect">
            <a:avLst>
              <a:gd fmla="val 1538"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0"/>
          <p:cNvSpPr/>
          <p:nvPr/>
        </p:nvSpPr>
        <p:spPr>
          <a:xfrm>
            <a:off x="8357616" y="1627632"/>
            <a:ext cx="2944368" cy="3017520"/>
          </a:xfrm>
          <a:prstGeom prst="roundRect">
            <a:avLst>
              <a:gd fmla="val 1242" name="adj"/>
            </a:avLst>
          </a:prstGeom>
          <a:solidFill>
            <a:srgbClr val="FFFFFF"/>
          </a:solidFill>
          <a:ln cap="flat" cmpd="sng" w="12700">
            <a:solidFill>
              <a:srgbClr val="C3CA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8357616" y="1627632"/>
            <a:ext cx="2944368" cy="219456"/>
          </a:xfrm>
          <a:prstGeom prst="rect">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8449056" y="1627632"/>
            <a:ext cx="27614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Interview Lens</a:t>
            </a:r>
            <a:endParaRPr b="0" i="0" sz="750" u="none" cap="none" strike="noStrike">
              <a:solidFill>
                <a:schemeClr val="dk1"/>
              </a:solidFill>
              <a:latin typeface="Calibri"/>
              <a:ea typeface="Calibri"/>
              <a:cs typeface="Calibri"/>
              <a:sym typeface="Calibri"/>
            </a:endParaRPr>
          </a:p>
        </p:txBody>
      </p:sp>
      <p:sp>
        <p:nvSpPr>
          <p:cNvPr id="708" name="Google Shape;708;p20"/>
          <p:cNvSpPr/>
          <p:nvPr/>
        </p:nvSpPr>
        <p:spPr>
          <a:xfrm>
            <a:off x="8503920" y="1956816"/>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800"/>
              <a:buFont typeface="Calibri"/>
              <a:buNone/>
            </a:pPr>
            <a:r>
              <a:rPr b="0" i="0" lang="en-US" sz="800" u="none" cap="none" strike="noStrike">
                <a:solidFill>
                  <a:srgbClr val="6B7185"/>
                </a:solidFill>
                <a:latin typeface="Calibri"/>
                <a:ea typeface="Calibri"/>
                <a:cs typeface="Calibri"/>
                <a:sym typeface="Calibri"/>
              </a:rPr>
              <a:t>Session score</a:t>
            </a:r>
            <a:endParaRPr b="0" i="0" sz="800" u="none" cap="none" strike="noStrike">
              <a:solidFill>
                <a:schemeClr val="dk1"/>
              </a:solidFill>
              <a:latin typeface="Calibri"/>
              <a:ea typeface="Calibri"/>
              <a:cs typeface="Calibri"/>
              <a:sym typeface="Calibri"/>
            </a:endParaRPr>
          </a:p>
        </p:txBody>
      </p:sp>
      <p:sp>
        <p:nvSpPr>
          <p:cNvPr id="709" name="Google Shape;709;p20"/>
          <p:cNvSpPr/>
          <p:nvPr/>
        </p:nvSpPr>
        <p:spPr>
          <a:xfrm>
            <a:off x="8503920" y="2103120"/>
            <a:ext cx="1097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3A78"/>
              </a:buClr>
              <a:buSzPts val="3400"/>
              <a:buFont typeface="Cambria"/>
              <a:buNone/>
            </a:pPr>
            <a:r>
              <a:rPr b="1" i="0" lang="en-US" sz="3400" u="none" cap="none" strike="noStrike">
                <a:solidFill>
                  <a:srgbClr val="2A3A78"/>
                </a:solidFill>
                <a:latin typeface="Cambria"/>
                <a:ea typeface="Cambria"/>
                <a:cs typeface="Cambria"/>
                <a:sym typeface="Cambria"/>
              </a:rPr>
              <a:t>78</a:t>
            </a:r>
            <a:endParaRPr b="0" i="0" sz="3400" u="none" cap="none" strike="noStrike">
              <a:solidFill>
                <a:schemeClr val="dk1"/>
              </a:solidFill>
              <a:latin typeface="Calibri"/>
              <a:ea typeface="Calibri"/>
              <a:cs typeface="Calibri"/>
              <a:sym typeface="Calibri"/>
            </a:endParaRPr>
          </a:p>
        </p:txBody>
      </p:sp>
      <p:sp>
        <p:nvSpPr>
          <p:cNvPr id="710" name="Google Shape;710;p20"/>
          <p:cNvSpPr/>
          <p:nvPr/>
        </p:nvSpPr>
        <p:spPr>
          <a:xfrm>
            <a:off x="9180576" y="2304288"/>
            <a:ext cx="914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 100</a:t>
            </a:r>
            <a:endParaRPr b="0" i="0" sz="1000" u="none" cap="none" strike="noStrike">
              <a:solidFill>
                <a:schemeClr val="dk1"/>
              </a:solidFill>
              <a:latin typeface="Calibri"/>
              <a:ea typeface="Calibri"/>
              <a:cs typeface="Calibri"/>
              <a:sym typeface="Calibri"/>
            </a:endParaRPr>
          </a:p>
        </p:txBody>
      </p:sp>
      <p:sp>
        <p:nvSpPr>
          <p:cNvPr id="711" name="Google Shape;711;p20"/>
          <p:cNvSpPr/>
          <p:nvPr/>
        </p:nvSpPr>
        <p:spPr>
          <a:xfrm>
            <a:off x="8503920" y="2761488"/>
            <a:ext cx="1371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750"/>
              <a:buFont typeface="Calibri"/>
              <a:buNone/>
            </a:pPr>
            <a:r>
              <a:rPr b="0" i="0" lang="en-US" sz="750" u="none" cap="none" strike="noStrike">
                <a:solidFill>
                  <a:srgbClr val="2B2F42"/>
                </a:solidFill>
                <a:latin typeface="Calibri"/>
                <a:ea typeface="Calibri"/>
                <a:cs typeface="Calibri"/>
                <a:sym typeface="Calibri"/>
              </a:rPr>
              <a:t>STAR structure</a:t>
            </a:r>
            <a:endParaRPr b="0" i="0" sz="750" u="none" cap="none" strike="noStrike">
              <a:solidFill>
                <a:schemeClr val="dk1"/>
              </a:solidFill>
              <a:latin typeface="Calibri"/>
              <a:ea typeface="Calibri"/>
              <a:cs typeface="Calibri"/>
              <a:sym typeface="Calibri"/>
            </a:endParaRPr>
          </a:p>
        </p:txBody>
      </p:sp>
      <p:sp>
        <p:nvSpPr>
          <p:cNvPr id="712" name="Google Shape;712;p20"/>
          <p:cNvSpPr/>
          <p:nvPr/>
        </p:nvSpPr>
        <p:spPr>
          <a:xfrm>
            <a:off x="8503920" y="2944368"/>
            <a:ext cx="2651760" cy="128016"/>
          </a:xfrm>
          <a:prstGeom prst="roundRect">
            <a:avLst>
              <a:gd fmla="val 42857" name="adj"/>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8503920" y="2944368"/>
            <a:ext cx="2174443" cy="128016"/>
          </a:xfrm>
          <a:prstGeom prst="roundRect">
            <a:avLst>
              <a:gd fmla="val 42857"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8503920" y="3145536"/>
            <a:ext cx="1371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750"/>
              <a:buFont typeface="Calibri"/>
              <a:buNone/>
            </a:pPr>
            <a:r>
              <a:rPr b="0" i="0" lang="en-US" sz="750" u="none" cap="none" strike="noStrike">
                <a:solidFill>
                  <a:srgbClr val="2B2F42"/>
                </a:solidFill>
                <a:latin typeface="Calibri"/>
                <a:ea typeface="Calibri"/>
                <a:cs typeface="Calibri"/>
                <a:sym typeface="Calibri"/>
              </a:rPr>
              <a:t>Clarity</a:t>
            </a:r>
            <a:endParaRPr b="0" i="0" sz="750" u="none" cap="none" strike="noStrike">
              <a:solidFill>
                <a:schemeClr val="dk1"/>
              </a:solidFill>
              <a:latin typeface="Calibri"/>
              <a:ea typeface="Calibri"/>
              <a:cs typeface="Calibri"/>
              <a:sym typeface="Calibri"/>
            </a:endParaRPr>
          </a:p>
        </p:txBody>
      </p:sp>
      <p:sp>
        <p:nvSpPr>
          <p:cNvPr id="715" name="Google Shape;715;p20"/>
          <p:cNvSpPr/>
          <p:nvPr/>
        </p:nvSpPr>
        <p:spPr>
          <a:xfrm>
            <a:off x="8503920" y="3328416"/>
            <a:ext cx="2651760" cy="128016"/>
          </a:xfrm>
          <a:prstGeom prst="roundRect">
            <a:avLst>
              <a:gd fmla="val 42857" name="adj"/>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8503920" y="3328416"/>
            <a:ext cx="1962302" cy="128016"/>
          </a:xfrm>
          <a:prstGeom prst="roundRect">
            <a:avLst>
              <a:gd fmla="val 42857" name="adj"/>
            </a:avLst>
          </a:prstGeom>
          <a:solidFill>
            <a:srgbClr val="5C6BA8"/>
          </a:solidFill>
          <a:ln cap="flat" cmpd="sng" w="12700">
            <a:solidFill>
              <a:srgbClr val="5C6B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8503920" y="3529584"/>
            <a:ext cx="1371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F42"/>
              </a:buClr>
              <a:buSzPts val="750"/>
              <a:buFont typeface="Calibri"/>
              <a:buNone/>
            </a:pPr>
            <a:r>
              <a:rPr b="0" i="0" lang="en-US" sz="750" u="none" cap="none" strike="noStrike">
                <a:solidFill>
                  <a:srgbClr val="2B2F42"/>
                </a:solidFill>
                <a:latin typeface="Calibri"/>
                <a:ea typeface="Calibri"/>
                <a:cs typeface="Calibri"/>
                <a:sym typeface="Calibri"/>
              </a:rPr>
              <a:t>Confidence</a:t>
            </a:r>
            <a:endParaRPr b="0" i="0" sz="750" u="none" cap="none" strike="noStrike">
              <a:solidFill>
                <a:schemeClr val="dk1"/>
              </a:solidFill>
              <a:latin typeface="Calibri"/>
              <a:ea typeface="Calibri"/>
              <a:cs typeface="Calibri"/>
              <a:sym typeface="Calibri"/>
            </a:endParaRPr>
          </a:p>
        </p:txBody>
      </p:sp>
      <p:sp>
        <p:nvSpPr>
          <p:cNvPr id="718" name="Google Shape;718;p20"/>
          <p:cNvSpPr/>
          <p:nvPr/>
        </p:nvSpPr>
        <p:spPr>
          <a:xfrm>
            <a:off x="8503920" y="3712464"/>
            <a:ext cx="2651760" cy="128016"/>
          </a:xfrm>
          <a:prstGeom prst="roundRect">
            <a:avLst>
              <a:gd fmla="val 42857" name="adj"/>
            </a:avLst>
          </a:prstGeom>
          <a:solidFill>
            <a:srgbClr val="E4E8F3"/>
          </a:solidFill>
          <a:ln cap="flat" cmpd="sng" w="12700">
            <a:solidFill>
              <a:srgbClr val="E4E8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8503920" y="3712464"/>
            <a:ext cx="1750162" cy="128016"/>
          </a:xfrm>
          <a:prstGeom prst="roundRect">
            <a:avLst>
              <a:gd fmla="val 42857"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8503920" y="3931920"/>
            <a:ext cx="2651760" cy="310896"/>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2B2F42"/>
              </a:buClr>
              <a:buSzPts val="750"/>
              <a:buFont typeface="Calibri"/>
              <a:buNone/>
            </a:pPr>
            <a:r>
              <a:rPr b="0" i="0" lang="en-US" sz="750" u="none" cap="none" strike="noStrike">
                <a:solidFill>
                  <a:srgbClr val="2B2F42"/>
                </a:solidFill>
                <a:latin typeface="Calibri"/>
                <a:ea typeface="Calibri"/>
                <a:cs typeface="Calibri"/>
                <a:sym typeface="Calibri"/>
              </a:rPr>
              <a:t>Strong situation and task. Quantify the result next time.</a:t>
            </a:r>
            <a:endParaRPr b="0" i="0" sz="750" u="none" cap="none" strike="noStrike">
              <a:solidFill>
                <a:schemeClr val="dk1"/>
              </a:solidFill>
              <a:latin typeface="Calibri"/>
              <a:ea typeface="Calibri"/>
              <a:cs typeface="Calibri"/>
              <a:sym typeface="Calibri"/>
            </a:endParaRPr>
          </a:p>
        </p:txBody>
      </p:sp>
      <p:sp>
        <p:nvSpPr>
          <p:cNvPr id="721" name="Google Shape;721;p20"/>
          <p:cNvSpPr/>
          <p:nvPr/>
        </p:nvSpPr>
        <p:spPr>
          <a:xfrm>
            <a:off x="8503920" y="4297680"/>
            <a:ext cx="2651760" cy="256032"/>
          </a:xfrm>
          <a:prstGeom prst="roundRect">
            <a:avLst>
              <a:gd fmla="val 14286" name="adj"/>
            </a:avLst>
          </a:prstGeom>
          <a:solidFill>
            <a:srgbClr val="FDF1E3"/>
          </a:solidFill>
          <a:ln cap="flat" cmpd="sng" w="12700">
            <a:solidFill>
              <a:srgbClr val="F5D9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8503920" y="4297680"/>
            <a:ext cx="2651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5F1E"/>
              </a:buClr>
              <a:buSzPts val="700"/>
              <a:buFont typeface="Calibri"/>
              <a:buNone/>
            </a:pPr>
            <a:r>
              <a:rPr b="0" i="0" lang="en-US" sz="700" u="none" cap="none" strike="noStrike">
                <a:solidFill>
                  <a:srgbClr val="9A5F1E"/>
                </a:solidFill>
                <a:latin typeface="Calibri"/>
                <a:ea typeface="Calibri"/>
                <a:cs typeface="Calibri"/>
                <a:sym typeface="Calibri"/>
              </a:rPr>
              <a:t>AI generated  .  flag for human review</a:t>
            </a:r>
            <a:endParaRPr b="0" i="0" sz="700" u="none" cap="none" strike="noStrike">
              <a:solidFill>
                <a:schemeClr val="dk1"/>
              </a:solidFill>
              <a:latin typeface="Calibri"/>
              <a:ea typeface="Calibri"/>
              <a:cs typeface="Calibri"/>
              <a:sym typeface="Calibri"/>
            </a:endParaRPr>
          </a:p>
        </p:txBody>
      </p:sp>
      <p:sp>
        <p:nvSpPr>
          <p:cNvPr id="723" name="Google Shape;723;p20"/>
          <p:cNvSpPr/>
          <p:nvPr/>
        </p:nvSpPr>
        <p:spPr>
          <a:xfrm>
            <a:off x="8046720" y="4754880"/>
            <a:ext cx="3566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B34"/>
              </a:buClr>
              <a:buSzPts val="1600"/>
              <a:buFont typeface="Cambria"/>
              <a:buNone/>
            </a:pPr>
            <a:r>
              <a:rPr b="1" i="0" lang="en-US" sz="1600" u="none" cap="none" strike="noStrike">
                <a:solidFill>
                  <a:srgbClr val="141B34"/>
                </a:solidFill>
                <a:latin typeface="Cambria"/>
                <a:ea typeface="Cambria"/>
                <a:cs typeface="Cambria"/>
                <a:sym typeface="Cambria"/>
              </a:rPr>
              <a:t>3.  Feedback Report</a:t>
            </a:r>
            <a:endParaRPr b="0" i="0" sz="1600" u="none" cap="none" strike="noStrike">
              <a:solidFill>
                <a:schemeClr val="dk1"/>
              </a:solidFill>
              <a:latin typeface="Calibri"/>
              <a:ea typeface="Calibri"/>
              <a:cs typeface="Calibri"/>
              <a:sym typeface="Calibri"/>
            </a:endParaRPr>
          </a:p>
        </p:txBody>
      </p:sp>
      <p:sp>
        <p:nvSpPr>
          <p:cNvPr id="724" name="Google Shape;724;p20"/>
          <p:cNvSpPr/>
          <p:nvPr/>
        </p:nvSpPr>
        <p:spPr>
          <a:xfrm>
            <a:off x="8229600" y="5047488"/>
            <a:ext cx="3200400" cy="82296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6B7185"/>
              </a:buClr>
              <a:buSzPts val="1050"/>
              <a:buFont typeface="Calibri"/>
              <a:buNone/>
            </a:pPr>
            <a:r>
              <a:rPr b="0" i="0" lang="en-US" sz="1050" u="none" cap="none" strike="noStrike">
                <a:solidFill>
                  <a:srgbClr val="6B7185"/>
                </a:solidFill>
                <a:latin typeface="Calibri"/>
                <a:ea typeface="Calibri"/>
                <a:cs typeface="Calibri"/>
                <a:sym typeface="Calibri"/>
              </a:rPr>
              <a:t>The 0 to 100 session score, the three rubric bars, written suggestions, and the AI generated disclosure label required by NFR-10.</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sp>
        <p:nvSpPr>
          <p:cNvPr id="730" name="Google Shape;730;p21"/>
          <p:cNvSpPr/>
          <p:nvPr/>
        </p:nvSpPr>
        <p:spPr>
          <a:xfrm>
            <a:off x="566928" y="47548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1"/>
          <p:cNvSpPr/>
          <p:nvPr/>
        </p:nvSpPr>
        <p:spPr>
          <a:xfrm>
            <a:off x="841248" y="38404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B34"/>
              </a:buClr>
              <a:buSzPts val="3000"/>
              <a:buFont typeface="Cambria"/>
              <a:buNone/>
            </a:pPr>
            <a:r>
              <a:rPr b="1" i="0" lang="en-US" sz="3000" u="none" cap="none" strike="noStrike">
                <a:solidFill>
                  <a:srgbClr val="141B34"/>
                </a:solidFill>
                <a:latin typeface="Cambria"/>
                <a:ea typeface="Cambria"/>
                <a:cs typeface="Cambria"/>
                <a:sym typeface="Cambria"/>
              </a:rPr>
              <a:t>Challenges and Lessons Learned</a:t>
            </a:r>
            <a:endParaRPr b="0" i="0" sz="3000" u="none" cap="none" strike="noStrike">
              <a:solidFill>
                <a:schemeClr val="dk1"/>
              </a:solidFill>
              <a:latin typeface="Calibri"/>
              <a:ea typeface="Calibri"/>
              <a:cs typeface="Calibri"/>
              <a:sym typeface="Calibri"/>
            </a:endParaRPr>
          </a:p>
        </p:txBody>
      </p:sp>
      <p:sp>
        <p:nvSpPr>
          <p:cNvPr id="732" name="Google Shape;732;p21"/>
          <p:cNvSpPr/>
          <p:nvPr/>
        </p:nvSpPr>
        <p:spPr>
          <a:xfrm>
            <a:off x="859536" y="932688"/>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300"/>
              <a:buFont typeface="Calibri"/>
              <a:buNone/>
            </a:pPr>
            <a:r>
              <a:rPr b="0" i="1" lang="en-US" sz="1300" u="none" cap="none" strike="noStrike">
                <a:solidFill>
                  <a:srgbClr val="6B7185"/>
                </a:solidFill>
                <a:latin typeface="Calibri"/>
                <a:ea typeface="Calibri"/>
                <a:cs typeface="Calibri"/>
                <a:sym typeface="Calibri"/>
              </a:rPr>
              <a:t>What actually got in the way, and what we would do differently</a:t>
            </a:r>
            <a:endParaRPr b="0" i="0" sz="1300" u="none" cap="none" strike="noStrike">
              <a:solidFill>
                <a:schemeClr val="dk1"/>
              </a:solidFill>
              <a:latin typeface="Calibri"/>
              <a:ea typeface="Calibri"/>
              <a:cs typeface="Calibri"/>
              <a:sym typeface="Calibri"/>
            </a:endParaRPr>
          </a:p>
        </p:txBody>
      </p:sp>
      <p:sp>
        <p:nvSpPr>
          <p:cNvPr id="733" name="Google Shape;733;p21"/>
          <p:cNvSpPr/>
          <p:nvPr/>
        </p:nvSpPr>
        <p:spPr>
          <a:xfrm>
            <a:off x="11247120" y="632764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19</a:t>
            </a:r>
            <a:endParaRPr b="0" i="0" sz="1000" u="none" cap="none" strike="noStrike">
              <a:solidFill>
                <a:schemeClr val="dk1"/>
              </a:solidFill>
              <a:latin typeface="Calibri"/>
              <a:ea typeface="Calibri"/>
              <a:cs typeface="Calibri"/>
              <a:sym typeface="Calibri"/>
            </a:endParaRPr>
          </a:p>
        </p:txBody>
      </p:sp>
      <p:sp>
        <p:nvSpPr>
          <p:cNvPr id="734" name="Google Shape;734;p21"/>
          <p:cNvSpPr/>
          <p:nvPr/>
        </p:nvSpPr>
        <p:spPr>
          <a:xfrm>
            <a:off x="566928" y="6327648"/>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85"/>
              </a:buClr>
              <a:buSzPts val="1000"/>
              <a:buFont typeface="Calibri"/>
              <a:buNone/>
            </a:pPr>
            <a:r>
              <a:rPr b="0" i="0" lang="en-US" sz="1000" u="none" cap="none" strike="noStrike">
                <a:solidFill>
                  <a:srgbClr val="6B7185"/>
                </a:solidFill>
                <a:latin typeface="Calibri"/>
                <a:ea typeface="Calibri"/>
                <a:cs typeface="Calibri"/>
                <a:sym typeface="Calibri"/>
              </a:rPr>
              <a:t>Interview Lens  |  Team 1  |  SE 3354 Deliverable 2</a:t>
            </a:r>
            <a:endParaRPr b="0" i="0" sz="1000" u="none" cap="none" strike="noStrike">
              <a:solidFill>
                <a:schemeClr val="dk1"/>
              </a:solidFill>
              <a:latin typeface="Calibri"/>
              <a:ea typeface="Calibri"/>
              <a:cs typeface="Calibri"/>
              <a:sym typeface="Calibri"/>
            </a:endParaRPr>
          </a:p>
        </p:txBody>
      </p:sp>
      <p:sp>
        <p:nvSpPr>
          <p:cNvPr id="735" name="Google Shape;735;p21"/>
          <p:cNvSpPr/>
          <p:nvPr/>
        </p:nvSpPr>
        <p:spPr>
          <a:xfrm>
            <a:off x="566928" y="1444752"/>
            <a:ext cx="5358384" cy="1975104"/>
          </a:xfrm>
          <a:prstGeom prst="roundRect">
            <a:avLst>
              <a:gd fmla="val 2778" name="adj"/>
            </a:avLst>
          </a:prstGeom>
          <a:solidFill>
            <a:srgbClr val="E7EBF7"/>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1"/>
          <p:cNvSpPr/>
          <p:nvPr/>
        </p:nvSpPr>
        <p:spPr>
          <a:xfrm>
            <a:off x="804672" y="1682496"/>
            <a:ext cx="402336" cy="402336"/>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1"/>
          <p:cNvSpPr/>
          <p:nvPr/>
        </p:nvSpPr>
        <p:spPr>
          <a:xfrm>
            <a:off x="804672" y="168249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738" name="Google Shape;738;p21"/>
          <p:cNvSpPr/>
          <p:nvPr/>
        </p:nvSpPr>
        <p:spPr>
          <a:xfrm>
            <a:off x="1335024" y="1645920"/>
            <a:ext cx="4389120" cy="475488"/>
          </a:xfrm>
          <a:prstGeom prst="rect">
            <a:avLst/>
          </a:prstGeom>
          <a:noFill/>
          <a:ln>
            <a:noFill/>
          </a:ln>
        </p:spPr>
        <p:txBody>
          <a:bodyPr anchorCtr="0" anchor="ctr" bIns="0" lIns="0" spcFirstLastPara="1" rIns="0" wrap="square" tIns="0">
            <a:noAutofit/>
          </a:bodyPr>
          <a:lstStyle/>
          <a:p>
            <a:pPr indent="0" lvl="0" marL="0" marR="0" rtl="0" algn="l">
              <a:lnSpc>
                <a:spcPct val="118750"/>
              </a:lnSpc>
              <a:spcBef>
                <a:spcPts val="0"/>
              </a:spcBef>
              <a:spcAft>
                <a:spcPts val="0"/>
              </a:spcAft>
              <a:buClr>
                <a:srgbClr val="141B34"/>
              </a:buClr>
              <a:buSzPts val="1600"/>
              <a:buFont typeface="Cambria"/>
              <a:buNone/>
            </a:pPr>
            <a:r>
              <a:rPr b="1" i="0" lang="en-US" sz="1600" u="none" cap="none" strike="noStrike">
                <a:solidFill>
                  <a:srgbClr val="141B34"/>
                </a:solidFill>
                <a:latin typeface="Cambria"/>
                <a:ea typeface="Cambria"/>
                <a:cs typeface="Cambria"/>
                <a:sym typeface="Cambria"/>
              </a:rPr>
              <a:t>Testing a non deterministic system</a:t>
            </a:r>
            <a:endParaRPr b="0" i="0" sz="1600" u="none" cap="none" strike="noStrike">
              <a:solidFill>
                <a:schemeClr val="dk1"/>
              </a:solidFill>
              <a:latin typeface="Calibri"/>
              <a:ea typeface="Calibri"/>
              <a:cs typeface="Calibri"/>
              <a:sym typeface="Calibri"/>
            </a:endParaRPr>
          </a:p>
        </p:txBody>
      </p:sp>
      <p:sp>
        <p:nvSpPr>
          <p:cNvPr id="739" name="Google Shape;739;p21"/>
          <p:cNvSpPr/>
          <p:nvPr/>
        </p:nvSpPr>
        <p:spPr>
          <a:xfrm>
            <a:off x="804672" y="2194560"/>
            <a:ext cx="4882896"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The AI engine returns different text for the same input, so conventional assertions do not work on it. We split the pipeline: the LLM call is stubbed in CI and only the deterministic scoring and aggregation layer is unit tested. That decision is what made TC-04 catchable at all.</a:t>
            </a:r>
            <a:endParaRPr b="0" i="0" sz="1150" u="none" cap="none" strike="noStrike">
              <a:solidFill>
                <a:schemeClr val="dk1"/>
              </a:solidFill>
              <a:latin typeface="Calibri"/>
              <a:ea typeface="Calibri"/>
              <a:cs typeface="Calibri"/>
              <a:sym typeface="Calibri"/>
            </a:endParaRPr>
          </a:p>
        </p:txBody>
      </p:sp>
      <p:sp>
        <p:nvSpPr>
          <p:cNvPr id="740" name="Google Shape;740;p21"/>
          <p:cNvSpPr/>
          <p:nvPr/>
        </p:nvSpPr>
        <p:spPr>
          <a:xfrm>
            <a:off x="6236208" y="1444752"/>
            <a:ext cx="5358300" cy="1975200"/>
          </a:xfrm>
          <a:prstGeom prst="roundRect">
            <a:avLst>
              <a:gd fmla="val 2778"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1"/>
          <p:cNvSpPr/>
          <p:nvPr/>
        </p:nvSpPr>
        <p:spPr>
          <a:xfrm>
            <a:off x="6473952" y="1682496"/>
            <a:ext cx="402336" cy="402336"/>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1"/>
          <p:cNvSpPr/>
          <p:nvPr/>
        </p:nvSpPr>
        <p:spPr>
          <a:xfrm>
            <a:off x="6473952" y="168249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743" name="Google Shape;743;p21"/>
          <p:cNvSpPr/>
          <p:nvPr/>
        </p:nvSpPr>
        <p:spPr>
          <a:xfrm>
            <a:off x="7004304" y="1645920"/>
            <a:ext cx="4389120" cy="475488"/>
          </a:xfrm>
          <a:prstGeom prst="rect">
            <a:avLst/>
          </a:prstGeom>
          <a:noFill/>
          <a:ln>
            <a:noFill/>
          </a:ln>
        </p:spPr>
        <p:txBody>
          <a:bodyPr anchorCtr="0" anchor="ctr" bIns="0" lIns="0" spcFirstLastPara="1" rIns="0" wrap="square" tIns="0">
            <a:noAutofit/>
          </a:bodyPr>
          <a:lstStyle/>
          <a:p>
            <a:pPr indent="0" lvl="0" marL="0" marR="0" rtl="0" algn="l">
              <a:lnSpc>
                <a:spcPct val="118750"/>
              </a:lnSpc>
              <a:spcBef>
                <a:spcPts val="0"/>
              </a:spcBef>
              <a:spcAft>
                <a:spcPts val="0"/>
              </a:spcAft>
              <a:buClr>
                <a:srgbClr val="141B34"/>
              </a:buClr>
              <a:buSzPts val="1600"/>
              <a:buFont typeface="Cambria"/>
              <a:buNone/>
            </a:pPr>
            <a:r>
              <a:rPr b="1" i="0" lang="en-US" sz="1600" u="none" cap="none" strike="noStrike">
                <a:solidFill>
                  <a:srgbClr val="141B34"/>
                </a:solidFill>
                <a:latin typeface="Cambria"/>
                <a:ea typeface="Cambria"/>
                <a:cs typeface="Cambria"/>
                <a:sym typeface="Cambria"/>
              </a:rPr>
              <a:t>Guaranteeing NFR-2 against LLM latency</a:t>
            </a:r>
            <a:endParaRPr b="0" i="0" sz="1600" u="none" cap="none" strike="noStrike">
              <a:solidFill>
                <a:schemeClr val="dk1"/>
              </a:solidFill>
              <a:latin typeface="Calibri"/>
              <a:ea typeface="Calibri"/>
              <a:cs typeface="Calibri"/>
              <a:sym typeface="Calibri"/>
            </a:endParaRPr>
          </a:p>
        </p:txBody>
      </p:sp>
      <p:sp>
        <p:nvSpPr>
          <p:cNvPr id="744" name="Google Shape;744;p21"/>
          <p:cNvSpPr/>
          <p:nvPr/>
        </p:nvSpPr>
        <p:spPr>
          <a:xfrm>
            <a:off x="6473952" y="2194560"/>
            <a:ext cx="4882896" cy="109728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A 2 second question turnaround is not something a model provider promises. We addressed it by pre generating a warm pool of opening questions per role and streaming follow ups, so the visible wait is decoupled from the model's response time.</a:t>
            </a:r>
            <a:endParaRPr b="0" i="0" sz="1150" u="none" cap="none" strike="noStrike">
              <a:solidFill>
                <a:schemeClr val="dk1"/>
              </a:solidFill>
              <a:latin typeface="Calibri"/>
              <a:ea typeface="Calibri"/>
              <a:cs typeface="Calibri"/>
              <a:sym typeface="Calibri"/>
            </a:endParaRPr>
          </a:p>
        </p:txBody>
      </p:sp>
      <p:sp>
        <p:nvSpPr>
          <p:cNvPr id="745" name="Google Shape;745;p21"/>
          <p:cNvSpPr/>
          <p:nvPr/>
        </p:nvSpPr>
        <p:spPr>
          <a:xfrm>
            <a:off x="3416853" y="3538735"/>
            <a:ext cx="5358300" cy="1975200"/>
          </a:xfrm>
          <a:prstGeom prst="roundRect">
            <a:avLst>
              <a:gd fmla="val 2778" name="adj"/>
            </a:avLst>
          </a:prstGeom>
          <a:solidFill>
            <a:srgbClr val="F0F2F8"/>
          </a:solidFill>
          <a:ln cap="flat" cmpd="sng" w="12700">
            <a:solidFill>
              <a:srgbClr val="D5DB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1"/>
          <p:cNvSpPr/>
          <p:nvPr/>
        </p:nvSpPr>
        <p:spPr>
          <a:xfrm>
            <a:off x="3654597" y="3776479"/>
            <a:ext cx="402300" cy="402300"/>
          </a:xfrm>
          <a:prstGeom prst="ellipse">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1"/>
          <p:cNvSpPr/>
          <p:nvPr/>
        </p:nvSpPr>
        <p:spPr>
          <a:xfrm>
            <a:off x="3654597" y="3776479"/>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748" name="Google Shape;748;p21"/>
          <p:cNvSpPr/>
          <p:nvPr/>
        </p:nvSpPr>
        <p:spPr>
          <a:xfrm>
            <a:off x="4184949" y="3739903"/>
            <a:ext cx="4389000" cy="475500"/>
          </a:xfrm>
          <a:prstGeom prst="rect">
            <a:avLst/>
          </a:prstGeom>
          <a:noFill/>
          <a:ln>
            <a:noFill/>
          </a:ln>
        </p:spPr>
        <p:txBody>
          <a:bodyPr anchorCtr="0" anchor="ctr" bIns="0" lIns="0" spcFirstLastPara="1" rIns="0" wrap="square" tIns="0">
            <a:noAutofit/>
          </a:bodyPr>
          <a:lstStyle/>
          <a:p>
            <a:pPr indent="0" lvl="0" marL="0" marR="0" rtl="0" algn="l">
              <a:lnSpc>
                <a:spcPct val="118750"/>
              </a:lnSpc>
              <a:spcBef>
                <a:spcPts val="0"/>
              </a:spcBef>
              <a:spcAft>
                <a:spcPts val="0"/>
              </a:spcAft>
              <a:buClr>
                <a:srgbClr val="141B34"/>
              </a:buClr>
              <a:buSzPts val="1600"/>
              <a:buFont typeface="Cambria"/>
              <a:buNone/>
            </a:pPr>
            <a:r>
              <a:rPr b="1" i="0" lang="en-US" sz="1600" u="none" cap="none" strike="noStrike">
                <a:solidFill>
                  <a:srgbClr val="141B34"/>
                </a:solidFill>
                <a:latin typeface="Cambria"/>
                <a:ea typeface="Cambria"/>
                <a:cs typeface="Cambria"/>
                <a:sym typeface="Cambria"/>
              </a:rPr>
              <a:t>Function Point estimation was new to all of us</a:t>
            </a:r>
            <a:endParaRPr b="0" i="0" sz="1600" u="none" cap="none" strike="noStrike">
              <a:solidFill>
                <a:schemeClr val="dk1"/>
              </a:solidFill>
              <a:latin typeface="Calibri"/>
              <a:ea typeface="Calibri"/>
              <a:cs typeface="Calibri"/>
              <a:sym typeface="Calibri"/>
            </a:endParaRPr>
          </a:p>
        </p:txBody>
      </p:sp>
      <p:sp>
        <p:nvSpPr>
          <p:cNvPr id="749" name="Google Shape;749;p21"/>
          <p:cNvSpPr/>
          <p:nvPr/>
        </p:nvSpPr>
        <p:spPr>
          <a:xfrm>
            <a:off x="3654597" y="4288543"/>
            <a:ext cx="4882800" cy="10974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2B2F42"/>
              </a:buClr>
              <a:buSzPts val="1150"/>
              <a:buFont typeface="Calibri"/>
              <a:buNone/>
            </a:pPr>
            <a:r>
              <a:rPr b="0" i="0" lang="en-US" sz="1150" u="none" cap="none" strike="noStrike">
                <a:solidFill>
                  <a:srgbClr val="2B2F42"/>
                </a:solidFill>
                <a:latin typeface="Calibri"/>
                <a:ea typeface="Calibri"/>
                <a:cs typeface="Calibri"/>
                <a:sym typeface="Calibri"/>
              </a:rPr>
              <a:t>The hardest judgement call was whether the AI engine counts as an internal logical file or an external interface file. We settled on EIF because we call it rather than own its data, which is also how it appears in the use case diagram.</a:t>
            </a:r>
            <a:endParaRPr b="0" i="0" sz="1150" u="none" cap="none" strike="noStrike">
              <a:solidFill>
                <a:schemeClr val="dk1"/>
              </a:solidFill>
              <a:latin typeface="Calibri"/>
              <a:ea typeface="Calibri"/>
              <a:cs typeface="Calibri"/>
              <a:sym typeface="Calibri"/>
            </a:endParaRPr>
          </a:p>
        </p:txBody>
      </p:sp>
      <p:sp>
        <p:nvSpPr>
          <p:cNvPr id="750" name="Google Shape;750;p21"/>
          <p:cNvSpPr/>
          <p:nvPr/>
        </p:nvSpPr>
        <p:spPr>
          <a:xfrm>
            <a:off x="566928" y="5632704"/>
            <a:ext cx="11027664" cy="603504"/>
          </a:xfrm>
          <a:prstGeom prst="roundRect">
            <a:avLst>
              <a:gd fmla="val 9091" name="adj"/>
            </a:avLst>
          </a:prstGeom>
          <a:solidFill>
            <a:srgbClr val="141B34"/>
          </a:solidFill>
          <a:ln cap="flat" cmpd="sng" w="12700">
            <a:solidFill>
              <a:srgbClr val="141B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822960" y="5632704"/>
            <a:ext cx="105156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DDF0"/>
              </a:buClr>
              <a:buSzPts val="1200"/>
              <a:buFont typeface="Calibri"/>
              <a:buNone/>
            </a:pPr>
            <a:r>
              <a:rPr b="0" i="0" lang="en-US" sz="1200" u="none" cap="none" strike="noStrike">
                <a:solidFill>
                  <a:srgbClr val="D7DDF0"/>
                </a:solidFill>
                <a:latin typeface="Calibri"/>
                <a:ea typeface="Calibri"/>
                <a:cs typeface="Calibri"/>
                <a:sym typeface="Calibri"/>
              </a:rPr>
              <a:t>Biggest lesson:  choosing incremental development was the right call. Increment 2 shipped the interview loop, and using it is what told us the feedback rubric had to be fixed and numeric rather than free text. We could not have specified that up front.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B34"/>
        </a:solidFill>
      </p:bgPr>
    </p:bg>
    <p:spTree>
      <p:nvGrpSpPr>
        <p:cNvPr id="756" name="Shape 756"/>
        <p:cNvGrpSpPr/>
        <p:nvPr/>
      </p:nvGrpSpPr>
      <p:grpSpPr>
        <a:xfrm>
          <a:off x="0" y="0"/>
          <a:ext cx="0" cy="0"/>
          <a:chOff x="0" y="0"/>
          <a:chExt cx="0" cy="0"/>
        </a:xfrm>
      </p:grpSpPr>
      <p:sp>
        <p:nvSpPr>
          <p:cNvPr id="757" name="Google Shape;757;p22"/>
          <p:cNvSpPr/>
          <p:nvPr/>
        </p:nvSpPr>
        <p:spPr>
          <a:xfrm>
            <a:off x="822960" y="566928"/>
            <a:ext cx="146304" cy="310896"/>
          </a:xfrm>
          <a:prstGeom prst="roundRect">
            <a:avLst>
              <a:gd fmla="val 31250" name="adj"/>
            </a:avLst>
          </a:prstGeom>
          <a:solidFill>
            <a:srgbClr val="F2A65A"/>
          </a:solidFill>
          <a:ln cap="flat" cmpd="sng" w="12700">
            <a:solidFill>
              <a:srgbClr val="F2A6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2"/>
          <p:cNvSpPr/>
          <p:nvPr/>
        </p:nvSpPr>
        <p:spPr>
          <a:xfrm>
            <a:off x="1097280" y="475488"/>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Conclusion</a:t>
            </a:r>
            <a:endParaRPr b="0" i="0" sz="3000" u="none" cap="none" strike="noStrike">
              <a:solidFill>
                <a:schemeClr val="dk1"/>
              </a:solidFill>
              <a:latin typeface="Calibri"/>
              <a:ea typeface="Calibri"/>
              <a:cs typeface="Calibri"/>
              <a:sym typeface="Calibri"/>
            </a:endParaRPr>
          </a:p>
        </p:txBody>
      </p:sp>
      <p:sp>
        <p:nvSpPr>
          <p:cNvPr id="759" name="Google Shape;759;p22"/>
          <p:cNvSpPr/>
          <p:nvPr/>
        </p:nvSpPr>
        <p:spPr>
          <a:xfrm>
            <a:off x="1115568" y="969264"/>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C6"/>
              </a:buClr>
              <a:buSzPts val="1300"/>
              <a:buFont typeface="Calibri"/>
              <a:buNone/>
            </a:pPr>
            <a:r>
              <a:rPr b="0" i="1" lang="en-US" sz="1300" u="none" cap="none" strike="noStrike">
                <a:solidFill>
                  <a:srgbClr val="9AA5C6"/>
                </a:solidFill>
                <a:latin typeface="Calibri"/>
                <a:ea typeface="Calibri"/>
                <a:cs typeface="Calibri"/>
                <a:sym typeface="Calibri"/>
              </a:rPr>
              <a:t>Evaluation of our work and deviations from the original plan</a:t>
            </a:r>
            <a:endParaRPr b="0" i="0" sz="1300" u="none" cap="none" strike="noStrike">
              <a:solidFill>
                <a:schemeClr val="dk1"/>
              </a:solidFill>
              <a:latin typeface="Calibri"/>
              <a:ea typeface="Calibri"/>
              <a:cs typeface="Calibri"/>
              <a:sym typeface="Calibri"/>
            </a:endParaRPr>
          </a:p>
        </p:txBody>
      </p:sp>
      <p:sp>
        <p:nvSpPr>
          <p:cNvPr id="760" name="Google Shape;760;p22"/>
          <p:cNvSpPr/>
          <p:nvPr/>
        </p:nvSpPr>
        <p:spPr>
          <a:xfrm>
            <a:off x="1808535" y="1472178"/>
            <a:ext cx="3456300" cy="2286000"/>
          </a:xfrm>
          <a:prstGeom prst="roundRect">
            <a:avLst>
              <a:gd fmla="val 24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2"/>
          <p:cNvSpPr/>
          <p:nvPr/>
        </p:nvSpPr>
        <p:spPr>
          <a:xfrm>
            <a:off x="2064492" y="1659634"/>
            <a:ext cx="294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FEEDBACK SCOPE</a:t>
            </a:r>
            <a:endParaRPr b="0" i="0" sz="1000" u="none" cap="none" strike="noStrike">
              <a:solidFill>
                <a:schemeClr val="dk1"/>
              </a:solidFill>
              <a:latin typeface="Calibri"/>
              <a:ea typeface="Calibri"/>
              <a:cs typeface="Calibri"/>
              <a:sym typeface="Calibri"/>
            </a:endParaRPr>
          </a:p>
        </p:txBody>
      </p:sp>
      <p:sp>
        <p:nvSpPr>
          <p:cNvPr id="762" name="Google Shape;762;p22"/>
          <p:cNvSpPr/>
          <p:nvPr/>
        </p:nvSpPr>
        <p:spPr>
          <a:xfrm>
            <a:off x="2064567" y="1972741"/>
            <a:ext cx="2944500" cy="567000"/>
          </a:xfrm>
          <a:prstGeom prst="rect">
            <a:avLst/>
          </a:prstGeom>
          <a:noFill/>
          <a:ln>
            <a:noFill/>
          </a:ln>
        </p:spPr>
        <p:txBody>
          <a:bodyPr anchorCtr="0" anchor="ctr" bIns="0" lIns="0" spcFirstLastPara="1" rIns="0" wrap="square" tIns="0">
            <a:noAutofit/>
          </a:bodyPr>
          <a:lstStyle/>
          <a:p>
            <a:pPr indent="0" lvl="0" marL="0" marR="0" rtl="0" algn="l">
              <a:lnSpc>
                <a:spcPct val="115789"/>
              </a:lnSpc>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Free text to fixed rubric</a:t>
            </a:r>
            <a:endParaRPr b="0" i="0" sz="1900" u="none" cap="none" strike="noStrike">
              <a:solidFill>
                <a:schemeClr val="dk1"/>
              </a:solidFill>
              <a:latin typeface="Calibri"/>
              <a:ea typeface="Calibri"/>
              <a:cs typeface="Calibri"/>
              <a:sym typeface="Calibri"/>
            </a:endParaRPr>
          </a:p>
        </p:txBody>
      </p:sp>
      <p:sp>
        <p:nvSpPr>
          <p:cNvPr id="763" name="Google Shape;763;p22"/>
          <p:cNvSpPr/>
          <p:nvPr/>
        </p:nvSpPr>
        <p:spPr>
          <a:xfrm>
            <a:off x="2064642" y="2519171"/>
            <a:ext cx="2944500" cy="10059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We narrowed AI feedback to a fixed STAR, clarity and confidence rubric. Free form critique reads better once, but it cannot be scored, compared across sessions, or unit tested.</a:t>
            </a:r>
            <a:endParaRPr b="0" i="0" sz="1100" u="none" cap="none" strike="noStrike">
              <a:solidFill>
                <a:schemeClr val="dk1"/>
              </a:solidFill>
              <a:latin typeface="Calibri"/>
              <a:ea typeface="Calibri"/>
              <a:cs typeface="Calibri"/>
              <a:sym typeface="Calibri"/>
            </a:endParaRPr>
          </a:p>
        </p:txBody>
      </p:sp>
      <p:sp>
        <p:nvSpPr>
          <p:cNvPr id="764" name="Google Shape;764;p22"/>
          <p:cNvSpPr/>
          <p:nvPr/>
        </p:nvSpPr>
        <p:spPr>
          <a:xfrm>
            <a:off x="6910210" y="1538478"/>
            <a:ext cx="3456300" cy="2286000"/>
          </a:xfrm>
          <a:prstGeom prst="roundRect">
            <a:avLst>
              <a:gd fmla="val 2400" name="adj"/>
            </a:avLst>
          </a:prstGeom>
          <a:solidFill>
            <a:srgbClr val="1E2749"/>
          </a:solidFill>
          <a:ln cap="flat" cmpd="sng" w="12700">
            <a:solidFill>
              <a:srgbClr val="2E3A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2"/>
          <p:cNvSpPr/>
          <p:nvPr/>
        </p:nvSpPr>
        <p:spPr>
          <a:xfrm>
            <a:off x="7166092" y="1659621"/>
            <a:ext cx="29445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000"/>
              <a:buFont typeface="Calibri"/>
              <a:buNone/>
            </a:pPr>
            <a:r>
              <a:rPr b="1" i="0" lang="en-US" sz="1000" u="none" cap="none" strike="noStrike">
                <a:solidFill>
                  <a:srgbClr val="F2A65A"/>
                </a:solidFill>
                <a:latin typeface="Calibri"/>
                <a:ea typeface="Calibri"/>
                <a:cs typeface="Calibri"/>
                <a:sym typeface="Calibri"/>
              </a:rPr>
              <a:t>DEFERRED TO A LATER RELEASE</a:t>
            </a:r>
            <a:endParaRPr b="0" i="0" sz="1000" u="none" cap="none" strike="noStrike">
              <a:solidFill>
                <a:schemeClr val="dk1"/>
              </a:solidFill>
              <a:latin typeface="Calibri"/>
              <a:ea typeface="Calibri"/>
              <a:cs typeface="Calibri"/>
              <a:sym typeface="Calibri"/>
            </a:endParaRPr>
          </a:p>
        </p:txBody>
      </p:sp>
      <p:sp>
        <p:nvSpPr>
          <p:cNvPr id="766" name="Google Shape;766;p22"/>
          <p:cNvSpPr/>
          <p:nvPr/>
        </p:nvSpPr>
        <p:spPr>
          <a:xfrm>
            <a:off x="7166092" y="1972741"/>
            <a:ext cx="2944500" cy="567000"/>
          </a:xfrm>
          <a:prstGeom prst="rect">
            <a:avLst/>
          </a:prstGeom>
          <a:noFill/>
          <a:ln>
            <a:noFill/>
          </a:ln>
        </p:spPr>
        <p:txBody>
          <a:bodyPr anchorCtr="0" anchor="ctr" bIns="0" lIns="0" spcFirstLastPara="1" rIns="0" wrap="square" tIns="0">
            <a:noAutofit/>
          </a:bodyPr>
          <a:lstStyle/>
          <a:p>
            <a:pPr indent="0" lvl="0" marL="0" marR="0" rtl="0" algn="l">
              <a:lnSpc>
                <a:spcPct val="115789"/>
              </a:lnSpc>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SSO and multi language</a:t>
            </a:r>
            <a:endParaRPr b="0" i="0" sz="1900" u="none" cap="none" strike="noStrike">
              <a:solidFill>
                <a:schemeClr val="dk1"/>
              </a:solidFill>
              <a:latin typeface="Calibri"/>
              <a:ea typeface="Calibri"/>
              <a:cs typeface="Calibri"/>
              <a:sym typeface="Calibri"/>
            </a:endParaRPr>
          </a:p>
        </p:txBody>
      </p:sp>
      <p:sp>
        <p:nvSpPr>
          <p:cNvPr id="767" name="Google Shape;767;p22"/>
          <p:cNvSpPr/>
          <p:nvPr/>
        </p:nvSpPr>
        <p:spPr>
          <a:xfrm>
            <a:off x="7166092" y="2519134"/>
            <a:ext cx="2944500" cy="10059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9AA5C6"/>
              </a:buClr>
              <a:buSzPts val="1100"/>
              <a:buFont typeface="Calibri"/>
              <a:buNone/>
            </a:pPr>
            <a:r>
              <a:rPr b="0" i="0" lang="en-US" sz="1100" u="none" cap="none" strike="noStrike">
                <a:solidFill>
                  <a:srgbClr val="9AA5C6"/>
                </a:solidFill>
                <a:latin typeface="Calibri"/>
                <a:ea typeface="Calibri"/>
                <a:cs typeface="Calibri"/>
                <a:sym typeface="Calibri"/>
              </a:rPr>
              <a:t>University single sign on and non English interviews were deferred. Both are real demand, but neither is needed to validate the core loop in a first release.</a:t>
            </a:r>
            <a:endParaRPr b="0" i="0" sz="1100" u="none" cap="none" strike="noStrike">
              <a:solidFill>
                <a:schemeClr val="dk1"/>
              </a:solidFill>
              <a:latin typeface="Calibri"/>
              <a:ea typeface="Calibri"/>
              <a:cs typeface="Calibri"/>
              <a:sym typeface="Calibri"/>
            </a:endParaRPr>
          </a:p>
        </p:txBody>
      </p:sp>
      <p:sp>
        <p:nvSpPr>
          <p:cNvPr id="768" name="Google Shape;768;p22"/>
          <p:cNvSpPr/>
          <p:nvPr/>
        </p:nvSpPr>
        <p:spPr>
          <a:xfrm>
            <a:off x="822997" y="3986784"/>
            <a:ext cx="108813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Held unchanged from Deliverable 1</a:t>
            </a:r>
            <a:endParaRPr b="0" i="0" sz="1800" u="none" cap="none" strike="noStrike">
              <a:solidFill>
                <a:schemeClr val="dk1"/>
              </a:solidFill>
              <a:latin typeface="Calibri"/>
              <a:ea typeface="Calibri"/>
              <a:cs typeface="Calibri"/>
              <a:sym typeface="Calibri"/>
            </a:endParaRPr>
          </a:p>
        </p:txBody>
      </p:sp>
      <p:sp>
        <p:nvSpPr>
          <p:cNvPr id="769" name="Google Shape;769;p22"/>
          <p:cNvSpPr/>
          <p:nvPr/>
        </p:nvSpPr>
        <p:spPr>
          <a:xfrm>
            <a:off x="822960" y="4315968"/>
            <a:ext cx="10881360" cy="566928"/>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C9D0E8"/>
              </a:buClr>
              <a:buSzPts val="1300"/>
              <a:buFont typeface="Calibri"/>
              <a:buNone/>
            </a:pPr>
            <a:r>
              <a:rPr b="0" i="0" lang="en-US" sz="1300" u="none" cap="none" strike="noStrike">
                <a:solidFill>
                  <a:srgbClr val="C9D0E8"/>
                </a:solidFill>
                <a:latin typeface="Calibri"/>
                <a:ea typeface="Calibri"/>
                <a:cs typeface="Calibri"/>
                <a:sym typeface="Calibri"/>
              </a:rPr>
              <a:t>The incremental process model, the MVC architecture, the class model and all twelve non functional requirements survived Deliverable 2 without revision. The estimation work did not force a redesign, which we take as evidence that the Deliverable 1 design was sound.</a:t>
            </a:r>
            <a:endParaRPr b="0" i="0" sz="1300" u="none" cap="none" strike="noStrike">
              <a:solidFill>
                <a:schemeClr val="dk1"/>
              </a:solidFill>
              <a:latin typeface="Calibri"/>
              <a:ea typeface="Calibri"/>
              <a:cs typeface="Calibri"/>
              <a:sym typeface="Calibri"/>
            </a:endParaRPr>
          </a:p>
        </p:txBody>
      </p:sp>
      <p:sp>
        <p:nvSpPr>
          <p:cNvPr id="770" name="Google Shape;770;p22"/>
          <p:cNvSpPr/>
          <p:nvPr/>
        </p:nvSpPr>
        <p:spPr>
          <a:xfrm>
            <a:off x="822960" y="5065776"/>
            <a:ext cx="10881360" cy="859536"/>
          </a:xfrm>
          <a:prstGeom prst="roundRect">
            <a:avLst>
              <a:gd fmla="val 6383" name="adj"/>
            </a:avLst>
          </a:prstGeom>
          <a:solidFill>
            <a:srgbClr val="2A3A78"/>
          </a:solidFill>
          <a:ln cap="flat" cmpd="sng" w="12700">
            <a:solidFill>
              <a:srgbClr val="2A3A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2"/>
          <p:cNvSpPr/>
          <p:nvPr/>
        </p:nvSpPr>
        <p:spPr>
          <a:xfrm>
            <a:off x="1097280" y="5065776"/>
            <a:ext cx="10332720" cy="859536"/>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Interview Lens remains true to its original motivation: giving students an accessible way to practise the behavioral round and build the people skills that technical ability alone does not demonstrate.</a:t>
            </a:r>
            <a:endParaRPr b="0" i="0" sz="1400" u="none" cap="none" strike="noStrike">
              <a:solidFill>
                <a:schemeClr val="dk1"/>
              </a:solidFill>
              <a:latin typeface="Calibri"/>
              <a:ea typeface="Calibri"/>
              <a:cs typeface="Calibri"/>
              <a:sym typeface="Calibri"/>
            </a:endParaRPr>
          </a:p>
        </p:txBody>
      </p:sp>
      <p:sp>
        <p:nvSpPr>
          <p:cNvPr id="772" name="Google Shape;772;p22"/>
          <p:cNvSpPr/>
          <p:nvPr/>
        </p:nvSpPr>
        <p:spPr>
          <a:xfrm>
            <a:off x="793485" y="6053328"/>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800"/>
              <a:buFont typeface="Cambria"/>
              <a:buNone/>
            </a:pPr>
            <a:r>
              <a:rPr b="1" i="0" lang="en-US" sz="1800" u="none" cap="none" strike="noStrike">
                <a:solidFill>
                  <a:srgbClr val="F2A65A"/>
                </a:solidFill>
                <a:latin typeface="Cambria"/>
                <a:ea typeface="Cambria"/>
                <a:cs typeface="Cambria"/>
                <a:sym typeface="Cambria"/>
              </a:rPr>
              <a:t>Thank you.</a:t>
            </a:r>
            <a:endParaRPr b="0" i="0" sz="1800" u="none" cap="none" strike="noStrike">
              <a:solidFill>
                <a:schemeClr val="dk1"/>
              </a:solidFill>
              <a:latin typeface="Calibri"/>
              <a:ea typeface="Calibri"/>
              <a:cs typeface="Calibri"/>
              <a:sym typeface="Calibri"/>
            </a:endParaRPr>
          </a:p>
        </p:txBody>
      </p:sp>
      <p:sp>
        <p:nvSpPr>
          <p:cNvPr id="773" name="Google Shape;773;p22"/>
          <p:cNvSpPr/>
          <p:nvPr/>
        </p:nvSpPr>
        <p:spPr>
          <a:xfrm>
            <a:off x="6309360" y="6053328"/>
            <a:ext cx="53949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F9ABF"/>
              </a:buClr>
              <a:buSzPts val="1100"/>
              <a:buFont typeface="Calibri"/>
              <a:buNone/>
            </a:pPr>
            <a:r>
              <a:rPr b="0" i="0" lang="en-US" sz="1100" u="none" cap="none" strike="noStrike">
                <a:solidFill>
                  <a:srgbClr val="8F9ABF"/>
                </a:solidFill>
                <a:latin typeface="Calibri"/>
                <a:ea typeface="Calibri"/>
                <a:cs typeface="Calibri"/>
                <a:sym typeface="Calibri"/>
              </a:rPr>
              <a:t>github.com/AyroEscobar/3354-Team1-InterviewLens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